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E4A"/>
        </a:solidFill>
      </p:bgPr>
    </p:bg>
    <p:spTree>
      <p:nvGrpSpPr>
        <p:cNvPr id="1" name=""/>
        <p:cNvGrpSpPr/>
        <p:nvPr/>
      </p:nvGrpSpPr>
      <p:grpSpPr>
        <a:xfrm>
          <a:off x="0" y="0"/>
          <a:ext cx="0" cy="0"/>
          <a:chOff x="0" y="0"/>
          <a:chExt cx="0" cy="0"/>
        </a:xfrm>
      </p:grpSpPr>
      <p:sp>
        <p:nvSpPr>
          <p:cNvPr id="2" name="Shape 0"/>
          <p:cNvSpPr/>
          <p:nvPr/>
        </p:nvSpPr>
        <p:spPr>
          <a:xfrm>
            <a:off x="0" y="1920240"/>
            <a:ext cx="9144000" cy="2377440"/>
          </a:xfrm>
          <a:prstGeom prst="rect">
            <a:avLst/>
          </a:prstGeom>
          <a:solidFill>
            <a:srgbClr val="0D7377"/>
          </a:solidFill>
          <a:ln w="12700">
            <a:solidFill>
              <a:srgbClr val="0D7377"/>
            </a:solidFill>
            <a:prstDash val="solid"/>
          </a:ln>
        </p:spPr>
      </p:sp>
      <p:sp>
        <p:nvSpPr>
          <p:cNvPr id="3" name="Shape 1"/>
          <p:cNvSpPr/>
          <p:nvPr/>
        </p:nvSpPr>
        <p:spPr>
          <a:xfrm>
            <a:off x="0" y="1920240"/>
            <a:ext cx="109728" cy="2377440"/>
          </a:xfrm>
          <a:prstGeom prst="rect">
            <a:avLst/>
          </a:prstGeom>
          <a:solidFill>
            <a:srgbClr val="9EEADF"/>
          </a:solidFill>
          <a:ln w="12700">
            <a:solidFill>
              <a:srgbClr val="9EEADF"/>
            </a:solidFill>
            <a:prstDash val="solid"/>
          </a:ln>
        </p:spPr>
      </p:sp>
      <p:sp>
        <p:nvSpPr>
          <p:cNvPr id="4" name="Text 2"/>
          <p:cNvSpPr/>
          <p:nvPr/>
        </p:nvSpPr>
        <p:spPr>
          <a:xfrm>
            <a:off x="365760" y="2011680"/>
            <a:ext cx="841248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Elective Surgery Scheduling</a:t>
            </a:r>
            <a:endParaRPr lang="en-US" sz="3000" dirty="0"/>
          </a:p>
        </p:txBody>
      </p:sp>
      <p:sp>
        <p:nvSpPr>
          <p:cNvPr id="5" name="Text 3"/>
          <p:cNvSpPr/>
          <p:nvPr/>
        </p:nvSpPr>
        <p:spPr>
          <a:xfrm>
            <a:off x="365760" y="2743200"/>
            <a:ext cx="8412480" cy="457200"/>
          </a:xfrm>
          <a:prstGeom prst="rect">
            <a:avLst/>
          </a:prstGeom>
          <a:noFill/>
          <a:ln/>
        </p:spPr>
        <p:txBody>
          <a:bodyPr wrap="square" lIns="0" tIns="0" rIns="0" bIns="0" rtlCol="0" anchor="ctr"/>
          <a:lstStyle/>
          <a:p>
            <a:pPr algn="l" indent="0" marL="0">
              <a:buNone/>
            </a:pPr>
            <a:r>
              <a:rPr lang="en-US" sz="1600" i="1" dirty="0">
                <a:solidFill>
                  <a:srgbClr val="9EEADF"/>
                </a:solidFill>
                <a:latin typeface="Calibri" pitchFamily="34" charset="0"/>
                <a:ea typeface="Calibri" pitchFamily="34" charset="-122"/>
                <a:cs typeface="Calibri" pitchFamily="34" charset="-120"/>
              </a:rPr>
              <a:t>A MILP Formulation grounded in Portuguese NHS (SNS/SIGIC) practice</a:t>
            </a:r>
            <a:endParaRPr lang="en-US" sz="1600" dirty="0"/>
          </a:p>
        </p:txBody>
      </p:sp>
      <p:sp>
        <p:nvSpPr>
          <p:cNvPr id="6" name="Text 4"/>
          <p:cNvSpPr/>
          <p:nvPr/>
        </p:nvSpPr>
        <p:spPr>
          <a:xfrm>
            <a:off x="365760" y="3246120"/>
            <a:ext cx="8412480" cy="320040"/>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Marques &amp; Captivo (2015)  ·  Cardoen et al. (2010)  ·  CHLN operational data</a:t>
            </a:r>
            <a:endParaRPr lang="en-US" sz="1100" dirty="0"/>
          </a:p>
        </p:txBody>
      </p:sp>
      <p:sp>
        <p:nvSpPr>
          <p:cNvPr id="7" name="Text 5"/>
          <p:cNvSpPr/>
          <p:nvPr/>
        </p:nvSpPr>
        <p:spPr>
          <a:xfrm>
            <a:off x="365760" y="4297680"/>
            <a:ext cx="8412480" cy="457200"/>
          </a:xfrm>
          <a:prstGeom prst="rect">
            <a:avLst/>
          </a:prstGeom>
          <a:noFill/>
          <a:ln/>
        </p:spPr>
        <p:txBody>
          <a:bodyPr wrap="square" lIns="0" tIns="0" rIns="0" bIns="0" rtlCol="0" anchor="ctr"/>
          <a:lstStyle/>
          <a:p>
            <a:pPr indent="0" marL="0">
              <a:buNone/>
            </a:pPr>
            <a:r>
              <a:rPr lang="en-US" sz="1100" b="1" dirty="0">
                <a:solidFill>
                  <a:srgbClr val="D6E4EC"/>
                </a:solidFill>
                <a:latin typeface="Calibri" pitchFamily="34" charset="0"/>
                <a:ea typeface="Calibri" pitchFamily="34" charset="-122"/>
                <a:cs typeface="Calibri" pitchFamily="34" charset="-120"/>
              </a:rPr>
              <a:t>Deliverables: </a:t>
            </a:r>
            <a:pPr indent="0" marL="0">
              <a:buNone/>
            </a:pPr>
            <a:r>
              <a:rPr lang="en-US" sz="1100" dirty="0">
                <a:solidFill>
                  <a:srgbClr val="D6E4EC"/>
                </a:solidFill>
                <a:latin typeface="Calibri" pitchFamily="34" charset="0"/>
                <a:ea typeface="Calibri" pitchFamily="34" charset="-122"/>
                <a:cs typeface="Calibri" pitchFamily="34" charset="-120"/>
              </a:rPr>
              <a:t>FORMULATION.md  ·  src/ (PuLP/CBC, Pyomo/CBC/Gurobi/CPLEX, Greedy)  ·  tests/ (7 constraint checks)</a:t>
            </a:r>
            <a:endParaRPr lang="en-US" sz="1100" dirty="0"/>
          </a:p>
        </p:txBody>
      </p:sp>
      <p:sp>
        <p:nvSpPr>
          <p:cNvPr id="8" name="Shape 6"/>
          <p:cNvSpPr/>
          <p:nvPr/>
        </p:nvSpPr>
        <p:spPr>
          <a:xfrm>
            <a:off x="0" y="4800600"/>
            <a:ext cx="9144000" cy="342900"/>
          </a:xfrm>
          <a:prstGeom prst="rect">
            <a:avLst/>
          </a:prstGeom>
          <a:solidFill>
            <a:srgbClr val="0A2E4A"/>
          </a:solidFill>
          <a:ln w="12700">
            <a:solidFill>
              <a:srgbClr val="0A2E4A"/>
            </a:solidFill>
            <a:prstDash val="solid"/>
          </a:ln>
        </p:spPr>
      </p:sp>
      <p:sp>
        <p:nvSpPr>
          <p:cNvPr id="9" name="Text 7"/>
          <p:cNvSpPr/>
          <p:nvPr/>
        </p:nvSpPr>
        <p:spPr>
          <a:xfrm>
            <a:off x="182880" y="4818888"/>
            <a:ext cx="6400800" cy="27432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Elective Surgery Scheduling — MILP  ·  SNS/SIGIC Portugal  ·  github.com/</a:t>
            </a:r>
            <a:endParaRPr lang="en-US" sz="800" dirty="0"/>
          </a:p>
        </p:txBody>
      </p:sp>
      <p:sp>
        <p:nvSpPr>
          <p:cNvPr id="10" name="Text 8"/>
          <p:cNvSpPr/>
          <p:nvPr/>
        </p:nvSpPr>
        <p:spPr>
          <a:xfrm>
            <a:off x="7772400" y="4818888"/>
            <a:ext cx="1188720" cy="274320"/>
          </a:xfrm>
          <a:prstGeom prst="rect">
            <a:avLst/>
          </a:prstGeom>
          <a:noFill/>
          <a:ln/>
        </p:spPr>
        <p:txBody>
          <a:bodyPr wrap="square" lIns="0" tIns="0" rIns="0" bIns="0" rtlCol="0" anchor="ctr"/>
          <a:lstStyle/>
          <a:p>
            <a:pPr algn="r" indent="0" marL="0">
              <a:buNone/>
            </a:pPr>
            <a:r>
              <a:rPr lang="en-US" sz="800" dirty="0">
                <a:solidFill>
                  <a:srgbClr val="8FA3B1"/>
                </a:solidFill>
                <a:latin typeface="Calibri" pitchFamily="34" charset="0"/>
                <a:ea typeface="Calibri" pitchFamily="34" charset="-122"/>
                <a:cs typeface="Calibri" pitchFamily="34" charset="-120"/>
              </a:rPr>
              <a:t>1 / 20</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E4A"/>
          </a:solidFill>
          <a:ln w="12700">
            <a:solidFill>
              <a:srgbClr val="0A2E4A"/>
            </a:solidFill>
            <a:prstDash val="solid"/>
          </a:ln>
        </p:spPr>
      </p:sp>
      <p:sp>
        <p:nvSpPr>
          <p:cNvPr id="3" name="Shape 1"/>
          <p:cNvSpPr/>
          <p:nvPr/>
        </p:nvSpPr>
        <p:spPr>
          <a:xfrm>
            <a:off x="0" y="1005840"/>
            <a:ext cx="9144000" cy="54864"/>
          </a:xfrm>
          <a:prstGeom prst="rect">
            <a:avLst/>
          </a:prstGeom>
          <a:solidFill>
            <a:srgbClr val="0D7377"/>
          </a:solidFill>
          <a:ln w="12700">
            <a:solidFill>
              <a:srgbClr val="0D7377"/>
            </a:solidFill>
            <a:prstDash val="solid"/>
          </a:ln>
        </p:spPr>
      </p:sp>
      <p:sp>
        <p:nvSpPr>
          <p:cNvPr id="4" name="Shape 2"/>
          <p:cNvSpPr/>
          <p:nvPr/>
        </p:nvSpPr>
        <p:spPr>
          <a:xfrm>
            <a:off x="7772400" y="0"/>
            <a:ext cx="1371600" cy="1005840"/>
          </a:xfrm>
          <a:prstGeom prst="rect">
            <a:avLst/>
          </a:prstGeom>
          <a:solidFill>
            <a:srgbClr val="0D7377"/>
          </a:solidFill>
          <a:ln w="12700">
            <a:solidFill>
              <a:srgbClr val="0D7377"/>
            </a:solidFill>
            <a:prstDash val="solid"/>
          </a:ln>
        </p:spPr>
      </p:sp>
      <p:sp>
        <p:nvSpPr>
          <p:cNvPr id="5" name="Text 3"/>
          <p:cNvSpPr/>
          <p:nvPr/>
        </p:nvSpPr>
        <p:spPr>
          <a:xfrm>
            <a:off x="320040" y="73152"/>
            <a:ext cx="685800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Agenda</a:t>
            </a:r>
            <a:endParaRPr lang="en-US" sz="2000" dirty="0"/>
          </a:p>
        </p:txBody>
      </p:sp>
      <p:sp>
        <p:nvSpPr>
          <p:cNvPr id="6" name="Shape 4"/>
          <p:cNvSpPr/>
          <p:nvPr/>
        </p:nvSpPr>
        <p:spPr>
          <a:xfrm>
            <a:off x="320040" y="1197864"/>
            <a:ext cx="292608" cy="292608"/>
          </a:xfrm>
          <a:prstGeom prst="ellipse">
            <a:avLst/>
          </a:prstGeom>
          <a:solidFill>
            <a:srgbClr val="0D7377"/>
          </a:solidFill>
          <a:ln w="12700">
            <a:solidFill>
              <a:srgbClr val="0D7377"/>
            </a:solidFill>
            <a:prstDash val="solid"/>
          </a:ln>
        </p:spPr>
      </p:sp>
      <p:sp>
        <p:nvSpPr>
          <p:cNvPr id="7" name="Text 5"/>
          <p:cNvSpPr/>
          <p:nvPr/>
        </p:nvSpPr>
        <p:spPr>
          <a:xfrm>
            <a:off x="320040" y="119786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①</a:t>
            </a:r>
            <a:endParaRPr lang="en-US" sz="1100" dirty="0"/>
          </a:p>
        </p:txBody>
      </p:sp>
      <p:sp>
        <p:nvSpPr>
          <p:cNvPr id="8" name="Text 6"/>
          <p:cNvSpPr/>
          <p:nvPr/>
        </p:nvSpPr>
        <p:spPr>
          <a:xfrm>
            <a:off x="749808" y="1188720"/>
            <a:ext cx="3657600" cy="201168"/>
          </a:xfrm>
          <a:prstGeom prst="rect">
            <a:avLst/>
          </a:prstGeom>
          <a:noFill/>
          <a:ln/>
        </p:spPr>
        <p:txBody>
          <a:bodyPr wrap="square" lIns="0" tIns="0" rIns="0" bIns="0" rtlCol="0" anchor="ctr"/>
          <a:lstStyle/>
          <a:p>
            <a:pPr indent="0" marL="0">
              <a:buNone/>
            </a:pPr>
            <a:r>
              <a:rPr lang="en-US" sz="1200" b="1" dirty="0">
                <a:solidFill>
                  <a:srgbClr val="1A2E3B"/>
                </a:solidFill>
                <a:latin typeface="Calibri" pitchFamily="34" charset="0"/>
                <a:ea typeface="Calibri" pitchFamily="34" charset="-122"/>
                <a:cs typeface="Calibri" pitchFamily="34" charset="-120"/>
              </a:rPr>
              <a:t>Problem Context &amp; Motivation</a:t>
            </a:r>
            <a:endParaRPr lang="en-US" sz="1200" dirty="0"/>
          </a:p>
        </p:txBody>
      </p:sp>
      <p:sp>
        <p:nvSpPr>
          <p:cNvPr id="9" name="Text 7"/>
          <p:cNvSpPr/>
          <p:nvPr/>
        </p:nvSpPr>
        <p:spPr>
          <a:xfrm>
            <a:off x="749808" y="1389888"/>
            <a:ext cx="8229600" cy="146304"/>
          </a:xfrm>
          <a:prstGeom prst="rect">
            <a:avLst/>
          </a:prstGeom>
          <a:noFill/>
          <a:ln/>
        </p:spPr>
        <p:txBody>
          <a:bodyPr wrap="square" lIns="0" tIns="0" rIns="0" bIns="0" rtlCol="0" anchor="ctr"/>
          <a:lstStyle/>
          <a:p>
            <a:pPr indent="0" marL="0">
              <a:buNone/>
            </a:pPr>
            <a:r>
              <a:rPr lang="en-US" sz="950" i="1" dirty="0">
                <a:solidFill>
                  <a:srgbClr val="8FA3B1"/>
                </a:solidFill>
                <a:latin typeface="Calibri" pitchFamily="34" charset="0"/>
                <a:ea typeface="Calibri" pitchFamily="34" charset="-122"/>
                <a:cs typeface="Calibri" pitchFamily="34" charset="-120"/>
              </a:rPr>
              <a:t>SIGIC rules, CHLN data, scale of the problem</a:t>
            </a:r>
            <a:endParaRPr lang="en-US" sz="950" dirty="0"/>
          </a:p>
        </p:txBody>
      </p:sp>
      <p:sp>
        <p:nvSpPr>
          <p:cNvPr id="10" name="Shape 8"/>
          <p:cNvSpPr/>
          <p:nvPr/>
        </p:nvSpPr>
        <p:spPr>
          <a:xfrm>
            <a:off x="320040" y="1536192"/>
            <a:ext cx="8503920" cy="0"/>
          </a:xfrm>
          <a:prstGeom prst="line">
            <a:avLst/>
          </a:prstGeom>
          <a:noFill/>
          <a:ln w="6350">
            <a:solidFill>
              <a:srgbClr val="D6E4EC"/>
            </a:solidFill>
            <a:prstDash val="solid"/>
          </a:ln>
        </p:spPr>
      </p:sp>
      <p:sp>
        <p:nvSpPr>
          <p:cNvPr id="11" name="Shape 9"/>
          <p:cNvSpPr/>
          <p:nvPr/>
        </p:nvSpPr>
        <p:spPr>
          <a:xfrm>
            <a:off x="320040" y="1600200"/>
            <a:ext cx="292608" cy="292608"/>
          </a:xfrm>
          <a:prstGeom prst="ellipse">
            <a:avLst/>
          </a:prstGeom>
          <a:solidFill>
            <a:srgbClr val="0D7377"/>
          </a:solidFill>
          <a:ln w="12700">
            <a:solidFill>
              <a:srgbClr val="0D7377"/>
            </a:solidFill>
            <a:prstDash val="solid"/>
          </a:ln>
        </p:spPr>
      </p:sp>
      <p:sp>
        <p:nvSpPr>
          <p:cNvPr id="12" name="Text 10"/>
          <p:cNvSpPr/>
          <p:nvPr/>
        </p:nvSpPr>
        <p:spPr>
          <a:xfrm>
            <a:off x="320040" y="16002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②</a:t>
            </a:r>
            <a:endParaRPr lang="en-US" sz="1100" dirty="0"/>
          </a:p>
        </p:txBody>
      </p:sp>
      <p:sp>
        <p:nvSpPr>
          <p:cNvPr id="13" name="Text 11"/>
          <p:cNvSpPr/>
          <p:nvPr/>
        </p:nvSpPr>
        <p:spPr>
          <a:xfrm>
            <a:off x="749808" y="1591056"/>
            <a:ext cx="3657600" cy="201168"/>
          </a:xfrm>
          <a:prstGeom prst="rect">
            <a:avLst/>
          </a:prstGeom>
          <a:noFill/>
          <a:ln/>
        </p:spPr>
        <p:txBody>
          <a:bodyPr wrap="square" lIns="0" tIns="0" rIns="0" bIns="0" rtlCol="0" anchor="ctr"/>
          <a:lstStyle/>
          <a:p>
            <a:pPr indent="0" marL="0">
              <a:buNone/>
            </a:pPr>
            <a:r>
              <a:rPr lang="en-US" sz="1200" b="1" dirty="0">
                <a:solidFill>
                  <a:srgbClr val="1A2E3B"/>
                </a:solidFill>
                <a:latin typeface="Calibri" pitchFamily="34" charset="0"/>
                <a:ea typeface="Calibri" pitchFamily="34" charset="-122"/>
                <a:cs typeface="Calibri" pitchFamily="34" charset="-120"/>
              </a:rPr>
              <a:t>Model: Sets, Parameters &amp; Variables</a:t>
            </a:r>
            <a:endParaRPr lang="en-US" sz="1200" dirty="0"/>
          </a:p>
        </p:txBody>
      </p:sp>
      <p:sp>
        <p:nvSpPr>
          <p:cNvPr id="14" name="Text 12"/>
          <p:cNvSpPr/>
          <p:nvPr/>
        </p:nvSpPr>
        <p:spPr>
          <a:xfrm>
            <a:off x="749808" y="1792224"/>
            <a:ext cx="8229600" cy="146304"/>
          </a:xfrm>
          <a:prstGeom prst="rect">
            <a:avLst/>
          </a:prstGeom>
          <a:noFill/>
          <a:ln/>
        </p:spPr>
        <p:txBody>
          <a:bodyPr wrap="square" lIns="0" tIns="0" rIns="0" bIns="0" rtlCol="0" anchor="ctr"/>
          <a:lstStyle/>
          <a:p>
            <a:pPr indent="0" marL="0">
              <a:buNone/>
            </a:pPr>
            <a:r>
              <a:rPr lang="en-US" sz="950" i="1" dirty="0">
                <a:solidFill>
                  <a:srgbClr val="8FA3B1"/>
                </a:solidFill>
                <a:latin typeface="Calibri" pitchFamily="34" charset="0"/>
                <a:ea typeface="Calibri" pitchFamily="34" charset="-122"/>
                <a:cs typeface="Calibri" pitchFamily="34" charset="-120"/>
              </a:rPr>
              <a:t>Formal notation mirrored in code</a:t>
            </a:r>
            <a:endParaRPr lang="en-US" sz="950" dirty="0"/>
          </a:p>
        </p:txBody>
      </p:sp>
      <p:sp>
        <p:nvSpPr>
          <p:cNvPr id="15" name="Shape 13"/>
          <p:cNvSpPr/>
          <p:nvPr/>
        </p:nvSpPr>
        <p:spPr>
          <a:xfrm>
            <a:off x="320040" y="1938528"/>
            <a:ext cx="8503920" cy="0"/>
          </a:xfrm>
          <a:prstGeom prst="line">
            <a:avLst/>
          </a:prstGeom>
          <a:noFill/>
          <a:ln w="6350">
            <a:solidFill>
              <a:srgbClr val="D6E4EC"/>
            </a:solidFill>
            <a:prstDash val="solid"/>
          </a:ln>
        </p:spPr>
      </p:sp>
      <p:sp>
        <p:nvSpPr>
          <p:cNvPr id="16" name="Shape 14"/>
          <p:cNvSpPr/>
          <p:nvPr/>
        </p:nvSpPr>
        <p:spPr>
          <a:xfrm>
            <a:off x="320040" y="2002536"/>
            <a:ext cx="292608" cy="292608"/>
          </a:xfrm>
          <a:prstGeom prst="ellipse">
            <a:avLst/>
          </a:prstGeom>
          <a:solidFill>
            <a:srgbClr val="0D7377"/>
          </a:solidFill>
          <a:ln w="12700">
            <a:solidFill>
              <a:srgbClr val="0D7377"/>
            </a:solidFill>
            <a:prstDash val="solid"/>
          </a:ln>
        </p:spPr>
      </p:sp>
      <p:sp>
        <p:nvSpPr>
          <p:cNvPr id="17" name="Text 15"/>
          <p:cNvSpPr/>
          <p:nvPr/>
        </p:nvSpPr>
        <p:spPr>
          <a:xfrm>
            <a:off x="320040" y="20025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③</a:t>
            </a:r>
            <a:endParaRPr lang="en-US" sz="1100" dirty="0"/>
          </a:p>
        </p:txBody>
      </p:sp>
      <p:sp>
        <p:nvSpPr>
          <p:cNvPr id="18" name="Text 16"/>
          <p:cNvSpPr/>
          <p:nvPr/>
        </p:nvSpPr>
        <p:spPr>
          <a:xfrm>
            <a:off x="749808" y="1993392"/>
            <a:ext cx="3657600" cy="201168"/>
          </a:xfrm>
          <a:prstGeom prst="rect">
            <a:avLst/>
          </a:prstGeom>
          <a:noFill/>
          <a:ln/>
        </p:spPr>
        <p:txBody>
          <a:bodyPr wrap="square" lIns="0" tIns="0" rIns="0" bIns="0" rtlCol="0" anchor="ctr"/>
          <a:lstStyle/>
          <a:p>
            <a:pPr indent="0" marL="0">
              <a:buNone/>
            </a:pPr>
            <a:r>
              <a:rPr lang="en-US" sz="1200" b="1" dirty="0">
                <a:solidFill>
                  <a:srgbClr val="1A2E3B"/>
                </a:solidFill>
                <a:latin typeface="Calibri" pitchFamily="34" charset="0"/>
                <a:ea typeface="Calibri" pitchFamily="34" charset="-122"/>
                <a:cs typeface="Calibri" pitchFamily="34" charset="-120"/>
              </a:rPr>
              <a:t>Constraints (5.1)–(5.9)</a:t>
            </a:r>
            <a:endParaRPr lang="en-US" sz="1200" dirty="0"/>
          </a:p>
        </p:txBody>
      </p:sp>
      <p:sp>
        <p:nvSpPr>
          <p:cNvPr id="19" name="Text 17"/>
          <p:cNvSpPr/>
          <p:nvPr/>
        </p:nvSpPr>
        <p:spPr>
          <a:xfrm>
            <a:off x="749808" y="2194560"/>
            <a:ext cx="8229600" cy="146304"/>
          </a:xfrm>
          <a:prstGeom prst="rect">
            <a:avLst/>
          </a:prstGeom>
          <a:noFill/>
          <a:ln/>
        </p:spPr>
        <p:txBody>
          <a:bodyPr wrap="square" lIns="0" tIns="0" rIns="0" bIns="0" rtlCol="0" anchor="ctr"/>
          <a:lstStyle/>
          <a:p>
            <a:pPr indent="0" marL="0">
              <a:buNone/>
            </a:pPr>
            <a:r>
              <a:rPr lang="en-US" sz="950" i="1" dirty="0">
                <a:solidFill>
                  <a:srgbClr val="8FA3B1"/>
                </a:solidFill>
                <a:latin typeface="Calibri" pitchFamily="34" charset="0"/>
                <a:ea typeface="Calibri" pitchFamily="34" charset="-122"/>
                <a:cs typeface="Calibri" pitchFamily="34" charset="-120"/>
              </a:rPr>
              <a:t>Every constraint justified by real operational data</a:t>
            </a:r>
            <a:endParaRPr lang="en-US" sz="950" dirty="0"/>
          </a:p>
        </p:txBody>
      </p:sp>
      <p:sp>
        <p:nvSpPr>
          <p:cNvPr id="20" name="Shape 18"/>
          <p:cNvSpPr/>
          <p:nvPr/>
        </p:nvSpPr>
        <p:spPr>
          <a:xfrm>
            <a:off x="320040" y="2340864"/>
            <a:ext cx="8503920" cy="0"/>
          </a:xfrm>
          <a:prstGeom prst="line">
            <a:avLst/>
          </a:prstGeom>
          <a:noFill/>
          <a:ln w="6350">
            <a:solidFill>
              <a:srgbClr val="D6E4EC"/>
            </a:solidFill>
            <a:prstDash val="solid"/>
          </a:ln>
        </p:spPr>
      </p:sp>
      <p:sp>
        <p:nvSpPr>
          <p:cNvPr id="21" name="Shape 19"/>
          <p:cNvSpPr/>
          <p:nvPr/>
        </p:nvSpPr>
        <p:spPr>
          <a:xfrm>
            <a:off x="320040" y="2404872"/>
            <a:ext cx="292608" cy="292608"/>
          </a:xfrm>
          <a:prstGeom prst="ellipse">
            <a:avLst/>
          </a:prstGeom>
          <a:solidFill>
            <a:srgbClr val="0D7377"/>
          </a:solidFill>
          <a:ln w="12700">
            <a:solidFill>
              <a:srgbClr val="0D7377"/>
            </a:solidFill>
            <a:prstDash val="solid"/>
          </a:ln>
        </p:spPr>
      </p:sp>
      <p:sp>
        <p:nvSpPr>
          <p:cNvPr id="22" name="Text 20"/>
          <p:cNvSpPr/>
          <p:nvPr/>
        </p:nvSpPr>
        <p:spPr>
          <a:xfrm>
            <a:off x="320040" y="240487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④</a:t>
            </a:r>
            <a:endParaRPr lang="en-US" sz="1100" dirty="0"/>
          </a:p>
        </p:txBody>
      </p:sp>
      <p:sp>
        <p:nvSpPr>
          <p:cNvPr id="23" name="Text 21"/>
          <p:cNvSpPr/>
          <p:nvPr/>
        </p:nvSpPr>
        <p:spPr>
          <a:xfrm>
            <a:off x="749808" y="2395728"/>
            <a:ext cx="3657600" cy="201168"/>
          </a:xfrm>
          <a:prstGeom prst="rect">
            <a:avLst/>
          </a:prstGeom>
          <a:noFill/>
          <a:ln/>
        </p:spPr>
        <p:txBody>
          <a:bodyPr wrap="square" lIns="0" tIns="0" rIns="0" bIns="0" rtlCol="0" anchor="ctr"/>
          <a:lstStyle/>
          <a:p>
            <a:pPr indent="0" marL="0">
              <a:buNone/>
            </a:pPr>
            <a:r>
              <a:rPr lang="en-US" sz="1200" b="1" dirty="0">
                <a:solidFill>
                  <a:srgbClr val="1A2E3B"/>
                </a:solidFill>
                <a:latin typeface="Calibri" pitchFamily="34" charset="0"/>
                <a:ea typeface="Calibri" pitchFamily="34" charset="-122"/>
                <a:cs typeface="Calibri" pitchFamily="34" charset="-120"/>
              </a:rPr>
              <a:t>Objective Function (5.12)</a:t>
            </a:r>
            <a:endParaRPr lang="en-US" sz="1200" dirty="0"/>
          </a:p>
        </p:txBody>
      </p:sp>
      <p:sp>
        <p:nvSpPr>
          <p:cNvPr id="24" name="Text 22"/>
          <p:cNvSpPr/>
          <p:nvPr/>
        </p:nvSpPr>
        <p:spPr>
          <a:xfrm>
            <a:off x="749808" y="2596896"/>
            <a:ext cx="8229600" cy="146304"/>
          </a:xfrm>
          <a:prstGeom prst="rect">
            <a:avLst/>
          </a:prstGeom>
          <a:noFill/>
          <a:ln/>
        </p:spPr>
        <p:txBody>
          <a:bodyPr wrap="square" lIns="0" tIns="0" rIns="0" bIns="0" rtlCol="0" anchor="ctr"/>
          <a:lstStyle/>
          <a:p>
            <a:pPr indent="0" marL="0">
              <a:buNone/>
            </a:pPr>
            <a:r>
              <a:rPr lang="en-US" sz="950" i="1" dirty="0">
                <a:solidFill>
                  <a:srgbClr val="8FA3B1"/>
                </a:solidFill>
                <a:latin typeface="Calibri" pitchFamily="34" charset="0"/>
                <a:ea typeface="Calibri" pitchFamily="34" charset="-122"/>
                <a:cs typeface="Calibri" pitchFamily="34" charset="-120"/>
              </a:rPr>
              <a:t>Three-term weighted tardiness + penalty</a:t>
            </a:r>
            <a:endParaRPr lang="en-US" sz="950" dirty="0"/>
          </a:p>
        </p:txBody>
      </p:sp>
      <p:sp>
        <p:nvSpPr>
          <p:cNvPr id="25" name="Shape 23"/>
          <p:cNvSpPr/>
          <p:nvPr/>
        </p:nvSpPr>
        <p:spPr>
          <a:xfrm>
            <a:off x="320040" y="2743200"/>
            <a:ext cx="8503920" cy="0"/>
          </a:xfrm>
          <a:prstGeom prst="line">
            <a:avLst/>
          </a:prstGeom>
          <a:noFill/>
          <a:ln w="6350">
            <a:solidFill>
              <a:srgbClr val="D6E4EC"/>
            </a:solidFill>
            <a:prstDash val="solid"/>
          </a:ln>
        </p:spPr>
      </p:sp>
      <p:sp>
        <p:nvSpPr>
          <p:cNvPr id="26" name="Shape 24"/>
          <p:cNvSpPr/>
          <p:nvPr/>
        </p:nvSpPr>
        <p:spPr>
          <a:xfrm>
            <a:off x="320040" y="2807208"/>
            <a:ext cx="292608" cy="292608"/>
          </a:xfrm>
          <a:prstGeom prst="ellipse">
            <a:avLst/>
          </a:prstGeom>
          <a:solidFill>
            <a:srgbClr val="0D7377"/>
          </a:solidFill>
          <a:ln w="12700">
            <a:solidFill>
              <a:srgbClr val="0D7377"/>
            </a:solidFill>
            <a:prstDash val="solid"/>
          </a:ln>
        </p:spPr>
      </p:sp>
      <p:sp>
        <p:nvSpPr>
          <p:cNvPr id="27" name="Text 25"/>
          <p:cNvSpPr/>
          <p:nvPr/>
        </p:nvSpPr>
        <p:spPr>
          <a:xfrm>
            <a:off x="320040" y="280720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⑤</a:t>
            </a:r>
            <a:endParaRPr lang="en-US" sz="1100" dirty="0"/>
          </a:p>
        </p:txBody>
      </p:sp>
      <p:sp>
        <p:nvSpPr>
          <p:cNvPr id="28" name="Text 26"/>
          <p:cNvSpPr/>
          <p:nvPr/>
        </p:nvSpPr>
        <p:spPr>
          <a:xfrm>
            <a:off x="749808" y="2798064"/>
            <a:ext cx="3657600" cy="201168"/>
          </a:xfrm>
          <a:prstGeom prst="rect">
            <a:avLst/>
          </a:prstGeom>
          <a:noFill/>
          <a:ln/>
        </p:spPr>
        <p:txBody>
          <a:bodyPr wrap="square" lIns="0" tIns="0" rIns="0" bIns="0" rtlCol="0" anchor="ctr"/>
          <a:lstStyle/>
          <a:p>
            <a:pPr indent="0" marL="0">
              <a:buNone/>
            </a:pPr>
            <a:r>
              <a:rPr lang="en-US" sz="1200" b="1" dirty="0">
                <a:solidFill>
                  <a:srgbClr val="1A2E3B"/>
                </a:solidFill>
                <a:latin typeface="Calibri" pitchFamily="34" charset="0"/>
                <a:ea typeface="Calibri" pitchFamily="34" charset="-122"/>
                <a:cs typeface="Calibri" pitchFamily="34" charset="-120"/>
              </a:rPr>
              <a:t>Assumptions &amp; Simplifications</a:t>
            </a:r>
            <a:endParaRPr lang="en-US" sz="1200" dirty="0"/>
          </a:p>
        </p:txBody>
      </p:sp>
      <p:sp>
        <p:nvSpPr>
          <p:cNvPr id="29" name="Text 27"/>
          <p:cNvSpPr/>
          <p:nvPr/>
        </p:nvSpPr>
        <p:spPr>
          <a:xfrm>
            <a:off x="749808" y="2999232"/>
            <a:ext cx="8229600" cy="146304"/>
          </a:xfrm>
          <a:prstGeom prst="rect">
            <a:avLst/>
          </a:prstGeom>
          <a:noFill/>
          <a:ln/>
        </p:spPr>
        <p:txBody>
          <a:bodyPr wrap="square" lIns="0" tIns="0" rIns="0" bIns="0" rtlCol="0" anchor="ctr"/>
          <a:lstStyle/>
          <a:p>
            <a:pPr indent="0" marL="0">
              <a:buNone/>
            </a:pPr>
            <a:r>
              <a:rPr lang="en-US" sz="950" i="1" dirty="0">
                <a:solidFill>
                  <a:srgbClr val="8FA3B1"/>
                </a:solidFill>
                <a:latin typeface="Calibri" pitchFamily="34" charset="0"/>
                <a:ea typeface="Calibri" pitchFamily="34" charset="-122"/>
                <a:cs typeface="Calibri" pitchFamily="34" charset="-120"/>
              </a:rPr>
              <a:t>What we include, what we leave out, and why</a:t>
            </a:r>
            <a:endParaRPr lang="en-US" sz="950" dirty="0"/>
          </a:p>
        </p:txBody>
      </p:sp>
      <p:sp>
        <p:nvSpPr>
          <p:cNvPr id="30" name="Shape 28"/>
          <p:cNvSpPr/>
          <p:nvPr/>
        </p:nvSpPr>
        <p:spPr>
          <a:xfrm>
            <a:off x="320040" y="3145536"/>
            <a:ext cx="8503920" cy="0"/>
          </a:xfrm>
          <a:prstGeom prst="line">
            <a:avLst/>
          </a:prstGeom>
          <a:noFill/>
          <a:ln w="6350">
            <a:solidFill>
              <a:srgbClr val="D6E4EC"/>
            </a:solidFill>
            <a:prstDash val="solid"/>
          </a:ln>
        </p:spPr>
      </p:sp>
      <p:sp>
        <p:nvSpPr>
          <p:cNvPr id="31" name="Shape 29"/>
          <p:cNvSpPr/>
          <p:nvPr/>
        </p:nvSpPr>
        <p:spPr>
          <a:xfrm>
            <a:off x="320040" y="3209544"/>
            <a:ext cx="292608" cy="292608"/>
          </a:xfrm>
          <a:prstGeom prst="ellipse">
            <a:avLst/>
          </a:prstGeom>
          <a:solidFill>
            <a:srgbClr val="0D7377"/>
          </a:solidFill>
          <a:ln w="12700">
            <a:solidFill>
              <a:srgbClr val="0D7377"/>
            </a:solidFill>
            <a:prstDash val="solid"/>
          </a:ln>
        </p:spPr>
      </p:sp>
      <p:sp>
        <p:nvSpPr>
          <p:cNvPr id="32" name="Text 30"/>
          <p:cNvSpPr/>
          <p:nvPr/>
        </p:nvSpPr>
        <p:spPr>
          <a:xfrm>
            <a:off x="320040" y="320954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⑥</a:t>
            </a:r>
            <a:endParaRPr lang="en-US" sz="1100" dirty="0"/>
          </a:p>
        </p:txBody>
      </p:sp>
      <p:sp>
        <p:nvSpPr>
          <p:cNvPr id="33" name="Text 31"/>
          <p:cNvSpPr/>
          <p:nvPr/>
        </p:nvSpPr>
        <p:spPr>
          <a:xfrm>
            <a:off x="749808" y="3200400"/>
            <a:ext cx="3657600" cy="201168"/>
          </a:xfrm>
          <a:prstGeom prst="rect">
            <a:avLst/>
          </a:prstGeom>
          <a:noFill/>
          <a:ln/>
        </p:spPr>
        <p:txBody>
          <a:bodyPr wrap="square" lIns="0" tIns="0" rIns="0" bIns="0" rtlCol="0" anchor="ctr"/>
          <a:lstStyle/>
          <a:p>
            <a:pPr indent="0" marL="0">
              <a:buNone/>
            </a:pPr>
            <a:r>
              <a:rPr lang="en-US" sz="1200" b="1" dirty="0">
                <a:solidFill>
                  <a:srgbClr val="1A2E3B"/>
                </a:solidFill>
                <a:latin typeface="Calibri" pitchFamily="34" charset="0"/>
                <a:ea typeface="Calibri" pitchFamily="34" charset="-122"/>
                <a:cs typeface="Calibri" pitchFamily="34" charset="-120"/>
              </a:rPr>
              <a:t>Demo Results — 3 Instances</a:t>
            </a:r>
            <a:endParaRPr lang="en-US" sz="1200" dirty="0"/>
          </a:p>
        </p:txBody>
      </p:sp>
      <p:sp>
        <p:nvSpPr>
          <p:cNvPr id="34" name="Text 32"/>
          <p:cNvSpPr/>
          <p:nvPr/>
        </p:nvSpPr>
        <p:spPr>
          <a:xfrm>
            <a:off x="749808" y="3401568"/>
            <a:ext cx="8229600" cy="146304"/>
          </a:xfrm>
          <a:prstGeom prst="rect">
            <a:avLst/>
          </a:prstGeom>
          <a:noFill/>
          <a:ln/>
        </p:spPr>
        <p:txBody>
          <a:bodyPr wrap="square" lIns="0" tIns="0" rIns="0" bIns="0" rtlCol="0" anchor="ctr"/>
          <a:lstStyle/>
          <a:p>
            <a:pPr indent="0" marL="0">
              <a:buNone/>
            </a:pPr>
            <a:r>
              <a:rPr lang="en-US" sz="950" i="1" dirty="0">
                <a:solidFill>
                  <a:srgbClr val="8FA3B1"/>
                </a:solidFill>
                <a:latin typeface="Calibri" pitchFamily="34" charset="0"/>
                <a:ea typeface="Calibri" pitchFamily="34" charset="-122"/>
                <a:cs typeface="Calibri" pitchFamily="34" charset="-120"/>
              </a:rPr>
              <a:t>20-case demo · 50-case small · 60-case literature</a:t>
            </a:r>
            <a:endParaRPr lang="en-US" sz="950" dirty="0"/>
          </a:p>
        </p:txBody>
      </p:sp>
      <p:sp>
        <p:nvSpPr>
          <p:cNvPr id="35" name="Shape 33"/>
          <p:cNvSpPr/>
          <p:nvPr/>
        </p:nvSpPr>
        <p:spPr>
          <a:xfrm>
            <a:off x="320040" y="3547872"/>
            <a:ext cx="8503920" cy="0"/>
          </a:xfrm>
          <a:prstGeom prst="line">
            <a:avLst/>
          </a:prstGeom>
          <a:noFill/>
          <a:ln w="6350">
            <a:solidFill>
              <a:srgbClr val="D6E4EC"/>
            </a:solidFill>
            <a:prstDash val="solid"/>
          </a:ln>
        </p:spPr>
      </p:sp>
      <p:sp>
        <p:nvSpPr>
          <p:cNvPr id="36" name="Shape 34"/>
          <p:cNvSpPr/>
          <p:nvPr/>
        </p:nvSpPr>
        <p:spPr>
          <a:xfrm>
            <a:off x="320040" y="3611880"/>
            <a:ext cx="292608" cy="292608"/>
          </a:xfrm>
          <a:prstGeom prst="ellipse">
            <a:avLst/>
          </a:prstGeom>
          <a:solidFill>
            <a:srgbClr val="0D7377"/>
          </a:solidFill>
          <a:ln w="12700">
            <a:solidFill>
              <a:srgbClr val="0D7377"/>
            </a:solidFill>
            <a:prstDash val="solid"/>
          </a:ln>
        </p:spPr>
      </p:sp>
      <p:sp>
        <p:nvSpPr>
          <p:cNvPr id="37" name="Text 35"/>
          <p:cNvSpPr/>
          <p:nvPr/>
        </p:nvSpPr>
        <p:spPr>
          <a:xfrm>
            <a:off x="320040" y="36118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⑦</a:t>
            </a:r>
            <a:endParaRPr lang="en-US" sz="1100" dirty="0"/>
          </a:p>
        </p:txBody>
      </p:sp>
      <p:sp>
        <p:nvSpPr>
          <p:cNvPr id="38" name="Text 36"/>
          <p:cNvSpPr/>
          <p:nvPr/>
        </p:nvSpPr>
        <p:spPr>
          <a:xfrm>
            <a:off x="749808" y="3602736"/>
            <a:ext cx="3657600" cy="201168"/>
          </a:xfrm>
          <a:prstGeom prst="rect">
            <a:avLst/>
          </a:prstGeom>
          <a:noFill/>
          <a:ln/>
        </p:spPr>
        <p:txBody>
          <a:bodyPr wrap="square" lIns="0" tIns="0" rIns="0" bIns="0" rtlCol="0" anchor="ctr"/>
          <a:lstStyle/>
          <a:p>
            <a:pPr indent="0" marL="0">
              <a:buNone/>
            </a:pPr>
            <a:r>
              <a:rPr lang="en-US" sz="1200" b="1" dirty="0">
                <a:solidFill>
                  <a:srgbClr val="1A2E3B"/>
                </a:solidFill>
                <a:latin typeface="Calibri" pitchFamily="34" charset="0"/>
                <a:ea typeface="Calibri" pitchFamily="34" charset="-122"/>
                <a:cs typeface="Calibri" pitchFamily="34" charset="-120"/>
              </a:rPr>
              <a:t>Multi-Solver Comparison</a:t>
            </a:r>
            <a:endParaRPr lang="en-US" sz="1200" dirty="0"/>
          </a:p>
        </p:txBody>
      </p:sp>
      <p:sp>
        <p:nvSpPr>
          <p:cNvPr id="39" name="Text 37"/>
          <p:cNvSpPr/>
          <p:nvPr/>
        </p:nvSpPr>
        <p:spPr>
          <a:xfrm>
            <a:off x="749808" y="3803904"/>
            <a:ext cx="8229600" cy="146304"/>
          </a:xfrm>
          <a:prstGeom prst="rect">
            <a:avLst/>
          </a:prstGeom>
          <a:noFill/>
          <a:ln/>
        </p:spPr>
        <p:txBody>
          <a:bodyPr wrap="square" lIns="0" tIns="0" rIns="0" bIns="0" rtlCol="0" anchor="ctr"/>
          <a:lstStyle/>
          <a:p>
            <a:pPr indent="0" marL="0">
              <a:buNone/>
            </a:pPr>
            <a:r>
              <a:rPr lang="en-US" sz="950" i="1" dirty="0">
                <a:solidFill>
                  <a:srgbClr val="8FA3B1"/>
                </a:solidFill>
                <a:latin typeface="Calibri" pitchFamily="34" charset="0"/>
                <a:ea typeface="Calibri" pitchFamily="34" charset="-122"/>
                <a:cs typeface="Calibri" pitchFamily="34" charset="-120"/>
              </a:rPr>
              <a:t>PuLP/CBC · Pyomo · Greedy — same model, 3 backends</a:t>
            </a:r>
            <a:endParaRPr lang="en-US" sz="950" dirty="0"/>
          </a:p>
        </p:txBody>
      </p:sp>
      <p:sp>
        <p:nvSpPr>
          <p:cNvPr id="40" name="Shape 38"/>
          <p:cNvSpPr/>
          <p:nvPr/>
        </p:nvSpPr>
        <p:spPr>
          <a:xfrm>
            <a:off x="320040" y="3950208"/>
            <a:ext cx="8503920" cy="0"/>
          </a:xfrm>
          <a:prstGeom prst="line">
            <a:avLst/>
          </a:prstGeom>
          <a:noFill/>
          <a:ln w="6350">
            <a:solidFill>
              <a:srgbClr val="D6E4EC"/>
            </a:solidFill>
            <a:prstDash val="solid"/>
          </a:ln>
        </p:spPr>
      </p:sp>
      <p:sp>
        <p:nvSpPr>
          <p:cNvPr id="41" name="Shape 39"/>
          <p:cNvSpPr/>
          <p:nvPr/>
        </p:nvSpPr>
        <p:spPr>
          <a:xfrm>
            <a:off x="320040" y="4014216"/>
            <a:ext cx="292608" cy="292608"/>
          </a:xfrm>
          <a:prstGeom prst="ellipse">
            <a:avLst/>
          </a:prstGeom>
          <a:solidFill>
            <a:srgbClr val="0D7377"/>
          </a:solidFill>
          <a:ln w="12700">
            <a:solidFill>
              <a:srgbClr val="0D7377"/>
            </a:solidFill>
            <a:prstDash val="solid"/>
          </a:ln>
        </p:spPr>
      </p:sp>
      <p:sp>
        <p:nvSpPr>
          <p:cNvPr id="42" name="Text 40"/>
          <p:cNvSpPr/>
          <p:nvPr/>
        </p:nvSpPr>
        <p:spPr>
          <a:xfrm>
            <a:off x="320040" y="401421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⑧</a:t>
            </a:r>
            <a:endParaRPr lang="en-US" sz="1100" dirty="0"/>
          </a:p>
        </p:txBody>
      </p:sp>
      <p:sp>
        <p:nvSpPr>
          <p:cNvPr id="43" name="Text 41"/>
          <p:cNvSpPr/>
          <p:nvPr/>
        </p:nvSpPr>
        <p:spPr>
          <a:xfrm>
            <a:off x="749808" y="4005072"/>
            <a:ext cx="3657600" cy="201168"/>
          </a:xfrm>
          <a:prstGeom prst="rect">
            <a:avLst/>
          </a:prstGeom>
          <a:noFill/>
          <a:ln/>
        </p:spPr>
        <p:txBody>
          <a:bodyPr wrap="square" lIns="0" tIns="0" rIns="0" bIns="0" rtlCol="0" anchor="ctr"/>
          <a:lstStyle/>
          <a:p>
            <a:pPr indent="0" marL="0">
              <a:buNone/>
            </a:pPr>
            <a:r>
              <a:rPr lang="en-US" sz="1200" b="1" dirty="0">
                <a:solidFill>
                  <a:srgbClr val="1A2E3B"/>
                </a:solidFill>
                <a:latin typeface="Calibri" pitchFamily="34" charset="0"/>
                <a:ea typeface="Calibri" pitchFamily="34" charset="-122"/>
                <a:cs typeface="Calibri" pitchFamily="34" charset="-120"/>
              </a:rPr>
              <a:t>Open Questions</a:t>
            </a:r>
            <a:endParaRPr lang="en-US" sz="1200" dirty="0"/>
          </a:p>
        </p:txBody>
      </p:sp>
      <p:sp>
        <p:nvSpPr>
          <p:cNvPr id="44" name="Text 42"/>
          <p:cNvSpPr/>
          <p:nvPr/>
        </p:nvSpPr>
        <p:spPr>
          <a:xfrm>
            <a:off x="749808" y="4206240"/>
            <a:ext cx="8229600" cy="146304"/>
          </a:xfrm>
          <a:prstGeom prst="rect">
            <a:avLst/>
          </a:prstGeom>
          <a:noFill/>
          <a:ln/>
        </p:spPr>
        <p:txBody>
          <a:bodyPr wrap="square" lIns="0" tIns="0" rIns="0" bIns="0" rtlCol="0" anchor="ctr"/>
          <a:lstStyle/>
          <a:p>
            <a:pPr indent="0" marL="0">
              <a:buNone/>
            </a:pPr>
            <a:r>
              <a:rPr lang="en-US" sz="950" i="1" dirty="0">
                <a:solidFill>
                  <a:srgbClr val="8FA3B1"/>
                </a:solidFill>
                <a:latin typeface="Calibri" pitchFamily="34" charset="0"/>
                <a:ea typeface="Calibri" pitchFamily="34" charset="-122"/>
                <a:cs typeface="Calibri" pitchFamily="34" charset="-120"/>
              </a:rPr>
              <a:t>Passing the torch · Solver library architecture</a:t>
            </a:r>
            <a:endParaRPr lang="en-US" sz="950" dirty="0"/>
          </a:p>
        </p:txBody>
      </p:sp>
      <p:sp>
        <p:nvSpPr>
          <p:cNvPr id="45" name="Shape 43"/>
          <p:cNvSpPr/>
          <p:nvPr/>
        </p:nvSpPr>
        <p:spPr>
          <a:xfrm>
            <a:off x="320040" y="4352544"/>
            <a:ext cx="8503920" cy="0"/>
          </a:xfrm>
          <a:prstGeom prst="line">
            <a:avLst/>
          </a:prstGeom>
          <a:noFill/>
          <a:ln w="6350">
            <a:solidFill>
              <a:srgbClr val="D6E4EC"/>
            </a:solidFill>
            <a:prstDash val="solid"/>
          </a:ln>
        </p:spPr>
      </p:sp>
      <p:sp>
        <p:nvSpPr>
          <p:cNvPr id="46" name="Shape 44"/>
          <p:cNvSpPr/>
          <p:nvPr/>
        </p:nvSpPr>
        <p:spPr>
          <a:xfrm>
            <a:off x="320040" y="4416552"/>
            <a:ext cx="292608" cy="292608"/>
          </a:xfrm>
          <a:prstGeom prst="ellipse">
            <a:avLst/>
          </a:prstGeom>
          <a:solidFill>
            <a:srgbClr val="0D7377"/>
          </a:solidFill>
          <a:ln w="12700">
            <a:solidFill>
              <a:srgbClr val="0D7377"/>
            </a:solidFill>
            <a:prstDash val="solid"/>
          </a:ln>
        </p:spPr>
      </p:sp>
      <p:sp>
        <p:nvSpPr>
          <p:cNvPr id="47" name="Text 45"/>
          <p:cNvSpPr/>
          <p:nvPr/>
        </p:nvSpPr>
        <p:spPr>
          <a:xfrm>
            <a:off x="320040" y="441655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⑨</a:t>
            </a:r>
            <a:endParaRPr lang="en-US" sz="1100" dirty="0"/>
          </a:p>
        </p:txBody>
      </p:sp>
      <p:sp>
        <p:nvSpPr>
          <p:cNvPr id="48" name="Text 46"/>
          <p:cNvSpPr/>
          <p:nvPr/>
        </p:nvSpPr>
        <p:spPr>
          <a:xfrm>
            <a:off x="749808" y="4407408"/>
            <a:ext cx="3657600" cy="201168"/>
          </a:xfrm>
          <a:prstGeom prst="rect">
            <a:avLst/>
          </a:prstGeom>
          <a:noFill/>
          <a:ln/>
        </p:spPr>
        <p:txBody>
          <a:bodyPr wrap="square" lIns="0" tIns="0" rIns="0" bIns="0" rtlCol="0" anchor="ctr"/>
          <a:lstStyle/>
          <a:p>
            <a:pPr indent="0" marL="0">
              <a:buNone/>
            </a:pPr>
            <a:r>
              <a:rPr lang="en-US" sz="1200" b="1" dirty="0">
                <a:solidFill>
                  <a:srgbClr val="1A2E3B"/>
                </a:solidFill>
                <a:latin typeface="Calibri" pitchFamily="34" charset="0"/>
                <a:ea typeface="Calibri" pitchFamily="34" charset="-122"/>
                <a:cs typeface="Calibri" pitchFamily="34" charset="-120"/>
              </a:rPr>
              <a:t>Technical Interview Questions</a:t>
            </a:r>
            <a:endParaRPr lang="en-US" sz="1200" dirty="0"/>
          </a:p>
        </p:txBody>
      </p:sp>
      <p:sp>
        <p:nvSpPr>
          <p:cNvPr id="49" name="Text 47"/>
          <p:cNvSpPr/>
          <p:nvPr/>
        </p:nvSpPr>
        <p:spPr>
          <a:xfrm>
            <a:off x="749808" y="4608576"/>
            <a:ext cx="8229600" cy="146304"/>
          </a:xfrm>
          <a:prstGeom prst="rect">
            <a:avLst/>
          </a:prstGeom>
          <a:noFill/>
          <a:ln/>
        </p:spPr>
        <p:txBody>
          <a:bodyPr wrap="square" lIns="0" tIns="0" rIns="0" bIns="0" rtlCol="0" anchor="ctr"/>
          <a:lstStyle/>
          <a:p>
            <a:pPr indent="0" marL="0">
              <a:buNone/>
            </a:pPr>
            <a:r>
              <a:rPr lang="en-US" sz="950" i="1" dirty="0">
                <a:solidFill>
                  <a:srgbClr val="8FA3B1"/>
                </a:solidFill>
                <a:latin typeface="Calibri" pitchFamily="34" charset="0"/>
                <a:ea typeface="Calibri" pitchFamily="34" charset="-122"/>
                <a:cs typeface="Calibri" pitchFamily="34" charset="-120"/>
              </a:rPr>
              <a:t>6 rigorous OR questions for discussion</a:t>
            </a:r>
            <a:endParaRPr lang="en-US" sz="950" dirty="0"/>
          </a:p>
        </p:txBody>
      </p:sp>
      <p:sp>
        <p:nvSpPr>
          <p:cNvPr id="50" name="Shape 48"/>
          <p:cNvSpPr/>
          <p:nvPr/>
        </p:nvSpPr>
        <p:spPr>
          <a:xfrm>
            <a:off x="0" y="4800600"/>
            <a:ext cx="9144000" cy="342900"/>
          </a:xfrm>
          <a:prstGeom prst="rect">
            <a:avLst/>
          </a:prstGeom>
          <a:solidFill>
            <a:srgbClr val="0A2E4A"/>
          </a:solidFill>
          <a:ln w="12700">
            <a:solidFill>
              <a:srgbClr val="0A2E4A"/>
            </a:solidFill>
            <a:prstDash val="solid"/>
          </a:ln>
        </p:spPr>
      </p:sp>
      <p:sp>
        <p:nvSpPr>
          <p:cNvPr id="51" name="Text 49"/>
          <p:cNvSpPr/>
          <p:nvPr/>
        </p:nvSpPr>
        <p:spPr>
          <a:xfrm>
            <a:off x="182880" y="4818888"/>
            <a:ext cx="6400800" cy="27432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Elective Surgery Scheduling — MILP  ·  SNS/SIGIC Portugal  ·  github.com/</a:t>
            </a:r>
            <a:endParaRPr lang="en-US" sz="800" dirty="0"/>
          </a:p>
        </p:txBody>
      </p:sp>
      <p:sp>
        <p:nvSpPr>
          <p:cNvPr id="52" name="Text 50"/>
          <p:cNvSpPr/>
          <p:nvPr/>
        </p:nvSpPr>
        <p:spPr>
          <a:xfrm>
            <a:off x="7772400" y="4818888"/>
            <a:ext cx="1188720" cy="274320"/>
          </a:xfrm>
          <a:prstGeom prst="rect">
            <a:avLst/>
          </a:prstGeom>
          <a:noFill/>
          <a:ln/>
        </p:spPr>
        <p:txBody>
          <a:bodyPr wrap="square" lIns="0" tIns="0" rIns="0" bIns="0" rtlCol="0" anchor="ctr"/>
          <a:lstStyle/>
          <a:p>
            <a:pPr algn="r" indent="0" marL="0">
              <a:buNone/>
            </a:pPr>
            <a:r>
              <a:rPr lang="en-US" sz="800" dirty="0">
                <a:solidFill>
                  <a:srgbClr val="8FA3B1"/>
                </a:solidFill>
                <a:latin typeface="Calibri" pitchFamily="34" charset="0"/>
                <a:ea typeface="Calibri" pitchFamily="34" charset="-122"/>
                <a:cs typeface="Calibri" pitchFamily="34" charset="-120"/>
              </a:rPr>
              <a:t>2 / 20</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E4A"/>
          </a:solidFill>
          <a:ln w="12700">
            <a:solidFill>
              <a:srgbClr val="0A2E4A"/>
            </a:solidFill>
            <a:prstDash val="solid"/>
          </a:ln>
        </p:spPr>
      </p:sp>
      <p:sp>
        <p:nvSpPr>
          <p:cNvPr id="3" name="Shape 1"/>
          <p:cNvSpPr/>
          <p:nvPr/>
        </p:nvSpPr>
        <p:spPr>
          <a:xfrm>
            <a:off x="0" y="1005840"/>
            <a:ext cx="9144000" cy="54864"/>
          </a:xfrm>
          <a:prstGeom prst="rect">
            <a:avLst/>
          </a:prstGeom>
          <a:solidFill>
            <a:srgbClr val="0D7377"/>
          </a:solidFill>
          <a:ln w="12700">
            <a:solidFill>
              <a:srgbClr val="0D7377"/>
            </a:solidFill>
            <a:prstDash val="solid"/>
          </a:ln>
        </p:spPr>
      </p:sp>
      <p:sp>
        <p:nvSpPr>
          <p:cNvPr id="4" name="Shape 2"/>
          <p:cNvSpPr/>
          <p:nvPr/>
        </p:nvSpPr>
        <p:spPr>
          <a:xfrm>
            <a:off x="7772400" y="0"/>
            <a:ext cx="1371600" cy="1005840"/>
          </a:xfrm>
          <a:prstGeom prst="rect">
            <a:avLst/>
          </a:prstGeom>
          <a:solidFill>
            <a:srgbClr val="0D7377"/>
          </a:solidFill>
          <a:ln w="12700">
            <a:solidFill>
              <a:srgbClr val="0D7377"/>
            </a:solidFill>
            <a:prstDash val="solid"/>
          </a:ln>
        </p:spPr>
      </p:sp>
      <p:sp>
        <p:nvSpPr>
          <p:cNvPr id="5" name="Text 3"/>
          <p:cNvSpPr/>
          <p:nvPr/>
        </p:nvSpPr>
        <p:spPr>
          <a:xfrm>
            <a:off x="320040" y="73152"/>
            <a:ext cx="685800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Motivation — Why This Problem is Hard</a:t>
            </a:r>
            <a:endParaRPr lang="en-US" sz="2000" dirty="0"/>
          </a:p>
        </p:txBody>
      </p:sp>
      <p:sp>
        <p:nvSpPr>
          <p:cNvPr id="6" name="Text 4"/>
          <p:cNvSpPr/>
          <p:nvPr/>
        </p:nvSpPr>
        <p:spPr>
          <a:xfrm>
            <a:off x="320040" y="566928"/>
            <a:ext cx="8229600" cy="347472"/>
          </a:xfrm>
          <a:prstGeom prst="rect">
            <a:avLst/>
          </a:prstGeom>
          <a:noFill/>
          <a:ln/>
        </p:spPr>
        <p:txBody>
          <a:bodyPr wrap="square" lIns="0" tIns="0" rIns="0" bIns="0" rtlCol="0" anchor="ctr"/>
          <a:lstStyle/>
          <a:p>
            <a:pPr indent="0" marL="0">
              <a:buNone/>
            </a:pPr>
            <a:r>
              <a:rPr lang="en-US" sz="1150" i="1" dirty="0">
                <a:solidFill>
                  <a:srgbClr val="9EEADF"/>
                </a:solidFill>
                <a:latin typeface="Calibri" pitchFamily="34" charset="0"/>
                <a:ea typeface="Calibri" pitchFamily="34" charset="-122"/>
                <a:cs typeface="Calibri" pitchFamily="34" charset="-120"/>
              </a:rPr>
              <a:t>Centro Hospitalar Lisboa Norte · LIC 2016</a:t>
            </a:r>
            <a:endParaRPr lang="en-US" sz="1150" dirty="0"/>
          </a:p>
        </p:txBody>
      </p:sp>
      <p:sp>
        <p:nvSpPr>
          <p:cNvPr id="7" name="Shape 5"/>
          <p:cNvSpPr/>
          <p:nvPr/>
        </p:nvSpPr>
        <p:spPr>
          <a:xfrm>
            <a:off x="274320" y="1188720"/>
            <a:ext cx="1920240" cy="1097280"/>
          </a:xfrm>
          <a:prstGeom prst="roundRect">
            <a:avLst>
              <a:gd name="adj" fmla="val 6667"/>
            </a:avLst>
          </a:prstGeom>
          <a:solidFill>
            <a:srgbClr val="FFFFFF"/>
          </a:solidFill>
          <a:ln/>
          <a:effectLst>
            <a:outerShdw sx="100000" sy="100000" kx="0" ky="0" algn="bl" rotWithShape="0" blurRad="63500" dist="25400" dir="2700000">
              <a:srgbClr val="000000">
                <a:alpha val="10000"/>
              </a:srgbClr>
            </a:outerShdw>
          </a:effectLst>
        </p:spPr>
      </p:sp>
      <p:sp>
        <p:nvSpPr>
          <p:cNvPr id="8" name="Text 6"/>
          <p:cNvSpPr/>
          <p:nvPr/>
        </p:nvSpPr>
        <p:spPr>
          <a:xfrm>
            <a:off x="320040" y="1261872"/>
            <a:ext cx="1828800" cy="640080"/>
          </a:xfrm>
          <a:prstGeom prst="rect">
            <a:avLst/>
          </a:prstGeom>
          <a:noFill/>
          <a:ln/>
        </p:spPr>
        <p:txBody>
          <a:bodyPr wrap="square" lIns="0" tIns="0" rIns="0" bIns="0" rtlCol="0" anchor="ctr"/>
          <a:lstStyle/>
          <a:p>
            <a:pPr algn="ctr" indent="0" marL="0">
              <a:buNone/>
            </a:pPr>
            <a:r>
              <a:rPr lang="en-US" sz="3400" b="1" dirty="0">
                <a:solidFill>
                  <a:srgbClr val="C0392B"/>
                </a:solidFill>
                <a:latin typeface="Calibri" pitchFamily="34" charset="0"/>
                <a:ea typeface="Calibri" pitchFamily="34" charset="-122"/>
                <a:cs typeface="Calibri" pitchFamily="34" charset="-120"/>
              </a:rPr>
              <a:t>7 374</a:t>
            </a:r>
            <a:endParaRPr lang="en-US" sz="3400" dirty="0"/>
          </a:p>
        </p:txBody>
      </p:sp>
      <p:sp>
        <p:nvSpPr>
          <p:cNvPr id="9" name="Text 7"/>
          <p:cNvSpPr/>
          <p:nvPr/>
        </p:nvSpPr>
        <p:spPr>
          <a:xfrm>
            <a:off x="320040" y="1901952"/>
            <a:ext cx="1828800" cy="320040"/>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patients on waiting list</a:t>
            </a:r>
            <a:endParaRPr lang="en-US" sz="1000" dirty="0"/>
          </a:p>
        </p:txBody>
      </p:sp>
      <p:sp>
        <p:nvSpPr>
          <p:cNvPr id="10" name="Shape 8"/>
          <p:cNvSpPr/>
          <p:nvPr/>
        </p:nvSpPr>
        <p:spPr>
          <a:xfrm>
            <a:off x="2331720" y="1188720"/>
            <a:ext cx="1920240" cy="1097280"/>
          </a:xfrm>
          <a:prstGeom prst="roundRect">
            <a:avLst>
              <a:gd name="adj" fmla="val 6667"/>
            </a:avLst>
          </a:prstGeom>
          <a:solidFill>
            <a:srgbClr val="FFFFFF"/>
          </a:solidFill>
          <a:ln/>
          <a:effectLst>
            <a:outerShdw sx="100000" sy="100000" kx="0" ky="0" algn="bl" rotWithShape="0" blurRad="63500" dist="25400" dir="2700000">
              <a:srgbClr val="000000">
                <a:alpha val="10000"/>
              </a:srgbClr>
            </a:outerShdw>
          </a:effectLst>
        </p:spPr>
      </p:sp>
      <p:sp>
        <p:nvSpPr>
          <p:cNvPr id="11" name="Text 9"/>
          <p:cNvSpPr/>
          <p:nvPr/>
        </p:nvSpPr>
        <p:spPr>
          <a:xfrm>
            <a:off x="2377440" y="1261872"/>
            <a:ext cx="1828800" cy="640080"/>
          </a:xfrm>
          <a:prstGeom prst="rect">
            <a:avLst/>
          </a:prstGeom>
          <a:noFill/>
          <a:ln/>
        </p:spPr>
        <p:txBody>
          <a:bodyPr wrap="square" lIns="0" tIns="0" rIns="0" bIns="0" rtlCol="0" anchor="ctr"/>
          <a:lstStyle/>
          <a:p>
            <a:pPr algn="ctr" indent="0" marL="0">
              <a:buNone/>
            </a:pPr>
            <a:r>
              <a:rPr lang="en-US" sz="3400" b="1" dirty="0">
                <a:solidFill>
                  <a:srgbClr val="E67E22"/>
                </a:solidFill>
                <a:latin typeface="Calibri" pitchFamily="34" charset="0"/>
                <a:ea typeface="Calibri" pitchFamily="34" charset="-122"/>
                <a:cs typeface="Calibri" pitchFamily="34" charset="-120"/>
              </a:rPr>
              <a:t>16%</a:t>
            </a:r>
            <a:endParaRPr lang="en-US" sz="3400" dirty="0"/>
          </a:p>
        </p:txBody>
      </p:sp>
      <p:sp>
        <p:nvSpPr>
          <p:cNvPr id="12" name="Text 10"/>
          <p:cNvSpPr/>
          <p:nvPr/>
        </p:nvSpPr>
        <p:spPr>
          <a:xfrm>
            <a:off x="2377440" y="1901952"/>
            <a:ext cx="1828800" cy="320040"/>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cases past deadline</a:t>
            </a:r>
            <a:endParaRPr lang="en-US" sz="1000" dirty="0"/>
          </a:p>
        </p:txBody>
      </p:sp>
      <p:sp>
        <p:nvSpPr>
          <p:cNvPr id="13" name="Shape 11"/>
          <p:cNvSpPr/>
          <p:nvPr/>
        </p:nvSpPr>
        <p:spPr>
          <a:xfrm>
            <a:off x="4389120" y="1188720"/>
            <a:ext cx="1920240" cy="1097280"/>
          </a:xfrm>
          <a:prstGeom prst="roundRect">
            <a:avLst>
              <a:gd name="adj" fmla="val 6667"/>
            </a:avLst>
          </a:prstGeom>
          <a:solidFill>
            <a:srgbClr val="FFFFFF"/>
          </a:solidFill>
          <a:ln/>
          <a:effectLst>
            <a:outerShdw sx="100000" sy="100000" kx="0" ky="0" algn="bl" rotWithShape="0" blurRad="63500" dist="25400" dir="2700000">
              <a:srgbClr val="000000">
                <a:alpha val="10000"/>
              </a:srgbClr>
            </a:outerShdw>
          </a:effectLst>
        </p:spPr>
      </p:sp>
      <p:sp>
        <p:nvSpPr>
          <p:cNvPr id="14" name="Text 12"/>
          <p:cNvSpPr/>
          <p:nvPr/>
        </p:nvSpPr>
        <p:spPr>
          <a:xfrm>
            <a:off x="4434840" y="1261872"/>
            <a:ext cx="1828800" cy="640080"/>
          </a:xfrm>
          <a:prstGeom prst="rect">
            <a:avLst/>
          </a:prstGeom>
          <a:noFill/>
          <a:ln/>
        </p:spPr>
        <p:txBody>
          <a:bodyPr wrap="square" lIns="0" tIns="0" rIns="0" bIns="0" rtlCol="0" anchor="ctr"/>
          <a:lstStyle/>
          <a:p>
            <a:pPr algn="ctr" indent="0" marL="0">
              <a:buNone/>
            </a:pPr>
            <a:r>
              <a:rPr lang="en-US" sz="3400" b="1" dirty="0">
                <a:solidFill>
                  <a:srgbClr val="C0392B"/>
                </a:solidFill>
                <a:latin typeface="Calibri" pitchFamily="34" charset="0"/>
                <a:ea typeface="Calibri" pitchFamily="34" charset="-122"/>
                <a:cs typeface="Calibri" pitchFamily="34" charset="-120"/>
              </a:rPr>
              <a:t>147d</a:t>
            </a:r>
            <a:endParaRPr lang="en-US" sz="3400" dirty="0"/>
          </a:p>
        </p:txBody>
      </p:sp>
      <p:sp>
        <p:nvSpPr>
          <p:cNvPr id="15" name="Text 13"/>
          <p:cNvSpPr/>
          <p:nvPr/>
        </p:nvSpPr>
        <p:spPr>
          <a:xfrm>
            <a:off x="4434840" y="1901952"/>
            <a:ext cx="1828800" cy="320040"/>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avg overdue delay</a:t>
            </a:r>
            <a:endParaRPr lang="en-US" sz="1000" dirty="0"/>
          </a:p>
        </p:txBody>
      </p:sp>
      <p:sp>
        <p:nvSpPr>
          <p:cNvPr id="16" name="Shape 14"/>
          <p:cNvSpPr/>
          <p:nvPr/>
        </p:nvSpPr>
        <p:spPr>
          <a:xfrm>
            <a:off x="6446520" y="1188720"/>
            <a:ext cx="1920240" cy="1097280"/>
          </a:xfrm>
          <a:prstGeom prst="roundRect">
            <a:avLst>
              <a:gd name="adj" fmla="val 6667"/>
            </a:avLst>
          </a:prstGeom>
          <a:solidFill>
            <a:srgbClr val="FFFFFF"/>
          </a:solidFill>
          <a:ln/>
          <a:effectLst>
            <a:outerShdw sx="100000" sy="100000" kx="0" ky="0" algn="bl" rotWithShape="0" blurRad="63500" dist="25400" dir="2700000">
              <a:srgbClr val="000000">
                <a:alpha val="10000"/>
              </a:srgbClr>
            </a:outerShdw>
          </a:effectLst>
        </p:spPr>
      </p:sp>
      <p:sp>
        <p:nvSpPr>
          <p:cNvPr id="17" name="Text 15"/>
          <p:cNvSpPr/>
          <p:nvPr/>
        </p:nvSpPr>
        <p:spPr>
          <a:xfrm>
            <a:off x="6492240" y="1261872"/>
            <a:ext cx="1828800" cy="640080"/>
          </a:xfrm>
          <a:prstGeom prst="rect">
            <a:avLst/>
          </a:prstGeom>
          <a:noFill/>
          <a:ln/>
        </p:spPr>
        <p:txBody>
          <a:bodyPr wrap="square" lIns="0" tIns="0" rIns="0" bIns="0" rtlCol="0" anchor="ctr"/>
          <a:lstStyle/>
          <a:p>
            <a:pPr algn="ctr" indent="0" marL="0">
              <a:buNone/>
            </a:pPr>
            <a:r>
              <a:rPr lang="en-US" sz="3400" b="1" dirty="0">
                <a:solidFill>
                  <a:srgbClr val="0D7377"/>
                </a:solidFill>
                <a:latin typeface="Calibri" pitchFamily="34" charset="0"/>
                <a:ea typeface="Calibri" pitchFamily="34" charset="-122"/>
                <a:cs typeface="Calibri" pitchFamily="34" charset="-120"/>
              </a:rPr>
              <a:t>28</a:t>
            </a:r>
            <a:endParaRPr lang="en-US" sz="3400" dirty="0"/>
          </a:p>
        </p:txBody>
      </p:sp>
      <p:sp>
        <p:nvSpPr>
          <p:cNvPr id="18" name="Text 16"/>
          <p:cNvSpPr/>
          <p:nvPr/>
        </p:nvSpPr>
        <p:spPr>
          <a:xfrm>
            <a:off x="6492240" y="1901952"/>
            <a:ext cx="1828800" cy="320040"/>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OR rooms · 11 blocks</a:t>
            </a:r>
            <a:endParaRPr lang="en-US" sz="1000" dirty="0"/>
          </a:p>
        </p:txBody>
      </p:sp>
      <p:sp>
        <p:nvSpPr>
          <p:cNvPr id="19" name="Shape 17"/>
          <p:cNvSpPr/>
          <p:nvPr/>
        </p:nvSpPr>
        <p:spPr>
          <a:xfrm>
            <a:off x="274320" y="2423160"/>
            <a:ext cx="8595360" cy="1005840"/>
          </a:xfrm>
          <a:prstGeom prst="roundRect">
            <a:avLst>
              <a:gd name="adj" fmla="val 7273"/>
            </a:avLst>
          </a:prstGeom>
          <a:solidFill>
            <a:srgbClr val="FFFFFF"/>
          </a:solidFill>
          <a:ln/>
          <a:effectLst>
            <a:outerShdw sx="100000" sy="100000" kx="0" ky="0" algn="bl" rotWithShape="0" blurRad="63500" dist="25400" dir="2700000">
              <a:srgbClr val="000000">
                <a:alpha val="10000"/>
              </a:srgbClr>
            </a:outerShdw>
          </a:effectLst>
        </p:spPr>
      </p:sp>
      <p:sp>
        <p:nvSpPr>
          <p:cNvPr id="20" name="Text 18"/>
          <p:cNvSpPr/>
          <p:nvPr/>
        </p:nvSpPr>
        <p:spPr>
          <a:xfrm>
            <a:off x="457200" y="2487168"/>
            <a:ext cx="8229600" cy="256032"/>
          </a:xfrm>
          <a:prstGeom prst="rect">
            <a:avLst/>
          </a:prstGeom>
          <a:noFill/>
          <a:ln/>
        </p:spPr>
        <p:txBody>
          <a:bodyPr wrap="square" lIns="0" tIns="0" rIns="0" bIns="0" rtlCol="0" anchor="ctr"/>
          <a:lstStyle/>
          <a:p>
            <a:pPr indent="0" marL="0">
              <a:buNone/>
            </a:pPr>
            <a:r>
              <a:rPr lang="en-US" sz="1200" b="1" dirty="0">
                <a:solidFill>
                  <a:srgbClr val="0A2E4A"/>
                </a:solidFill>
                <a:latin typeface="Calibri" pitchFamily="34" charset="0"/>
                <a:ea typeface="Calibri" pitchFamily="34" charset="-122"/>
                <a:cs typeface="Calibri" pitchFamily="34" charset="-120"/>
              </a:rPr>
              <a:t>SIGIC Priority Rules (Portaria n.º 45/2008):</a:t>
            </a:r>
            <a:endParaRPr lang="en-US" sz="1200" dirty="0"/>
          </a:p>
        </p:txBody>
      </p:sp>
      <p:sp>
        <p:nvSpPr>
          <p:cNvPr id="21" name="Text 19"/>
          <p:cNvSpPr/>
          <p:nvPr/>
        </p:nvSpPr>
        <p:spPr>
          <a:xfrm>
            <a:off x="457200" y="2743200"/>
            <a:ext cx="2651760" cy="182880"/>
          </a:xfrm>
          <a:prstGeom prst="rect">
            <a:avLst/>
          </a:prstGeom>
          <a:noFill/>
          <a:ln/>
        </p:spPr>
        <p:txBody>
          <a:bodyPr wrap="square" lIns="0" tIns="0" rIns="0" bIns="0" rtlCol="0" anchor="ctr"/>
          <a:lstStyle/>
          <a:p>
            <a:pPr indent="0" marL="0">
              <a:buNone/>
            </a:pPr>
            <a:r>
              <a:rPr lang="en-US" sz="1000" dirty="0">
                <a:solidFill>
                  <a:srgbClr val="1A2E3B"/>
                </a:solidFill>
                <a:latin typeface="Calibri" pitchFamily="34" charset="0"/>
                <a:ea typeface="Calibri" pitchFamily="34" charset="-122"/>
                <a:cs typeface="Calibri" pitchFamily="34" charset="-120"/>
              </a:rPr>
              <a:t>Priority 1 (Normal)</a:t>
            </a:r>
            <a:endParaRPr lang="en-US" sz="1000" dirty="0"/>
          </a:p>
        </p:txBody>
      </p:sp>
      <p:sp>
        <p:nvSpPr>
          <p:cNvPr id="22" name="Text 20"/>
          <p:cNvSpPr/>
          <p:nvPr/>
        </p:nvSpPr>
        <p:spPr>
          <a:xfrm>
            <a:off x="3200400" y="2743200"/>
            <a:ext cx="2560320" cy="182880"/>
          </a:xfrm>
          <a:prstGeom prst="rect">
            <a:avLst/>
          </a:prstGeom>
          <a:noFill/>
          <a:ln/>
        </p:spPr>
        <p:txBody>
          <a:bodyPr wrap="square" lIns="0" tIns="0" rIns="0" bIns="0" rtlCol="0" anchor="ctr"/>
          <a:lstStyle/>
          <a:p>
            <a:pPr indent="0" marL="0">
              <a:buNone/>
            </a:pPr>
            <a:r>
              <a:rPr lang="en-US" sz="1000" b="1" dirty="0">
                <a:solidFill>
                  <a:srgbClr val="0D7377"/>
                </a:solidFill>
                <a:latin typeface="Calibri" pitchFamily="34" charset="0"/>
                <a:ea typeface="Calibri" pitchFamily="34" charset="-122"/>
                <a:cs typeface="Calibri" pitchFamily="34" charset="-120"/>
              </a:rPr>
              <a:t>270 days</a:t>
            </a:r>
            <a:endParaRPr lang="en-US" sz="1000" dirty="0"/>
          </a:p>
        </p:txBody>
      </p:sp>
      <p:sp>
        <p:nvSpPr>
          <p:cNvPr id="23" name="Text 21"/>
          <p:cNvSpPr/>
          <p:nvPr/>
        </p:nvSpPr>
        <p:spPr>
          <a:xfrm>
            <a:off x="6217920" y="2743200"/>
            <a:ext cx="2651760" cy="182880"/>
          </a:xfrm>
          <a:prstGeom prst="rect">
            <a:avLst/>
          </a:prstGeom>
          <a:noFill/>
          <a:ln/>
        </p:spPr>
        <p:txBody>
          <a:bodyPr wrap="square" lIns="0" tIns="0" rIns="0" bIns="0"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Base weight ×1</a:t>
            </a:r>
            <a:endParaRPr lang="en-US" sz="1000" dirty="0"/>
          </a:p>
        </p:txBody>
      </p:sp>
      <p:sp>
        <p:nvSpPr>
          <p:cNvPr id="24" name="Text 22"/>
          <p:cNvSpPr/>
          <p:nvPr/>
        </p:nvSpPr>
        <p:spPr>
          <a:xfrm>
            <a:off x="457200" y="2926080"/>
            <a:ext cx="2651760" cy="182880"/>
          </a:xfrm>
          <a:prstGeom prst="rect">
            <a:avLst/>
          </a:prstGeom>
          <a:noFill/>
          <a:ln/>
        </p:spPr>
        <p:txBody>
          <a:bodyPr wrap="square" lIns="0" tIns="0" rIns="0" bIns="0" rtlCol="0" anchor="ctr"/>
          <a:lstStyle/>
          <a:p>
            <a:pPr indent="0" marL="0">
              <a:buNone/>
            </a:pPr>
            <a:r>
              <a:rPr lang="en-US" sz="1000" dirty="0">
                <a:solidFill>
                  <a:srgbClr val="1A2E3B"/>
                </a:solidFill>
                <a:latin typeface="Calibri" pitchFamily="34" charset="0"/>
                <a:ea typeface="Calibri" pitchFamily="34" charset="-122"/>
                <a:cs typeface="Calibri" pitchFamily="34" charset="-120"/>
              </a:rPr>
              <a:t>Priority 2 (Priority)</a:t>
            </a:r>
            <a:endParaRPr lang="en-US" sz="1000" dirty="0"/>
          </a:p>
        </p:txBody>
      </p:sp>
      <p:sp>
        <p:nvSpPr>
          <p:cNvPr id="25" name="Text 23"/>
          <p:cNvSpPr/>
          <p:nvPr/>
        </p:nvSpPr>
        <p:spPr>
          <a:xfrm>
            <a:off x="3200400" y="2926080"/>
            <a:ext cx="2560320" cy="182880"/>
          </a:xfrm>
          <a:prstGeom prst="rect">
            <a:avLst/>
          </a:prstGeom>
          <a:noFill/>
          <a:ln/>
        </p:spPr>
        <p:txBody>
          <a:bodyPr wrap="square" lIns="0" tIns="0" rIns="0" bIns="0" rtlCol="0" anchor="ctr"/>
          <a:lstStyle/>
          <a:p>
            <a:pPr indent="0" marL="0">
              <a:buNone/>
            </a:pPr>
            <a:r>
              <a:rPr lang="en-US" sz="1000" b="1" dirty="0">
                <a:solidFill>
                  <a:srgbClr val="0D7377"/>
                </a:solidFill>
                <a:latin typeface="Calibri" pitchFamily="34" charset="0"/>
                <a:ea typeface="Calibri" pitchFamily="34" charset="-122"/>
                <a:cs typeface="Calibri" pitchFamily="34" charset="-120"/>
              </a:rPr>
              <a:t>60 days</a:t>
            </a:r>
            <a:endParaRPr lang="en-US" sz="1000" dirty="0"/>
          </a:p>
        </p:txBody>
      </p:sp>
      <p:sp>
        <p:nvSpPr>
          <p:cNvPr id="26" name="Text 24"/>
          <p:cNvSpPr/>
          <p:nvPr/>
        </p:nvSpPr>
        <p:spPr>
          <a:xfrm>
            <a:off x="6217920" y="2926080"/>
            <a:ext cx="2651760" cy="182880"/>
          </a:xfrm>
          <a:prstGeom prst="rect">
            <a:avLst/>
          </a:prstGeom>
          <a:noFill/>
          <a:ln/>
        </p:spPr>
        <p:txBody>
          <a:bodyPr wrap="square" lIns="0" tIns="0" rIns="0" bIns="0"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Weight ×4.5</a:t>
            </a:r>
            <a:endParaRPr lang="en-US" sz="1000" dirty="0"/>
          </a:p>
        </p:txBody>
      </p:sp>
      <p:sp>
        <p:nvSpPr>
          <p:cNvPr id="27" name="Text 25"/>
          <p:cNvSpPr/>
          <p:nvPr/>
        </p:nvSpPr>
        <p:spPr>
          <a:xfrm>
            <a:off x="457200" y="3108960"/>
            <a:ext cx="2651760" cy="182880"/>
          </a:xfrm>
          <a:prstGeom prst="rect">
            <a:avLst/>
          </a:prstGeom>
          <a:noFill/>
          <a:ln/>
        </p:spPr>
        <p:txBody>
          <a:bodyPr wrap="square" lIns="0" tIns="0" rIns="0" bIns="0" rtlCol="0" anchor="ctr"/>
          <a:lstStyle/>
          <a:p>
            <a:pPr indent="0" marL="0">
              <a:buNone/>
            </a:pPr>
            <a:r>
              <a:rPr lang="en-US" sz="1000" dirty="0">
                <a:solidFill>
                  <a:srgbClr val="1A2E3B"/>
                </a:solidFill>
                <a:latin typeface="Calibri" pitchFamily="34" charset="0"/>
                <a:ea typeface="Calibri" pitchFamily="34" charset="-122"/>
                <a:cs typeface="Calibri" pitchFamily="34" charset="-120"/>
              </a:rPr>
              <a:t>Priority 3 (Very Priority)</a:t>
            </a:r>
            <a:endParaRPr lang="en-US" sz="1000" dirty="0"/>
          </a:p>
        </p:txBody>
      </p:sp>
      <p:sp>
        <p:nvSpPr>
          <p:cNvPr id="28" name="Text 26"/>
          <p:cNvSpPr/>
          <p:nvPr/>
        </p:nvSpPr>
        <p:spPr>
          <a:xfrm>
            <a:off x="3200400" y="3108960"/>
            <a:ext cx="2560320" cy="182880"/>
          </a:xfrm>
          <a:prstGeom prst="rect">
            <a:avLst/>
          </a:prstGeom>
          <a:noFill/>
          <a:ln/>
        </p:spPr>
        <p:txBody>
          <a:bodyPr wrap="square" lIns="0" tIns="0" rIns="0" bIns="0" rtlCol="0" anchor="ctr"/>
          <a:lstStyle/>
          <a:p>
            <a:pPr indent="0" marL="0">
              <a:buNone/>
            </a:pPr>
            <a:r>
              <a:rPr lang="en-US" sz="1000" b="1" dirty="0">
                <a:solidFill>
                  <a:srgbClr val="0D7377"/>
                </a:solidFill>
                <a:latin typeface="Calibri" pitchFamily="34" charset="0"/>
                <a:ea typeface="Calibri" pitchFamily="34" charset="-122"/>
                <a:cs typeface="Calibri" pitchFamily="34" charset="-120"/>
              </a:rPr>
              <a:t>15 days</a:t>
            </a:r>
            <a:endParaRPr lang="en-US" sz="1000" dirty="0"/>
          </a:p>
        </p:txBody>
      </p:sp>
      <p:sp>
        <p:nvSpPr>
          <p:cNvPr id="29" name="Text 27"/>
          <p:cNvSpPr/>
          <p:nvPr/>
        </p:nvSpPr>
        <p:spPr>
          <a:xfrm>
            <a:off x="6217920" y="3108960"/>
            <a:ext cx="2651760" cy="182880"/>
          </a:xfrm>
          <a:prstGeom prst="rect">
            <a:avLst/>
          </a:prstGeom>
          <a:noFill/>
          <a:ln/>
        </p:spPr>
        <p:txBody>
          <a:bodyPr wrap="square" lIns="0" tIns="0" rIns="0" bIns="0"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Weight ×18</a:t>
            </a:r>
            <a:endParaRPr lang="en-US" sz="1000" dirty="0"/>
          </a:p>
        </p:txBody>
      </p:sp>
      <p:sp>
        <p:nvSpPr>
          <p:cNvPr id="30" name="Text 28"/>
          <p:cNvSpPr/>
          <p:nvPr/>
        </p:nvSpPr>
        <p:spPr>
          <a:xfrm>
            <a:off x="457200" y="3291840"/>
            <a:ext cx="2651760" cy="182880"/>
          </a:xfrm>
          <a:prstGeom prst="rect">
            <a:avLst/>
          </a:prstGeom>
          <a:noFill/>
          <a:ln/>
        </p:spPr>
        <p:txBody>
          <a:bodyPr wrap="square" lIns="0" tIns="0" rIns="0" bIns="0" rtlCol="0" anchor="ctr"/>
          <a:lstStyle/>
          <a:p>
            <a:pPr indent="0" marL="0">
              <a:buNone/>
            </a:pPr>
            <a:r>
              <a:rPr lang="en-US" sz="1000" dirty="0">
                <a:solidFill>
                  <a:srgbClr val="1A2E3B"/>
                </a:solidFill>
                <a:latin typeface="Calibri" pitchFamily="34" charset="0"/>
                <a:ea typeface="Calibri" pitchFamily="34" charset="-122"/>
                <a:cs typeface="Calibri" pitchFamily="34" charset="-120"/>
              </a:rPr>
              <a:t>Priority 4 (Deferred Urgent)</a:t>
            </a:r>
            <a:endParaRPr lang="en-US" sz="1000" dirty="0"/>
          </a:p>
        </p:txBody>
      </p:sp>
      <p:sp>
        <p:nvSpPr>
          <p:cNvPr id="31" name="Text 29"/>
          <p:cNvSpPr/>
          <p:nvPr/>
        </p:nvSpPr>
        <p:spPr>
          <a:xfrm>
            <a:off x="3200400" y="3291840"/>
            <a:ext cx="2560320" cy="182880"/>
          </a:xfrm>
          <a:prstGeom prst="rect">
            <a:avLst/>
          </a:prstGeom>
          <a:noFill/>
          <a:ln/>
        </p:spPr>
        <p:txBody>
          <a:bodyPr wrap="square" lIns="0" tIns="0" rIns="0" bIns="0" rtlCol="0" anchor="ctr"/>
          <a:lstStyle/>
          <a:p>
            <a:pPr indent="0" marL="0">
              <a:buNone/>
            </a:pPr>
            <a:r>
              <a:rPr lang="en-US" sz="1000" b="1" dirty="0">
                <a:solidFill>
                  <a:srgbClr val="0D7377"/>
                </a:solidFill>
                <a:latin typeface="Calibri" pitchFamily="34" charset="0"/>
                <a:ea typeface="Calibri" pitchFamily="34" charset="-122"/>
                <a:cs typeface="Calibri" pitchFamily="34" charset="-120"/>
              </a:rPr>
              <a:t>3 days</a:t>
            </a:r>
            <a:endParaRPr lang="en-US" sz="1000" dirty="0"/>
          </a:p>
        </p:txBody>
      </p:sp>
      <p:sp>
        <p:nvSpPr>
          <p:cNvPr id="32" name="Text 30"/>
          <p:cNvSpPr/>
          <p:nvPr/>
        </p:nvSpPr>
        <p:spPr>
          <a:xfrm>
            <a:off x="6217920" y="3291840"/>
            <a:ext cx="2651760" cy="182880"/>
          </a:xfrm>
          <a:prstGeom prst="rect">
            <a:avLst/>
          </a:prstGeom>
          <a:noFill/>
          <a:ln/>
        </p:spPr>
        <p:txBody>
          <a:bodyPr wrap="square" lIns="0" tIns="0" rIns="0" bIns="0"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Weight ×90 — must schedule Monday</a:t>
            </a:r>
            <a:endParaRPr lang="en-US" sz="1000" dirty="0"/>
          </a:p>
        </p:txBody>
      </p:sp>
      <p:sp>
        <p:nvSpPr>
          <p:cNvPr id="33" name="Shape 31"/>
          <p:cNvSpPr/>
          <p:nvPr/>
        </p:nvSpPr>
        <p:spPr>
          <a:xfrm>
            <a:off x="274320" y="3493008"/>
            <a:ext cx="8595360" cy="1170432"/>
          </a:xfrm>
          <a:prstGeom prst="roundRect">
            <a:avLst>
              <a:gd name="adj" fmla="val 6250"/>
            </a:avLst>
          </a:prstGeom>
          <a:solidFill>
            <a:srgbClr val="E8F8F5"/>
          </a:solidFill>
          <a:ln/>
          <a:effectLst>
            <a:outerShdw sx="100000" sy="100000" kx="0" ky="0" algn="bl" rotWithShape="0" blurRad="63500" dist="25400" dir="2700000">
              <a:srgbClr val="000000">
                <a:alpha val="10000"/>
              </a:srgbClr>
            </a:outerShdw>
          </a:effectLst>
        </p:spPr>
      </p:sp>
      <p:sp>
        <p:nvSpPr>
          <p:cNvPr id="34" name="Text 32"/>
          <p:cNvSpPr/>
          <p:nvPr/>
        </p:nvSpPr>
        <p:spPr>
          <a:xfrm>
            <a:off x="457200" y="3566160"/>
            <a:ext cx="8229600" cy="1005840"/>
          </a:xfrm>
          <a:prstGeom prst="rect">
            <a:avLst/>
          </a:prstGeom>
          <a:noFill/>
          <a:ln/>
        </p:spPr>
        <p:txBody>
          <a:bodyPr wrap="square" rtlCol="0" anchor="ctr"/>
          <a:lstStyle/>
          <a:p>
            <a:pPr indent="0" marL="0">
              <a:buNone/>
            </a:pPr>
            <a:r>
              <a:rPr lang="en-US" sz="1100" b="1" dirty="0">
                <a:solidFill>
                  <a:srgbClr val="0A2E4A"/>
                </a:solidFill>
                <a:latin typeface="Calibri" pitchFamily="34" charset="0"/>
                <a:ea typeface="Calibri" pitchFamily="34" charset="-122"/>
                <a:cs typeface="Calibri" pitchFamily="34" charset="-120"/>
              </a:rPr>
              <a:t>Key insight: </a:t>
            </a:r>
            <a:pPr indent="0" marL="0">
              <a:buNone/>
            </a:pPr>
            <a:r>
              <a:rPr lang="en-US" sz="1100" dirty="0">
                <a:solidFill>
                  <a:srgbClr val="0A2E4A"/>
                </a:solidFill>
                <a:latin typeface="Calibri" pitchFamily="34" charset="0"/>
                <a:ea typeface="Calibri" pitchFamily="34" charset="-122"/>
                <a:cs typeface="Calibri" pitchFamily="34" charset="-120"/>
              </a:rPr>
              <a:t>16% of patients already past their legal deadline, with an average delay of 147 days. Neurosurgery cases average 261 overdue days. Without mathematical optimisation, the manual Friday planning session cannot consistently respect SIGIC rules across 7,374 patients.</a:t>
            </a:r>
            <a:endParaRPr lang="en-US" sz="1100" dirty="0"/>
          </a:p>
        </p:txBody>
      </p:sp>
      <p:sp>
        <p:nvSpPr>
          <p:cNvPr id="35" name="Shape 33"/>
          <p:cNvSpPr/>
          <p:nvPr/>
        </p:nvSpPr>
        <p:spPr>
          <a:xfrm>
            <a:off x="0" y="4800600"/>
            <a:ext cx="9144000" cy="342900"/>
          </a:xfrm>
          <a:prstGeom prst="rect">
            <a:avLst/>
          </a:prstGeom>
          <a:solidFill>
            <a:srgbClr val="0A2E4A"/>
          </a:solidFill>
          <a:ln w="12700">
            <a:solidFill>
              <a:srgbClr val="0A2E4A"/>
            </a:solidFill>
            <a:prstDash val="solid"/>
          </a:ln>
        </p:spPr>
      </p:sp>
      <p:sp>
        <p:nvSpPr>
          <p:cNvPr id="36" name="Text 34"/>
          <p:cNvSpPr/>
          <p:nvPr/>
        </p:nvSpPr>
        <p:spPr>
          <a:xfrm>
            <a:off x="182880" y="4818888"/>
            <a:ext cx="6400800" cy="27432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Elective Surgery Scheduling — MILP  ·  SNS/SIGIC Portugal  ·  github.com/</a:t>
            </a:r>
            <a:endParaRPr lang="en-US" sz="800" dirty="0"/>
          </a:p>
        </p:txBody>
      </p:sp>
      <p:sp>
        <p:nvSpPr>
          <p:cNvPr id="37" name="Text 35"/>
          <p:cNvSpPr/>
          <p:nvPr/>
        </p:nvSpPr>
        <p:spPr>
          <a:xfrm>
            <a:off x="7772400" y="4818888"/>
            <a:ext cx="1188720" cy="274320"/>
          </a:xfrm>
          <a:prstGeom prst="rect">
            <a:avLst/>
          </a:prstGeom>
          <a:noFill/>
          <a:ln/>
        </p:spPr>
        <p:txBody>
          <a:bodyPr wrap="square" lIns="0" tIns="0" rIns="0" bIns="0" rtlCol="0" anchor="ctr"/>
          <a:lstStyle/>
          <a:p>
            <a:pPr algn="r" indent="0" marL="0">
              <a:buNone/>
            </a:pPr>
            <a:r>
              <a:rPr lang="en-US" sz="800" dirty="0">
                <a:solidFill>
                  <a:srgbClr val="8FA3B1"/>
                </a:solidFill>
                <a:latin typeface="Calibri" pitchFamily="34" charset="0"/>
                <a:ea typeface="Calibri" pitchFamily="34" charset="-122"/>
                <a:cs typeface="Calibri" pitchFamily="34" charset="-120"/>
              </a:rPr>
              <a:t>3 / 20</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E4A"/>
          </a:solidFill>
          <a:ln w="12700">
            <a:solidFill>
              <a:srgbClr val="0A2E4A"/>
            </a:solidFill>
            <a:prstDash val="solid"/>
          </a:ln>
        </p:spPr>
      </p:sp>
      <p:sp>
        <p:nvSpPr>
          <p:cNvPr id="3" name="Shape 1"/>
          <p:cNvSpPr/>
          <p:nvPr/>
        </p:nvSpPr>
        <p:spPr>
          <a:xfrm>
            <a:off x="0" y="1005840"/>
            <a:ext cx="9144000" cy="54864"/>
          </a:xfrm>
          <a:prstGeom prst="rect">
            <a:avLst/>
          </a:prstGeom>
          <a:solidFill>
            <a:srgbClr val="0D7377"/>
          </a:solidFill>
          <a:ln w="12700">
            <a:solidFill>
              <a:srgbClr val="0D7377"/>
            </a:solidFill>
            <a:prstDash val="solid"/>
          </a:ln>
        </p:spPr>
      </p:sp>
      <p:sp>
        <p:nvSpPr>
          <p:cNvPr id="4" name="Shape 2"/>
          <p:cNvSpPr/>
          <p:nvPr/>
        </p:nvSpPr>
        <p:spPr>
          <a:xfrm>
            <a:off x="7772400" y="0"/>
            <a:ext cx="1371600" cy="1005840"/>
          </a:xfrm>
          <a:prstGeom prst="rect">
            <a:avLst/>
          </a:prstGeom>
          <a:solidFill>
            <a:srgbClr val="0D7377"/>
          </a:solidFill>
          <a:ln w="12700">
            <a:solidFill>
              <a:srgbClr val="0D7377"/>
            </a:solidFill>
            <a:prstDash val="solid"/>
          </a:ln>
        </p:spPr>
      </p:sp>
      <p:sp>
        <p:nvSpPr>
          <p:cNvPr id="5" name="Text 3"/>
          <p:cNvSpPr/>
          <p:nvPr/>
        </p:nvSpPr>
        <p:spPr>
          <a:xfrm>
            <a:off x="320040" y="73152"/>
            <a:ext cx="685800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Sets and Parameters</a:t>
            </a:r>
            <a:endParaRPr lang="en-US" sz="2000" dirty="0"/>
          </a:p>
        </p:txBody>
      </p:sp>
      <p:sp>
        <p:nvSpPr>
          <p:cNvPr id="6" name="Text 4"/>
          <p:cNvSpPr/>
          <p:nvPr/>
        </p:nvSpPr>
        <p:spPr>
          <a:xfrm>
            <a:off x="320040" y="566928"/>
            <a:ext cx="8229600" cy="347472"/>
          </a:xfrm>
          <a:prstGeom prst="rect">
            <a:avLst/>
          </a:prstGeom>
          <a:noFill/>
          <a:ln/>
        </p:spPr>
        <p:txBody>
          <a:bodyPr wrap="square" lIns="0" tIns="0" rIns="0" bIns="0" rtlCol="0" anchor="ctr"/>
          <a:lstStyle/>
          <a:p>
            <a:pPr indent="0" marL="0">
              <a:buNone/>
            </a:pPr>
            <a:r>
              <a:rPr lang="en-US" sz="1150" i="1" dirty="0">
                <a:solidFill>
                  <a:srgbClr val="9EEADF"/>
                </a:solidFill>
                <a:latin typeface="Calibri" pitchFamily="34" charset="0"/>
                <a:ea typeface="Calibri" pitchFamily="34" charset="-122"/>
                <a:cs typeface="Calibri" pitchFamily="34" charset="-120"/>
              </a:rPr>
              <a:t>Formal notation — mirrored exactly in src/model/types.py</a:t>
            </a:r>
            <a:endParaRPr lang="en-US" sz="11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74320" y="1115568"/>
          <a:ext cx="4114800" cy="914400"/>
        </p:xfrm>
        <a:graphic>
          <a:graphicData uri="http://schemas.openxmlformats.org/drawingml/2006/table">
            <a:tbl>
              <a:tblPr/>
              <a:tblGrid>
                <a:gridCol w="1554480"/>
                <a:gridCol w="2514600"/>
              </a:tblGrid>
              <a:tr h="29260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Set / Index</a:t>
                      </a:r>
                      <a:endParaRPr lang="en-US" sz="10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0A2E4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Description</a:t>
                      </a:r>
                      <a:endParaRPr lang="en-US" sz="10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0A2E4A"/>
                    </a:solidFill>
                  </a:tcPr>
                </a:tc>
              </a:tr>
              <a:tr h="292608">
                <a:tc>
                  <a:txBody>
                    <a:bodyPr/>
                    <a:lstStyle/>
                    <a:p>
                      <a:pPr indent="0" marL="0">
                        <a:buNone/>
                      </a:pPr>
                      <a:r>
                        <a:rPr lang="en-US" sz="1000" dirty="0">
                          <a:solidFill>
                            <a:srgbClr val="1A2E3B"/>
                          </a:solidFill>
                          <a:latin typeface="Calibri" pitchFamily="34" charset="0"/>
                          <a:ea typeface="Calibri" pitchFamily="34" charset="-122"/>
                          <a:cs typeface="Calibri" pitchFamily="34" charset="-120"/>
                        </a:rPr>
                        <a:t>c ∈ C</a:t>
                      </a:r>
                      <a:endParaRPr lang="en-US" sz="10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00" dirty="0">
                          <a:solidFill>
                            <a:srgbClr val="1A2E3B"/>
                          </a:solidFill>
                          <a:latin typeface="Calibri" pitchFamily="34" charset="0"/>
                          <a:ea typeface="Calibri" pitchFamily="34" charset="-122"/>
                          <a:cs typeface="Calibri" pitchFamily="34" charset="-120"/>
                        </a:rPr>
                        <a:t>Surgical cases (patient–procedure pairs in LIC)</a:t>
                      </a:r>
                      <a:endParaRPr lang="en-US" sz="10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r>
              <a:tr h="292608">
                <a:tc>
                  <a:txBody>
                    <a:bodyPr/>
                    <a:lstStyle/>
                    <a:p>
                      <a:pPr indent="0" marL="0">
                        <a:buNone/>
                      </a:pPr>
                      <a:r>
                        <a:rPr lang="en-US" sz="1000" dirty="0">
                          <a:solidFill>
                            <a:srgbClr val="1A2E3B"/>
                          </a:solidFill>
                          <a:latin typeface="Calibri" pitchFamily="34" charset="0"/>
                          <a:ea typeface="Calibri" pitchFamily="34" charset="-122"/>
                          <a:cs typeface="Calibri" pitchFamily="34" charset="-120"/>
                        </a:rPr>
                        <a:t>d ∈ D</a:t>
                      </a:r>
                      <a:endParaRPr lang="en-US" sz="10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00" dirty="0">
                          <a:solidFill>
                            <a:srgbClr val="1A2E3B"/>
                          </a:solidFill>
                          <a:latin typeface="Calibri" pitchFamily="34" charset="0"/>
                          <a:ea typeface="Calibri" pitchFamily="34" charset="-122"/>
                          <a:cs typeface="Calibri" pitchFamily="34" charset="-120"/>
                        </a:rPr>
                        <a:t>Days Mon–Fri  (d₁=Mon, d_u=Fri)</a:t>
                      </a:r>
                      <a:endParaRPr lang="en-US" sz="10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r>
              <a:tr h="292608">
                <a:tc>
                  <a:txBody>
                    <a:bodyPr/>
                    <a:lstStyle/>
                    <a:p>
                      <a:pPr indent="0" marL="0">
                        <a:buNone/>
                      </a:pPr>
                      <a:r>
                        <a:rPr lang="en-US" sz="1000" dirty="0">
                          <a:solidFill>
                            <a:srgbClr val="1A2E3B"/>
                          </a:solidFill>
                          <a:latin typeface="Calibri" pitchFamily="34" charset="0"/>
                          <a:ea typeface="Calibri" pitchFamily="34" charset="-122"/>
                          <a:cs typeface="Calibri" pitchFamily="34" charset="-120"/>
                        </a:rPr>
                        <a:t>b ∈ B  /  r ∈ R_b</a:t>
                      </a:r>
                      <a:endParaRPr lang="en-US" sz="10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00" dirty="0">
                          <a:solidFill>
                            <a:srgbClr val="1A2E3B"/>
                          </a:solidFill>
                          <a:latin typeface="Calibri" pitchFamily="34" charset="0"/>
                          <a:ea typeface="Calibri" pitchFamily="34" charset="-122"/>
                          <a:cs typeface="Calibri" pitchFamily="34" charset="-120"/>
                        </a:rPr>
                        <a:t>OR blocks / rooms within block b</a:t>
                      </a:r>
                      <a:endParaRPr lang="en-US" sz="10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r>
              <a:tr h="292608">
                <a:tc>
                  <a:txBody>
                    <a:bodyPr/>
                    <a:lstStyle/>
                    <a:p>
                      <a:pPr indent="0" marL="0">
                        <a:buNone/>
                      </a:pPr>
                      <a:r>
                        <a:rPr lang="en-US" sz="1000" dirty="0">
                          <a:solidFill>
                            <a:srgbClr val="1A2E3B"/>
                          </a:solidFill>
                          <a:latin typeface="Calibri" pitchFamily="34" charset="0"/>
                          <a:ea typeface="Calibri" pitchFamily="34" charset="-122"/>
                          <a:cs typeface="Calibri" pitchFamily="34" charset="-120"/>
                        </a:rPr>
                        <a:t>s ∈ S</a:t>
                      </a:r>
                      <a:endParaRPr lang="en-US" sz="10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00" dirty="0">
                          <a:solidFill>
                            <a:srgbClr val="1A2E3B"/>
                          </a:solidFill>
                          <a:latin typeface="Calibri" pitchFamily="34" charset="0"/>
                          <a:ea typeface="Calibri" pitchFamily="34" charset="-122"/>
                          <a:cs typeface="Calibri" pitchFamily="34" charset="-120"/>
                        </a:rPr>
                        <a:t>Surgical services (ORL, ORT, CVA, …)</a:t>
                      </a:r>
                      <a:endParaRPr lang="en-US" sz="10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r>
              <a:tr h="292608">
                <a:tc>
                  <a:txBody>
                    <a:bodyPr/>
                    <a:lstStyle/>
                    <a:p>
                      <a:pPr indent="0" marL="0">
                        <a:buNone/>
                      </a:pPr>
                      <a:r>
                        <a:rPr lang="en-US" sz="1000" dirty="0">
                          <a:solidFill>
                            <a:srgbClr val="1A2E3B"/>
                          </a:solidFill>
                          <a:latin typeface="Calibri" pitchFamily="34" charset="0"/>
                          <a:ea typeface="Calibri" pitchFamily="34" charset="-122"/>
                          <a:cs typeface="Calibri" pitchFamily="34" charset="-120"/>
                        </a:rPr>
                        <a:t>n ∈ N  /  h ∈ H</a:t>
                      </a:r>
                      <a:endParaRPr lang="en-US" sz="10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00" dirty="0">
                          <a:solidFill>
                            <a:srgbClr val="1A2E3B"/>
                          </a:solidFill>
                          <a:latin typeface="Calibri" pitchFamily="34" charset="0"/>
                          <a:ea typeface="Calibri" pitchFamily="34" charset="-122"/>
                          <a:cs typeface="Calibri" pitchFamily="34" charset="-120"/>
                        </a:rPr>
                        <a:t>Patients / Surgeons</a:t>
                      </a:r>
                      <a:endParaRPr lang="en-US" sz="10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r>
              <a:tr h="292608">
                <a:tc>
                  <a:txBody>
                    <a:bodyPr/>
                    <a:lstStyle/>
                    <a:p>
                      <a:pPr indent="0" marL="0">
                        <a:buNone/>
                      </a:pPr>
                      <a:r>
                        <a:rPr lang="en-US" sz="1000" dirty="0">
                          <a:solidFill>
                            <a:srgbClr val="1A2E3B"/>
                          </a:solidFill>
                          <a:latin typeface="Calibri" pitchFamily="34" charset="0"/>
                          <a:ea typeface="Calibri" pitchFamily="34" charset="-122"/>
                          <a:cs typeface="Calibri" pitchFamily="34" charset="-120"/>
                        </a:rPr>
                        <a:t>D_c</a:t>
                      </a:r>
                      <a:endParaRPr lang="en-US" sz="10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00" dirty="0">
                          <a:solidFill>
                            <a:srgbClr val="1A2E3B"/>
                          </a:solidFill>
                          <a:latin typeface="Calibri" pitchFamily="34" charset="0"/>
                          <a:ea typeface="Calibri" pitchFamily="34" charset="-122"/>
                          <a:cs typeface="Calibri" pitchFamily="34" charset="-120"/>
                        </a:rPr>
                        <a:t>{d₁} if p_c=4, else D (valid scheduling days for c)</a:t>
                      </a:r>
                      <a:endParaRPr lang="en-US" sz="10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r>
            </a:tbl>
          </a:graphicData>
        </a:graphic>
      </p:graphicFrame>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4663440" y="1115568"/>
          <a:ext cx="4206240" cy="914400"/>
        </p:xfrm>
        <a:graphic>
          <a:graphicData uri="http://schemas.openxmlformats.org/drawingml/2006/table">
            <a:tbl>
              <a:tblPr/>
              <a:tblGrid>
                <a:gridCol w="1737360"/>
                <a:gridCol w="2423160"/>
              </a:tblGrid>
              <a:tr h="29260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Parameter</a:t>
                      </a:r>
                      <a:endParaRPr lang="en-US" sz="10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0A2E4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Description</a:t>
                      </a:r>
                      <a:endParaRPr lang="en-US" sz="10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0A2E4A"/>
                    </a:solidFill>
                  </a:tcPr>
                </a:tc>
              </a:tr>
              <a:tr h="292608">
                <a:tc>
                  <a:txBody>
                    <a:bodyPr/>
                    <a:lstStyle/>
                    <a:p>
                      <a:pPr indent="0" marL="0">
                        <a:buNone/>
                      </a:pPr>
                      <a:r>
                        <a:rPr lang="en-US" sz="1000" dirty="0">
                          <a:solidFill>
                            <a:srgbClr val="1A2E3B"/>
                          </a:solidFill>
                          <a:latin typeface="Calibri" pitchFamily="34" charset="0"/>
                          <a:ea typeface="Calibri" pitchFamily="34" charset="-122"/>
                          <a:cs typeface="Calibri" pitchFamily="34" charset="-120"/>
                        </a:rPr>
                        <a:t>t_c^cir / t_c^lim</a:t>
                      </a:r>
                      <a:endParaRPr lang="en-US" sz="10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00" dirty="0">
                          <a:solidFill>
                            <a:srgbClr val="1A2E3B"/>
                          </a:solidFill>
                          <a:latin typeface="Calibri" pitchFamily="34" charset="0"/>
                          <a:ea typeface="Calibri" pitchFamily="34" charset="-122"/>
                          <a:cs typeface="Calibri" pitchFamily="34" charset="-120"/>
                        </a:rPr>
                        <a:t>Operative / cleaning time (min)</a:t>
                      </a:r>
                      <a:endParaRPr lang="en-US" sz="10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r>
              <a:tr h="292608">
                <a:tc>
                  <a:txBody>
                    <a:bodyPr/>
                    <a:lstStyle/>
                    <a:p>
                      <a:pPr indent="0" marL="0">
                        <a:buNone/>
                      </a:pPr>
                      <a:r>
                        <a:rPr lang="en-US" sz="1000" dirty="0">
                          <a:solidFill>
                            <a:srgbClr val="1A2E3B"/>
                          </a:solidFill>
                          <a:latin typeface="Calibri" pitchFamily="34" charset="0"/>
                          <a:ea typeface="Calibri" pitchFamily="34" charset="-122"/>
                          <a:cs typeface="Calibri" pitchFamily="34" charset="-120"/>
                        </a:rPr>
                        <a:t>t_c^tot = t_c^cir + t_c^lim</a:t>
                      </a:r>
                      <a:endParaRPr lang="en-US" sz="10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00" dirty="0">
                          <a:solidFill>
                            <a:srgbClr val="1A2E3B"/>
                          </a:solidFill>
                          <a:latin typeface="Calibri" pitchFamily="34" charset="0"/>
                          <a:ea typeface="Calibri" pitchFamily="34" charset="-122"/>
                          <a:cs typeface="Calibri" pitchFamily="34" charset="-120"/>
                        </a:rPr>
                        <a:t>Total room occupation</a:t>
                      </a:r>
                      <a:endParaRPr lang="en-US" sz="10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r>
              <a:tr h="292608">
                <a:tc>
                  <a:txBody>
                    <a:bodyPr/>
                    <a:lstStyle/>
                    <a:p>
                      <a:pPr indent="0" marL="0">
                        <a:buNone/>
                      </a:pPr>
                      <a:r>
                        <a:rPr lang="en-US" sz="1000" dirty="0">
                          <a:solidFill>
                            <a:srgbClr val="1A2E3B"/>
                          </a:solidFill>
                          <a:latin typeface="Calibri" pitchFamily="34" charset="0"/>
                          <a:ea typeface="Calibri" pitchFamily="34" charset="-122"/>
                          <a:cs typeface="Calibri" pitchFamily="34" charset="-120"/>
                        </a:rPr>
                        <a:t>k_{dbr}</a:t>
                      </a:r>
                      <a:endParaRPr lang="en-US" sz="10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00" dirty="0">
                          <a:solidFill>
                            <a:srgbClr val="1A2E3B"/>
                          </a:solidFill>
                          <a:latin typeface="Calibri" pitchFamily="34" charset="0"/>
                          <a:ea typeface="Calibri" pitchFamily="34" charset="-122"/>
                          <a:cs typeface="Calibri" pitchFamily="34" charset="-120"/>
                        </a:rPr>
                        <a:t>Room capacity on day d (min opening)</a:t>
                      </a:r>
                      <a:endParaRPr lang="en-US" sz="10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r>
              <a:tr h="292608">
                <a:tc>
                  <a:txBody>
                    <a:bodyPr/>
                    <a:lstStyle/>
                    <a:p>
                      <a:pPr indent="0" marL="0">
                        <a:buNone/>
                      </a:pPr>
                      <a:r>
                        <a:rPr lang="en-US" sz="1000" dirty="0">
                          <a:solidFill>
                            <a:srgbClr val="1A2E3B"/>
                          </a:solidFill>
                          <a:latin typeface="Calibri" pitchFamily="34" charset="0"/>
                          <a:ea typeface="Calibri" pitchFamily="34" charset="-122"/>
                          <a:cs typeface="Calibri" pitchFamily="34" charset="-120"/>
                        </a:rPr>
                        <a:t>k_{hd}^dia / k_h^sem</a:t>
                      </a:r>
                      <a:endParaRPr lang="en-US" sz="10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00" dirty="0">
                          <a:solidFill>
                            <a:srgbClr val="1A2E3B"/>
                          </a:solidFill>
                          <a:latin typeface="Calibri" pitchFamily="34" charset="0"/>
                          <a:ea typeface="Calibri" pitchFamily="34" charset="-122"/>
                          <a:cs typeface="Calibri" pitchFamily="34" charset="-120"/>
                        </a:rPr>
                        <a:t>Surgeon daily / weekly limit (min)</a:t>
                      </a:r>
                      <a:endParaRPr lang="en-US" sz="10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r>
              <a:tr h="292608">
                <a:tc>
                  <a:txBody>
                    <a:bodyPr/>
                    <a:lstStyle/>
                    <a:p>
                      <a:pPr indent="0" marL="0">
                        <a:buNone/>
                      </a:pPr>
                      <a:r>
                        <a:rPr lang="en-US" sz="1000" dirty="0">
                          <a:solidFill>
                            <a:srgbClr val="1A2E3B"/>
                          </a:solidFill>
                          <a:latin typeface="Calibri" pitchFamily="34" charset="0"/>
                          <a:ea typeface="Calibri" pitchFamily="34" charset="-122"/>
                          <a:cs typeface="Calibri" pitchFamily="34" charset="-120"/>
                        </a:rPr>
                        <a:t>a_{dbr}^s ∈ {0,1}</a:t>
                      </a:r>
                      <a:endParaRPr lang="en-US" sz="10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00" dirty="0">
                          <a:solidFill>
                            <a:srgbClr val="1A2E3B"/>
                          </a:solidFill>
                          <a:latin typeface="Calibri" pitchFamily="34" charset="0"/>
                          <a:ea typeface="Calibri" pitchFamily="34" charset="-122"/>
                          <a:cs typeface="Calibri" pitchFamily="34" charset="-120"/>
                        </a:rPr>
                        <a:t>1 if room r,b,d assigned to service s (MSS)</a:t>
                      </a:r>
                      <a:endParaRPr lang="en-US" sz="10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r>
              <a:tr h="292608">
                <a:tc>
                  <a:txBody>
                    <a:bodyPr/>
                    <a:lstStyle/>
                    <a:p>
                      <a:pPr indent="0" marL="0">
                        <a:buNone/>
                      </a:pPr>
                      <a:r>
                        <a:rPr lang="en-US" sz="1000" dirty="0">
                          <a:solidFill>
                            <a:srgbClr val="1A2E3B"/>
                          </a:solidFill>
                          <a:latin typeface="Calibri" pitchFamily="34" charset="0"/>
                          <a:ea typeface="Calibri" pitchFamily="34" charset="-122"/>
                          <a:cs typeface="Calibri" pitchFamily="34" charset="-120"/>
                        </a:rPr>
                        <a:t>dd_c = wl_c^dia + wl_c^max − d₁</a:t>
                      </a:r>
                      <a:endParaRPr lang="en-US" sz="10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00" dirty="0">
                          <a:solidFill>
                            <a:srgbClr val="1A2E3B"/>
                          </a:solidFill>
                          <a:latin typeface="Calibri" pitchFamily="34" charset="0"/>
                          <a:ea typeface="Calibri" pitchFamily="34" charset="-122"/>
                          <a:cs typeface="Calibri" pitchFamily="34" charset="-120"/>
                        </a:rPr>
                        <a:t>Days to deadline (&lt;0 = overdue)</a:t>
                      </a:r>
                      <a:endParaRPr lang="en-US" sz="10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r>
              <a:tr h="292608">
                <a:tc>
                  <a:txBody>
                    <a:bodyPr/>
                    <a:lstStyle/>
                    <a:p>
                      <a:pPr indent="0" marL="0">
                        <a:buNone/>
                      </a:pPr>
                      <a:r>
                        <a:rPr lang="en-US" sz="1000" dirty="0">
                          <a:solidFill>
                            <a:srgbClr val="1A2E3B"/>
                          </a:solidFill>
                          <a:latin typeface="Calibri" pitchFamily="34" charset="0"/>
                          <a:ea typeface="Calibri" pitchFamily="34" charset="-122"/>
                          <a:cs typeface="Calibri" pitchFamily="34" charset="-120"/>
                        </a:rPr>
                        <a:t>w_c</a:t>
                      </a:r>
                      <a:endParaRPr lang="en-US" sz="10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00" dirty="0">
                          <a:solidFill>
                            <a:srgbClr val="1A2E3B"/>
                          </a:solidFill>
                          <a:latin typeface="Calibri" pitchFamily="34" charset="0"/>
                          <a:ea typeface="Calibri" pitchFamily="34" charset="-122"/>
                          <a:cs typeface="Calibri" pitchFamily="34" charset="-120"/>
                        </a:rPr>
                        <a:t>Non-scheduling penalty (§Objective)</a:t>
                      </a:r>
                      <a:endParaRPr lang="en-US" sz="10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r>
              <a:tr h="292608">
                <a:tc>
                  <a:txBody>
                    <a:bodyPr/>
                    <a:lstStyle/>
                    <a:p>
                      <a:pPr indent="0" marL="0">
                        <a:buNone/>
                      </a:pPr>
                      <a:r>
                        <a:rPr lang="en-US" sz="1000" dirty="0">
                          <a:solidFill>
                            <a:srgbClr val="1A2E3B"/>
                          </a:solidFill>
                          <a:latin typeface="Calibri" pitchFamily="34" charset="0"/>
                          <a:ea typeface="Calibri" pitchFamily="34" charset="-122"/>
                          <a:cs typeface="Calibri" pitchFamily="34" charset="-120"/>
                        </a:rPr>
                        <a:t>α &gt; 1</a:t>
                      </a:r>
                      <a:endParaRPr lang="en-US" sz="10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00" dirty="0">
                          <a:solidFill>
                            <a:srgbClr val="1A2E3B"/>
                          </a:solidFill>
                          <a:latin typeface="Calibri" pitchFamily="34" charset="0"/>
                          <a:ea typeface="Calibri" pitchFamily="34" charset="-122"/>
                          <a:cs typeface="Calibri" pitchFamily="34" charset="-120"/>
                        </a:rPr>
                        <a:t>Urgency multiplier for overdue cases (default 2.0)</a:t>
                      </a:r>
                      <a:endParaRPr lang="en-US" sz="10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r>
            </a:tbl>
          </a:graphicData>
        </a:graphic>
      </p:graphicFrame>
      <p:sp>
        <p:nvSpPr>
          <p:cNvPr id="9" name="Shape 5"/>
          <p:cNvSpPr/>
          <p:nvPr/>
        </p:nvSpPr>
        <p:spPr>
          <a:xfrm>
            <a:off x="274320" y="4407408"/>
            <a:ext cx="8595360" cy="292608"/>
          </a:xfrm>
          <a:prstGeom prst="roundRect">
            <a:avLst>
              <a:gd name="adj" fmla="val 18750"/>
            </a:avLst>
          </a:prstGeom>
          <a:solidFill>
            <a:srgbClr val="9EEADF"/>
          </a:solidFill>
          <a:ln w="6350">
            <a:solidFill>
              <a:srgbClr val="0D7377"/>
            </a:solidFill>
            <a:prstDash val="solid"/>
          </a:ln>
        </p:spPr>
      </p:sp>
      <p:sp>
        <p:nvSpPr>
          <p:cNvPr id="10" name="Text 6"/>
          <p:cNvSpPr/>
          <p:nvPr/>
        </p:nvSpPr>
        <p:spPr>
          <a:xfrm>
            <a:off x="365760" y="4425696"/>
            <a:ext cx="8412480" cy="256032"/>
          </a:xfrm>
          <a:prstGeom prst="rect">
            <a:avLst/>
          </a:prstGeom>
          <a:noFill/>
          <a:ln/>
        </p:spPr>
        <p:txBody>
          <a:bodyPr wrap="square" lIns="0" tIns="0" rIns="0" bIns="0" rtlCol="0" anchor="ctr"/>
          <a:lstStyle/>
          <a:p>
            <a:pPr algn="ctr" indent="0" marL="0">
              <a:buNone/>
            </a:pPr>
            <a:r>
              <a:rPr lang="en-US" sz="1100" b="1" dirty="0">
                <a:solidFill>
                  <a:srgbClr val="0A2E4A"/>
                </a:solidFill>
                <a:latin typeface="Calibri" pitchFamily="34" charset="0"/>
                <a:ea typeface="Calibri" pitchFamily="34" charset="-122"/>
                <a:cs typeface="Calibri" pitchFamily="34" charset="-120"/>
              </a:rPr>
              <a:t>dd_c ≥ 0: time remaining  ·  dd_c &lt; 0: overdue by |dd_c| days  ·  Priority 4: wl_c^max = 3 days → always near-zero</a:t>
            </a:r>
            <a:endParaRPr lang="en-US" sz="1100" dirty="0"/>
          </a:p>
        </p:txBody>
      </p:sp>
      <p:sp>
        <p:nvSpPr>
          <p:cNvPr id="11" name="Shape 7"/>
          <p:cNvSpPr/>
          <p:nvPr/>
        </p:nvSpPr>
        <p:spPr>
          <a:xfrm>
            <a:off x="0" y="4800600"/>
            <a:ext cx="9144000" cy="342900"/>
          </a:xfrm>
          <a:prstGeom prst="rect">
            <a:avLst/>
          </a:prstGeom>
          <a:solidFill>
            <a:srgbClr val="0A2E4A"/>
          </a:solidFill>
          <a:ln w="12700">
            <a:solidFill>
              <a:srgbClr val="0A2E4A"/>
            </a:solidFill>
            <a:prstDash val="solid"/>
          </a:ln>
        </p:spPr>
      </p:sp>
      <p:sp>
        <p:nvSpPr>
          <p:cNvPr id="12" name="Text 8"/>
          <p:cNvSpPr/>
          <p:nvPr/>
        </p:nvSpPr>
        <p:spPr>
          <a:xfrm>
            <a:off x="182880" y="4818888"/>
            <a:ext cx="6400800" cy="27432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Elective Surgery Scheduling — MILP  ·  SNS/SIGIC Portugal  ·  github.com/</a:t>
            </a:r>
            <a:endParaRPr lang="en-US" sz="800" dirty="0"/>
          </a:p>
        </p:txBody>
      </p:sp>
      <p:sp>
        <p:nvSpPr>
          <p:cNvPr id="13" name="Text 9"/>
          <p:cNvSpPr/>
          <p:nvPr/>
        </p:nvSpPr>
        <p:spPr>
          <a:xfrm>
            <a:off x="7772400" y="4818888"/>
            <a:ext cx="1188720" cy="274320"/>
          </a:xfrm>
          <a:prstGeom prst="rect">
            <a:avLst/>
          </a:prstGeom>
          <a:noFill/>
          <a:ln/>
        </p:spPr>
        <p:txBody>
          <a:bodyPr wrap="square" lIns="0" tIns="0" rIns="0" bIns="0" rtlCol="0" anchor="ctr"/>
          <a:lstStyle/>
          <a:p>
            <a:pPr algn="r" indent="0" marL="0">
              <a:buNone/>
            </a:pPr>
            <a:r>
              <a:rPr lang="en-US" sz="800" dirty="0">
                <a:solidFill>
                  <a:srgbClr val="8FA3B1"/>
                </a:solidFill>
                <a:latin typeface="Calibri" pitchFamily="34" charset="0"/>
                <a:ea typeface="Calibri" pitchFamily="34" charset="-122"/>
                <a:cs typeface="Calibri" pitchFamily="34" charset="-120"/>
              </a:rPr>
              <a:t>4 / 20</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E4A"/>
          </a:solidFill>
          <a:ln w="12700">
            <a:solidFill>
              <a:srgbClr val="0A2E4A"/>
            </a:solidFill>
            <a:prstDash val="solid"/>
          </a:ln>
        </p:spPr>
      </p:sp>
      <p:sp>
        <p:nvSpPr>
          <p:cNvPr id="3" name="Shape 1"/>
          <p:cNvSpPr/>
          <p:nvPr/>
        </p:nvSpPr>
        <p:spPr>
          <a:xfrm>
            <a:off x="0" y="1005840"/>
            <a:ext cx="9144000" cy="54864"/>
          </a:xfrm>
          <a:prstGeom prst="rect">
            <a:avLst/>
          </a:prstGeom>
          <a:solidFill>
            <a:srgbClr val="0D7377"/>
          </a:solidFill>
          <a:ln w="12700">
            <a:solidFill>
              <a:srgbClr val="0D7377"/>
            </a:solidFill>
            <a:prstDash val="solid"/>
          </a:ln>
        </p:spPr>
      </p:sp>
      <p:sp>
        <p:nvSpPr>
          <p:cNvPr id="4" name="Shape 2"/>
          <p:cNvSpPr/>
          <p:nvPr/>
        </p:nvSpPr>
        <p:spPr>
          <a:xfrm>
            <a:off x="7772400" y="0"/>
            <a:ext cx="1371600" cy="1005840"/>
          </a:xfrm>
          <a:prstGeom prst="rect">
            <a:avLst/>
          </a:prstGeom>
          <a:solidFill>
            <a:srgbClr val="0D7377"/>
          </a:solidFill>
          <a:ln w="12700">
            <a:solidFill>
              <a:srgbClr val="0D7377"/>
            </a:solidFill>
            <a:prstDash val="solid"/>
          </a:ln>
        </p:spPr>
      </p:sp>
      <p:sp>
        <p:nvSpPr>
          <p:cNvPr id="5" name="Text 3"/>
          <p:cNvSpPr/>
          <p:nvPr/>
        </p:nvSpPr>
        <p:spPr>
          <a:xfrm>
            <a:off x="320040" y="73152"/>
            <a:ext cx="685800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Decision Variables</a:t>
            </a:r>
            <a:endParaRPr lang="en-US" sz="2000" dirty="0"/>
          </a:p>
        </p:txBody>
      </p:sp>
      <p:sp>
        <p:nvSpPr>
          <p:cNvPr id="6" name="Text 4"/>
          <p:cNvSpPr/>
          <p:nvPr/>
        </p:nvSpPr>
        <p:spPr>
          <a:xfrm>
            <a:off x="320040" y="566928"/>
            <a:ext cx="8229600" cy="347472"/>
          </a:xfrm>
          <a:prstGeom prst="rect">
            <a:avLst/>
          </a:prstGeom>
          <a:noFill/>
          <a:ln/>
        </p:spPr>
        <p:txBody>
          <a:bodyPr wrap="square" lIns="0" tIns="0" rIns="0" bIns="0" rtlCol="0" anchor="ctr"/>
          <a:lstStyle/>
          <a:p>
            <a:pPr indent="0" marL="0">
              <a:buNone/>
            </a:pPr>
            <a:r>
              <a:rPr lang="en-US" sz="1150" i="1" dirty="0">
                <a:solidFill>
                  <a:srgbClr val="9EEADF"/>
                </a:solidFill>
                <a:latin typeface="Calibri" pitchFamily="34" charset="0"/>
                <a:ea typeface="Calibri" pitchFamily="34" charset="-122"/>
                <a:cs typeface="Calibri" pitchFamily="34" charset="-120"/>
              </a:rPr>
              <a:t>Binary assignment + auxiliary non-scheduling variable</a:t>
            </a:r>
            <a:endParaRPr lang="en-US" sz="1150" dirty="0"/>
          </a:p>
        </p:txBody>
      </p:sp>
      <p:sp>
        <p:nvSpPr>
          <p:cNvPr id="7" name="Shape 5"/>
          <p:cNvSpPr/>
          <p:nvPr/>
        </p:nvSpPr>
        <p:spPr>
          <a:xfrm>
            <a:off x="274320" y="1115568"/>
            <a:ext cx="4114800" cy="2468880"/>
          </a:xfrm>
          <a:prstGeom prst="roundRect">
            <a:avLst>
              <a:gd name="adj" fmla="val 2963"/>
            </a:avLst>
          </a:prstGeom>
          <a:solidFill>
            <a:srgbClr val="FFFFFF"/>
          </a:solidFill>
          <a:ln/>
          <a:effectLst>
            <a:outerShdw sx="100000" sy="100000" kx="0" ky="0" algn="bl" rotWithShape="0" blurRad="63500" dist="25400" dir="2700000">
              <a:srgbClr val="000000">
                <a:alpha val="10000"/>
              </a:srgbClr>
            </a:outerShdw>
          </a:effectLst>
        </p:spPr>
      </p:sp>
      <p:sp>
        <p:nvSpPr>
          <p:cNvPr id="8" name="Shape 6"/>
          <p:cNvSpPr/>
          <p:nvPr/>
        </p:nvSpPr>
        <p:spPr>
          <a:xfrm>
            <a:off x="502920" y="1261872"/>
            <a:ext cx="384048" cy="384048"/>
          </a:xfrm>
          <a:prstGeom prst="ellipse">
            <a:avLst/>
          </a:prstGeom>
          <a:solidFill>
            <a:srgbClr val="0D7377"/>
          </a:solidFill>
          <a:ln w="12700">
            <a:solidFill>
              <a:srgbClr val="0D7377"/>
            </a:solidFill>
            <a:prstDash val="solid"/>
          </a:ln>
        </p:spPr>
      </p:sp>
      <p:sp>
        <p:nvSpPr>
          <p:cNvPr id="9" name="Text 7"/>
          <p:cNvSpPr/>
          <p:nvPr/>
        </p:nvSpPr>
        <p:spPr>
          <a:xfrm>
            <a:off x="502920" y="12618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x</a:t>
            </a:r>
            <a:endParaRPr lang="en-US" sz="1600" dirty="0"/>
          </a:p>
        </p:txBody>
      </p:sp>
      <p:sp>
        <p:nvSpPr>
          <p:cNvPr id="10" name="Text 8"/>
          <p:cNvSpPr/>
          <p:nvPr/>
        </p:nvSpPr>
        <p:spPr>
          <a:xfrm>
            <a:off x="1005840" y="1298448"/>
            <a:ext cx="3200400" cy="292608"/>
          </a:xfrm>
          <a:prstGeom prst="rect">
            <a:avLst/>
          </a:prstGeom>
          <a:noFill/>
          <a:ln/>
        </p:spPr>
        <p:txBody>
          <a:bodyPr wrap="square" lIns="0" tIns="0" rIns="0" bIns="0" rtlCol="0" anchor="ctr"/>
          <a:lstStyle/>
          <a:p>
            <a:pPr indent="0" marL="0">
              <a:buNone/>
            </a:pPr>
            <a:r>
              <a:rPr lang="en-US" sz="1400" b="1" dirty="0">
                <a:solidFill>
                  <a:srgbClr val="0A2E4A"/>
                </a:solidFill>
                <a:latin typeface="Calibri" pitchFamily="34" charset="0"/>
                <a:ea typeface="Calibri" pitchFamily="34" charset="-122"/>
                <a:cs typeface="Calibri" pitchFamily="34" charset="-120"/>
              </a:rPr>
              <a:t>x_{cdbr}  ∈  {0, 1}</a:t>
            </a:r>
            <a:endParaRPr lang="en-US" sz="1400" dirty="0"/>
          </a:p>
        </p:txBody>
      </p:sp>
      <p:sp>
        <p:nvSpPr>
          <p:cNvPr id="11" name="Text 9"/>
          <p:cNvSpPr/>
          <p:nvPr/>
        </p:nvSpPr>
        <p:spPr>
          <a:xfrm>
            <a:off x="411480" y="1664208"/>
            <a:ext cx="3840480" cy="1828800"/>
          </a:xfrm>
          <a:prstGeom prst="rect">
            <a:avLst/>
          </a:prstGeom>
          <a:noFill/>
          <a:ln/>
        </p:spPr>
        <p:txBody>
          <a:bodyPr wrap="square"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PRIMARY decision variable
</a:t>
            </a:r>
            <a:pPr indent="0" marL="0">
              <a:buNone/>
            </a:pPr>
            <a:r>
              <a:rPr lang="en-US" sz="1100" dirty="0">
                <a:solidFill>
                  <a:srgbClr val="1A2E3B"/>
                </a:solidFill>
                <a:latin typeface="Calibri" pitchFamily="34" charset="0"/>
                <a:ea typeface="Calibri" pitchFamily="34" charset="-122"/>
                <a:cs typeface="Calibri" pitchFamily="34" charset="-120"/>
              </a:rPr>
              <a:t>= 1 if case c is scheduled on day d, block b, room r
</a:t>
            </a:r>
            <a:pPr indent="0" marL="0">
              <a:buNone/>
            </a:pPr>
            <a:r>
              <a:rPr lang="en-US" sz="1100" i="1" dirty="0">
                <a:solidFill>
                  <a:srgbClr val="1A2E3B"/>
                </a:solidFill>
                <a:latin typeface="Calibri" pitchFamily="34" charset="0"/>
                <a:ea typeface="Calibri" pitchFamily="34" charset="-122"/>
                <a:cs typeface="Calibri" pitchFamily="34" charset="-120"/>
              </a:rPr>
              <a:t>Domain: ∀ c∈C, d∈D_c, b∈B, r∈R_b
</a:t>
            </a:r>
            <a:pPr indent="0" marL="0">
              <a:buNone/>
            </a:pPr>
            <a:r>
              <a:rPr lang="en-US" sz="1100" dirty="0">
                <a:solidFill>
                  <a:srgbClr val="8FA3B1"/>
                </a:solidFill>
                <a:latin typeface="Calibri" pitchFamily="34" charset="0"/>
                <a:ea typeface="Calibri" pitchFamily="34" charset="-122"/>
                <a:cs typeface="Calibri" pitchFamily="34" charset="-120"/>
              </a:rPr>
              <a:t>Pre-filter: remove triples where a_{dbr}^{s_c}=0</a:t>
            </a:r>
            <a:endParaRPr lang="en-US" sz="1100" dirty="0"/>
          </a:p>
          <a:p>
            <a:pPr indent="0" marL="0">
              <a:buNone/>
            </a:pPr>
            <a:r>
              <a:rPr lang="en-US" sz="1100" dirty="0">
                <a:solidFill>
                  <a:srgbClr val="8FA3B1"/>
                </a:solidFill>
                <a:latin typeface="Calibri" pitchFamily="34" charset="0"/>
                <a:ea typeface="Calibri" pitchFamily="34" charset="-122"/>
                <a:cs typeface="Calibri" pitchFamily="34" charset="-120"/>
              </a:rPr>
              <a:t>→ ~85% variable reduction in CHLN instance</a:t>
            </a:r>
            <a:endParaRPr lang="en-US" sz="1100" dirty="0"/>
          </a:p>
        </p:txBody>
      </p:sp>
      <p:sp>
        <p:nvSpPr>
          <p:cNvPr id="12" name="Shape 10"/>
          <p:cNvSpPr/>
          <p:nvPr/>
        </p:nvSpPr>
        <p:spPr>
          <a:xfrm>
            <a:off x="4663440" y="1115568"/>
            <a:ext cx="4206240" cy="2468880"/>
          </a:xfrm>
          <a:prstGeom prst="roundRect">
            <a:avLst>
              <a:gd name="adj" fmla="val 2963"/>
            </a:avLst>
          </a:prstGeom>
          <a:solidFill>
            <a:srgbClr val="FFFFFF"/>
          </a:solidFill>
          <a:ln/>
          <a:effectLst>
            <a:outerShdw sx="100000" sy="100000" kx="0" ky="0" algn="bl" rotWithShape="0" blurRad="63500" dist="25400" dir="2700000">
              <a:srgbClr val="000000">
                <a:alpha val="10000"/>
              </a:srgbClr>
            </a:outerShdw>
          </a:effectLst>
        </p:spPr>
      </p:sp>
      <p:sp>
        <p:nvSpPr>
          <p:cNvPr id="13" name="Shape 11"/>
          <p:cNvSpPr/>
          <p:nvPr/>
        </p:nvSpPr>
        <p:spPr>
          <a:xfrm>
            <a:off x="4892040" y="1261872"/>
            <a:ext cx="384048" cy="384048"/>
          </a:xfrm>
          <a:prstGeom prst="ellipse">
            <a:avLst/>
          </a:prstGeom>
          <a:solidFill>
            <a:srgbClr val="14A085"/>
          </a:solidFill>
          <a:ln w="12700">
            <a:solidFill>
              <a:srgbClr val="14A085"/>
            </a:solidFill>
            <a:prstDash val="solid"/>
          </a:ln>
        </p:spPr>
      </p:sp>
      <p:sp>
        <p:nvSpPr>
          <p:cNvPr id="14" name="Text 12"/>
          <p:cNvSpPr/>
          <p:nvPr/>
        </p:nvSpPr>
        <p:spPr>
          <a:xfrm>
            <a:off x="4892040" y="12618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z</a:t>
            </a:r>
            <a:endParaRPr lang="en-US" sz="1600" dirty="0"/>
          </a:p>
        </p:txBody>
      </p:sp>
      <p:sp>
        <p:nvSpPr>
          <p:cNvPr id="15" name="Text 13"/>
          <p:cNvSpPr/>
          <p:nvPr/>
        </p:nvSpPr>
        <p:spPr>
          <a:xfrm>
            <a:off x="5394960" y="1298448"/>
            <a:ext cx="3291840" cy="292608"/>
          </a:xfrm>
          <a:prstGeom prst="rect">
            <a:avLst/>
          </a:prstGeom>
          <a:noFill/>
          <a:ln/>
        </p:spPr>
        <p:txBody>
          <a:bodyPr wrap="square" lIns="0" tIns="0" rIns="0" bIns="0" rtlCol="0" anchor="ctr"/>
          <a:lstStyle/>
          <a:p>
            <a:pPr indent="0" marL="0">
              <a:buNone/>
            </a:pPr>
            <a:r>
              <a:rPr lang="en-US" sz="1400" b="1" dirty="0">
                <a:solidFill>
                  <a:srgbClr val="0A2E4A"/>
                </a:solidFill>
                <a:latin typeface="Calibri" pitchFamily="34" charset="0"/>
                <a:ea typeface="Calibri" pitchFamily="34" charset="-122"/>
                <a:cs typeface="Calibri" pitchFamily="34" charset="-120"/>
              </a:rPr>
              <a:t>z_c  ≥  0  (∈ {0,1})</a:t>
            </a:r>
            <a:endParaRPr lang="en-US" sz="1400" dirty="0"/>
          </a:p>
        </p:txBody>
      </p:sp>
      <p:sp>
        <p:nvSpPr>
          <p:cNvPr id="16" name="Text 14"/>
          <p:cNvSpPr/>
          <p:nvPr/>
        </p:nvSpPr>
        <p:spPr>
          <a:xfrm>
            <a:off x="4800600" y="1664208"/>
            <a:ext cx="3931920" cy="1828800"/>
          </a:xfrm>
          <a:prstGeom prst="rect">
            <a:avLst/>
          </a:prstGeom>
          <a:noFill/>
          <a:ln/>
        </p:spPr>
        <p:txBody>
          <a:bodyPr wrap="square"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AUXILIARY non-scheduling variable
</a:t>
            </a:r>
            <a:pPr indent="0" marL="0">
              <a:buNone/>
            </a:pPr>
            <a:r>
              <a:rPr lang="en-US" sz="1100" dirty="0">
                <a:solidFill>
                  <a:srgbClr val="1A2E3B"/>
                </a:solidFill>
                <a:latin typeface="Calibri" pitchFamily="34" charset="0"/>
                <a:ea typeface="Calibri" pitchFamily="34" charset="-122"/>
                <a:cs typeface="Calibri" pitchFamily="34" charset="-120"/>
              </a:rPr>
              <a:t>= 1 if case c is NOT scheduled this week
</a:t>
            </a:r>
            <a:pPr indent="0" marL="0">
              <a:buNone/>
            </a:pPr>
            <a:r>
              <a:rPr lang="en-US" sz="1100" i="1" dirty="0">
                <a:solidFill>
                  <a:srgbClr val="1A2E3B"/>
                </a:solidFill>
                <a:latin typeface="Calibri" pitchFamily="34" charset="0"/>
                <a:ea typeface="Calibri" pitchFamily="34" charset="-122"/>
                <a:cs typeface="Calibri" pitchFamily="34" charset="-120"/>
              </a:rPr>
              <a:t>Lives in ℝ⁺; forced into {0,1} by constraint (5.3)
</a:t>
            </a:r>
            <a:pPr indent="0" marL="0">
              <a:buNone/>
            </a:pPr>
            <a:r>
              <a:rPr lang="en-US" sz="1100" dirty="0">
                <a:solidFill>
                  <a:srgbClr val="C0392B"/>
                </a:solidFill>
                <a:latin typeface="Calibri" pitchFamily="34" charset="0"/>
                <a:ea typeface="Calibri" pitchFamily="34" charset="-122"/>
                <a:cs typeface="Calibri" pitchFamily="34" charset="-120"/>
              </a:rPr>
              <a:t>Priority-4: z_c = 0 enforced explicitly</a:t>
            </a:r>
            <a:endParaRPr lang="en-US" sz="1100" dirty="0"/>
          </a:p>
          <a:p>
            <a:pPr indent="0" marL="0">
              <a:buNone/>
            </a:pPr>
            <a:r>
              <a:rPr lang="en-US" sz="1100" dirty="0">
                <a:solidFill>
                  <a:srgbClr val="C0392B"/>
                </a:solidFill>
                <a:latin typeface="Calibri" pitchFamily="34" charset="0"/>
                <a:ea typeface="Calibri" pitchFamily="34" charset="-122"/>
                <a:cs typeface="Calibri" pitchFamily="34" charset="-120"/>
              </a:rPr>
              <a:t>(must be scheduled — no penalty path exists)</a:t>
            </a:r>
            <a:endParaRPr lang="en-US" sz="1100" dirty="0"/>
          </a:p>
        </p:txBody>
      </p:sp>
      <p:sp>
        <p:nvSpPr>
          <p:cNvPr id="17" name="Shape 15"/>
          <p:cNvSpPr/>
          <p:nvPr/>
        </p:nvSpPr>
        <p:spPr>
          <a:xfrm>
            <a:off x="274320" y="3703320"/>
            <a:ext cx="8595360" cy="960120"/>
          </a:xfrm>
          <a:prstGeom prst="roundRect">
            <a:avLst>
              <a:gd name="adj" fmla="val 7619"/>
            </a:avLst>
          </a:prstGeom>
          <a:solidFill>
            <a:srgbClr val="FFF8E1"/>
          </a:solidFill>
          <a:ln/>
          <a:effectLst>
            <a:outerShdw sx="100000" sy="100000" kx="0" ky="0" algn="bl" rotWithShape="0" blurRad="63500" dist="25400" dir="2700000">
              <a:srgbClr val="000000">
                <a:alpha val="10000"/>
              </a:srgbClr>
            </a:outerShdw>
          </a:effectLst>
        </p:spPr>
      </p:sp>
      <p:sp>
        <p:nvSpPr>
          <p:cNvPr id="18" name="Text 16"/>
          <p:cNvSpPr/>
          <p:nvPr/>
        </p:nvSpPr>
        <p:spPr>
          <a:xfrm>
            <a:off x="457200" y="3767328"/>
            <a:ext cx="8229600" cy="822960"/>
          </a:xfrm>
          <a:prstGeom prst="rect">
            <a:avLst/>
          </a:prstGeom>
          <a:noFill/>
          <a:ln/>
        </p:spPr>
        <p:txBody>
          <a:bodyPr wrap="square" rtlCol="0" anchor="ctr"/>
          <a:lstStyle/>
          <a:p>
            <a:pPr indent="0" marL="0">
              <a:buNone/>
            </a:pPr>
            <a:r>
              <a:rPr lang="en-US" sz="1100" b="1" dirty="0">
                <a:solidFill>
                  <a:srgbClr val="0A2E4A"/>
                </a:solidFill>
                <a:latin typeface="Calibri" pitchFamily="34" charset="0"/>
                <a:ea typeface="Calibri" pitchFamily="34" charset="-122"/>
                <a:cs typeface="Calibri" pitchFamily="34" charset="-120"/>
              </a:rPr>
              <a:t>Scale (CHLN real instance): </a:t>
            </a:r>
            <a:pPr indent="0" marL="0">
              <a:buNone/>
            </a:pPr>
            <a:r>
              <a:rPr lang="en-US" sz="1100" dirty="0">
                <a:solidFill>
                  <a:srgbClr val="0A2E4A"/>
                </a:solidFill>
                <a:latin typeface="Calibri" pitchFamily="34" charset="0"/>
                <a:ea typeface="Calibri" pitchFamily="34" charset="-122"/>
                <a:cs typeface="Calibri" pitchFamily="34" charset="-120"/>
              </a:rPr>
              <a:t>|C|≈7000 · |D|=5 · Σ|R_b|=28  →  ~980,000 binary x variables before pre-filtering · ~130,000 after</a:t>
            </a:r>
            <a:endParaRPr lang="en-US" sz="1100" dirty="0"/>
          </a:p>
          <a:p>
            <a:pPr indent="0" marL="0">
              <a:buNone/>
            </a:pPr>
            <a:r>
              <a:rPr lang="en-US" sz="1100" dirty="0">
                <a:solidFill>
                  <a:srgbClr val="0A2E4A"/>
                </a:solidFill>
                <a:latin typeface="Calibri" pitchFamily="34" charset="0"/>
                <a:ea typeface="Calibri" pitchFamily="34" charset="-122"/>
                <a:cs typeface="Calibri" pitchFamily="34" charset="-120"/>
              </a:rPr>
              <a:t>Pre-filtering via (5.4) [a_{dbr}^s=0]: most significant speed-up in the model (Marques &amp; Captivo §5.3)</a:t>
            </a:r>
            <a:endParaRPr lang="en-US" sz="1100" dirty="0"/>
          </a:p>
        </p:txBody>
      </p:sp>
      <p:sp>
        <p:nvSpPr>
          <p:cNvPr id="19" name="Shape 17"/>
          <p:cNvSpPr/>
          <p:nvPr/>
        </p:nvSpPr>
        <p:spPr>
          <a:xfrm>
            <a:off x="0" y="4800600"/>
            <a:ext cx="9144000" cy="342900"/>
          </a:xfrm>
          <a:prstGeom prst="rect">
            <a:avLst/>
          </a:prstGeom>
          <a:solidFill>
            <a:srgbClr val="0A2E4A"/>
          </a:solidFill>
          <a:ln w="12700">
            <a:solidFill>
              <a:srgbClr val="0A2E4A"/>
            </a:solidFill>
            <a:prstDash val="solid"/>
          </a:ln>
        </p:spPr>
      </p:sp>
      <p:sp>
        <p:nvSpPr>
          <p:cNvPr id="20" name="Text 18"/>
          <p:cNvSpPr/>
          <p:nvPr/>
        </p:nvSpPr>
        <p:spPr>
          <a:xfrm>
            <a:off x="182880" y="4818888"/>
            <a:ext cx="6400800" cy="27432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Elective Surgery Scheduling — MILP  ·  SNS/SIGIC Portugal  ·  github.com/</a:t>
            </a:r>
            <a:endParaRPr lang="en-US" sz="800" dirty="0"/>
          </a:p>
        </p:txBody>
      </p:sp>
      <p:sp>
        <p:nvSpPr>
          <p:cNvPr id="21" name="Text 19"/>
          <p:cNvSpPr/>
          <p:nvPr/>
        </p:nvSpPr>
        <p:spPr>
          <a:xfrm>
            <a:off x="7772400" y="4818888"/>
            <a:ext cx="1188720" cy="274320"/>
          </a:xfrm>
          <a:prstGeom prst="rect">
            <a:avLst/>
          </a:prstGeom>
          <a:noFill/>
          <a:ln/>
        </p:spPr>
        <p:txBody>
          <a:bodyPr wrap="square" lIns="0" tIns="0" rIns="0" bIns="0" rtlCol="0" anchor="ctr"/>
          <a:lstStyle/>
          <a:p>
            <a:pPr algn="r" indent="0" marL="0">
              <a:buNone/>
            </a:pPr>
            <a:r>
              <a:rPr lang="en-US" sz="800" dirty="0">
                <a:solidFill>
                  <a:srgbClr val="8FA3B1"/>
                </a:solidFill>
                <a:latin typeface="Calibri" pitchFamily="34" charset="0"/>
                <a:ea typeface="Calibri" pitchFamily="34" charset="-122"/>
                <a:cs typeface="Calibri" pitchFamily="34" charset="-120"/>
              </a:rPr>
              <a:t>5 / 20</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E4A"/>
          </a:solidFill>
          <a:ln w="12700">
            <a:solidFill>
              <a:srgbClr val="0A2E4A"/>
            </a:solidFill>
            <a:prstDash val="solid"/>
          </a:ln>
        </p:spPr>
      </p:sp>
      <p:sp>
        <p:nvSpPr>
          <p:cNvPr id="3" name="Shape 1"/>
          <p:cNvSpPr/>
          <p:nvPr/>
        </p:nvSpPr>
        <p:spPr>
          <a:xfrm>
            <a:off x="0" y="1005840"/>
            <a:ext cx="9144000" cy="54864"/>
          </a:xfrm>
          <a:prstGeom prst="rect">
            <a:avLst/>
          </a:prstGeom>
          <a:solidFill>
            <a:srgbClr val="0D7377"/>
          </a:solidFill>
          <a:ln w="12700">
            <a:solidFill>
              <a:srgbClr val="0D7377"/>
            </a:solidFill>
            <a:prstDash val="solid"/>
          </a:ln>
        </p:spPr>
      </p:sp>
      <p:sp>
        <p:nvSpPr>
          <p:cNvPr id="4" name="Shape 2"/>
          <p:cNvSpPr/>
          <p:nvPr/>
        </p:nvSpPr>
        <p:spPr>
          <a:xfrm>
            <a:off x="7772400" y="0"/>
            <a:ext cx="1371600" cy="1005840"/>
          </a:xfrm>
          <a:prstGeom prst="rect">
            <a:avLst/>
          </a:prstGeom>
          <a:solidFill>
            <a:srgbClr val="0D7377"/>
          </a:solidFill>
          <a:ln w="12700">
            <a:solidFill>
              <a:srgbClr val="0D7377"/>
            </a:solidFill>
            <a:prstDash val="solid"/>
          </a:ln>
        </p:spPr>
      </p:sp>
      <p:sp>
        <p:nvSpPr>
          <p:cNvPr id="5" name="Text 3"/>
          <p:cNvSpPr/>
          <p:nvPr/>
        </p:nvSpPr>
        <p:spPr>
          <a:xfrm>
            <a:off x="320040" y="73152"/>
            <a:ext cx="685800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Constraints — Part 1</a:t>
            </a:r>
            <a:endParaRPr lang="en-US" sz="2000" dirty="0"/>
          </a:p>
        </p:txBody>
      </p:sp>
      <p:sp>
        <p:nvSpPr>
          <p:cNvPr id="6" name="Text 4"/>
          <p:cNvSpPr/>
          <p:nvPr/>
        </p:nvSpPr>
        <p:spPr>
          <a:xfrm>
            <a:off x="320040" y="566928"/>
            <a:ext cx="8229600" cy="347472"/>
          </a:xfrm>
          <a:prstGeom prst="rect">
            <a:avLst/>
          </a:prstGeom>
          <a:noFill/>
          <a:ln/>
        </p:spPr>
        <p:txBody>
          <a:bodyPr wrap="square" lIns="0" tIns="0" rIns="0" bIns="0" rtlCol="0" anchor="ctr"/>
          <a:lstStyle/>
          <a:p>
            <a:pPr indent="0" marL="0">
              <a:buNone/>
            </a:pPr>
            <a:r>
              <a:rPr lang="en-US" sz="1150" i="1" dirty="0">
                <a:solidFill>
                  <a:srgbClr val="9EEADF"/>
                </a:solidFill>
                <a:latin typeface="Calibri" pitchFamily="34" charset="0"/>
                <a:ea typeface="Calibri" pitchFamily="34" charset="-122"/>
                <a:cs typeface="Calibri" pitchFamily="34" charset="-120"/>
              </a:rPr>
              <a:t>Scheduling logic, priority and service assignment</a:t>
            </a:r>
            <a:endParaRPr lang="en-US" sz="1150" dirty="0"/>
          </a:p>
        </p:txBody>
      </p:sp>
      <p:sp>
        <p:nvSpPr>
          <p:cNvPr id="7" name="Shape 5"/>
          <p:cNvSpPr/>
          <p:nvPr/>
        </p:nvSpPr>
        <p:spPr>
          <a:xfrm>
            <a:off x="274320" y="1152144"/>
            <a:ext cx="548640" cy="274320"/>
          </a:xfrm>
          <a:prstGeom prst="roundRect">
            <a:avLst>
              <a:gd name="adj" fmla="val 20000"/>
            </a:avLst>
          </a:prstGeom>
          <a:solidFill>
            <a:srgbClr val="0D7377"/>
          </a:solidFill>
          <a:ln w="12700">
            <a:solidFill>
              <a:srgbClr val="0D7377"/>
            </a:solidFill>
            <a:prstDash val="solid"/>
          </a:ln>
        </p:spPr>
      </p:sp>
      <p:sp>
        <p:nvSpPr>
          <p:cNvPr id="8" name="Text 6"/>
          <p:cNvSpPr/>
          <p:nvPr/>
        </p:nvSpPr>
        <p:spPr>
          <a:xfrm>
            <a:off x="274320" y="1152144"/>
            <a:ext cx="54864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5.1</a:t>
            </a:r>
            <a:endParaRPr lang="en-US" sz="900" dirty="0"/>
          </a:p>
        </p:txBody>
      </p:sp>
      <p:sp>
        <p:nvSpPr>
          <p:cNvPr id="9" name="Text 7"/>
          <p:cNvSpPr/>
          <p:nvPr/>
        </p:nvSpPr>
        <p:spPr>
          <a:xfrm>
            <a:off x="932688" y="1133856"/>
            <a:ext cx="5303520" cy="274320"/>
          </a:xfrm>
          <a:prstGeom prst="rect">
            <a:avLst/>
          </a:prstGeom>
          <a:noFill/>
          <a:ln/>
        </p:spPr>
        <p:txBody>
          <a:bodyPr wrap="square" lIns="0" tIns="0" rIns="0" bIns="0" rtlCol="0" anchor="ctr"/>
          <a:lstStyle/>
          <a:p>
            <a:pPr indent="0" marL="0">
              <a:buNone/>
            </a:pPr>
            <a:r>
              <a:rPr lang="en-US" sz="1200" b="1" dirty="0">
                <a:solidFill>
                  <a:srgbClr val="0A2E4A"/>
                </a:solidFill>
                <a:latin typeface="Calibri" pitchFamily="34" charset="0"/>
                <a:ea typeface="Calibri" pitchFamily="34" charset="-122"/>
                <a:cs typeface="Calibri" pitchFamily="34" charset="-120"/>
              </a:rPr>
              <a:t>One procedure per patient per week</a:t>
            </a:r>
            <a:endParaRPr lang="en-US" sz="1200" dirty="0"/>
          </a:p>
        </p:txBody>
      </p:sp>
      <p:sp>
        <p:nvSpPr>
          <p:cNvPr id="10" name="Shape 8"/>
          <p:cNvSpPr/>
          <p:nvPr/>
        </p:nvSpPr>
        <p:spPr>
          <a:xfrm>
            <a:off x="274320" y="1444752"/>
            <a:ext cx="5394960" cy="320040"/>
          </a:xfrm>
          <a:prstGeom prst="roundRect">
            <a:avLst>
              <a:gd name="adj" fmla="val 20000"/>
            </a:avLst>
          </a:prstGeom>
          <a:solidFill>
            <a:srgbClr val="0A2E4A"/>
          </a:solidFill>
          <a:ln w="10160">
            <a:solidFill>
              <a:srgbClr val="0D7377"/>
            </a:solidFill>
            <a:prstDash val="solid"/>
          </a:ln>
        </p:spPr>
      </p:sp>
      <p:sp>
        <p:nvSpPr>
          <p:cNvPr id="11" name="Text 9"/>
          <p:cNvSpPr/>
          <p:nvPr/>
        </p:nvSpPr>
        <p:spPr>
          <a:xfrm>
            <a:off x="365760" y="1444752"/>
            <a:ext cx="5257800" cy="320040"/>
          </a:xfrm>
          <a:prstGeom prst="rect">
            <a:avLst/>
          </a:prstGeom>
          <a:noFill/>
          <a:ln/>
        </p:spPr>
        <p:txBody>
          <a:bodyPr wrap="square" lIns="0" tIns="0" rIns="0" bIns="0" rtlCol="0" anchor="ctr"/>
          <a:lstStyle/>
          <a:p>
            <a:pPr indent="0" marL="0">
              <a:buNone/>
            </a:pPr>
            <a:r>
              <a:rPr lang="en-US" sz="1000" dirty="0">
                <a:solidFill>
                  <a:srgbClr val="9EEADF"/>
                </a:solidFill>
                <a:latin typeface="Courier New" pitchFamily="34" charset="0"/>
                <a:ea typeface="Courier New" pitchFamily="34" charset="-122"/>
                <a:cs typeface="Courier New" pitchFamily="34" charset="-120"/>
              </a:rPr>
              <a:t>Σ_{c: n_c=n} Σ_d Σ_b Σ_r  x_{cdbr}  ≤  1    ∀ n ∈ N</a:t>
            </a:r>
            <a:endParaRPr lang="en-US" sz="1000" dirty="0"/>
          </a:p>
        </p:txBody>
      </p:sp>
      <p:sp>
        <p:nvSpPr>
          <p:cNvPr id="12" name="Text 10"/>
          <p:cNvSpPr/>
          <p:nvPr/>
        </p:nvSpPr>
        <p:spPr>
          <a:xfrm>
            <a:off x="5852160" y="1152144"/>
            <a:ext cx="3017520" cy="777240"/>
          </a:xfrm>
          <a:prstGeom prst="rect">
            <a:avLst/>
          </a:prstGeom>
          <a:noFill/>
          <a:ln/>
        </p:spPr>
        <p:txBody>
          <a:bodyPr wrap="square"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Conservative: patients with multiple LIC entries get at most one surgery. Services that co-operate schedule jointly outside this model.</a:t>
            </a:r>
            <a:endParaRPr lang="en-US" sz="1000" dirty="0"/>
          </a:p>
        </p:txBody>
      </p:sp>
      <p:sp>
        <p:nvSpPr>
          <p:cNvPr id="13" name="Shape 11"/>
          <p:cNvSpPr/>
          <p:nvPr/>
        </p:nvSpPr>
        <p:spPr>
          <a:xfrm>
            <a:off x="274320" y="1920240"/>
            <a:ext cx="8595360" cy="0"/>
          </a:xfrm>
          <a:prstGeom prst="line">
            <a:avLst/>
          </a:prstGeom>
          <a:noFill/>
          <a:ln w="6350">
            <a:solidFill>
              <a:srgbClr val="D6E4EC"/>
            </a:solidFill>
            <a:prstDash val="solid"/>
          </a:ln>
        </p:spPr>
      </p:sp>
      <p:sp>
        <p:nvSpPr>
          <p:cNvPr id="14" name="Shape 12"/>
          <p:cNvSpPr/>
          <p:nvPr/>
        </p:nvSpPr>
        <p:spPr>
          <a:xfrm>
            <a:off x="274320" y="2029968"/>
            <a:ext cx="548640" cy="274320"/>
          </a:xfrm>
          <a:prstGeom prst="roundRect">
            <a:avLst>
              <a:gd name="adj" fmla="val 20000"/>
            </a:avLst>
          </a:prstGeom>
          <a:solidFill>
            <a:srgbClr val="C0392B"/>
          </a:solidFill>
          <a:ln w="12700">
            <a:solidFill>
              <a:srgbClr val="C0392B"/>
            </a:solidFill>
            <a:prstDash val="solid"/>
          </a:ln>
        </p:spPr>
      </p:sp>
      <p:sp>
        <p:nvSpPr>
          <p:cNvPr id="15" name="Text 13"/>
          <p:cNvSpPr/>
          <p:nvPr/>
        </p:nvSpPr>
        <p:spPr>
          <a:xfrm>
            <a:off x="274320" y="2029968"/>
            <a:ext cx="54864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5.2</a:t>
            </a:r>
            <a:endParaRPr lang="en-US" sz="900" dirty="0"/>
          </a:p>
        </p:txBody>
      </p:sp>
      <p:sp>
        <p:nvSpPr>
          <p:cNvPr id="16" name="Text 14"/>
          <p:cNvSpPr/>
          <p:nvPr/>
        </p:nvSpPr>
        <p:spPr>
          <a:xfrm>
            <a:off x="932688" y="2011680"/>
            <a:ext cx="5303520" cy="274320"/>
          </a:xfrm>
          <a:prstGeom prst="rect">
            <a:avLst/>
          </a:prstGeom>
          <a:noFill/>
          <a:ln/>
        </p:spPr>
        <p:txBody>
          <a:bodyPr wrap="square" lIns="0" tIns="0" rIns="0" bIns="0" rtlCol="0" anchor="ctr"/>
          <a:lstStyle/>
          <a:p>
            <a:pPr indent="0" marL="0">
              <a:buNone/>
            </a:pPr>
            <a:r>
              <a:rPr lang="en-US" sz="1200" b="1" dirty="0">
                <a:solidFill>
                  <a:srgbClr val="0A2E4A"/>
                </a:solidFill>
                <a:latin typeface="Calibri" pitchFamily="34" charset="0"/>
                <a:ea typeface="Calibri" pitchFamily="34" charset="-122"/>
                <a:cs typeface="Calibri" pitchFamily="34" charset="-120"/>
              </a:rPr>
              <a:t>Priority-4 (Deferred Urgent) on Monday only</a:t>
            </a:r>
            <a:endParaRPr lang="en-US" sz="1200" dirty="0"/>
          </a:p>
        </p:txBody>
      </p:sp>
      <p:sp>
        <p:nvSpPr>
          <p:cNvPr id="17" name="Shape 15"/>
          <p:cNvSpPr/>
          <p:nvPr/>
        </p:nvSpPr>
        <p:spPr>
          <a:xfrm>
            <a:off x="274320" y="2322576"/>
            <a:ext cx="5394960" cy="320040"/>
          </a:xfrm>
          <a:prstGeom prst="roundRect">
            <a:avLst>
              <a:gd name="adj" fmla="val 20000"/>
            </a:avLst>
          </a:prstGeom>
          <a:solidFill>
            <a:srgbClr val="0A2E4A"/>
          </a:solidFill>
          <a:ln w="10160">
            <a:solidFill>
              <a:srgbClr val="0D7377"/>
            </a:solidFill>
            <a:prstDash val="solid"/>
          </a:ln>
        </p:spPr>
      </p:sp>
      <p:sp>
        <p:nvSpPr>
          <p:cNvPr id="18" name="Text 16"/>
          <p:cNvSpPr/>
          <p:nvPr/>
        </p:nvSpPr>
        <p:spPr>
          <a:xfrm>
            <a:off x="365760" y="2322576"/>
            <a:ext cx="5257800" cy="320040"/>
          </a:xfrm>
          <a:prstGeom prst="rect">
            <a:avLst/>
          </a:prstGeom>
          <a:noFill/>
          <a:ln/>
        </p:spPr>
        <p:txBody>
          <a:bodyPr wrap="square" lIns="0" tIns="0" rIns="0" bIns="0" rtlCol="0" anchor="ctr"/>
          <a:lstStyle/>
          <a:p>
            <a:pPr indent="0" marL="0">
              <a:buNone/>
            </a:pPr>
            <a:r>
              <a:rPr lang="en-US" sz="1000" dirty="0">
                <a:solidFill>
                  <a:srgbClr val="9EEADF"/>
                </a:solidFill>
                <a:latin typeface="Courier New" pitchFamily="34" charset="0"/>
                <a:ea typeface="Courier New" pitchFamily="34" charset="-122"/>
                <a:cs typeface="Courier New" pitchFamily="34" charset="-120"/>
              </a:rPr>
              <a:t>Σ_b Σ_r  x_{c, d₁, b, r}  =  1    ∀ c : p_c = 4</a:t>
            </a:r>
            <a:endParaRPr lang="en-US" sz="1000" dirty="0"/>
          </a:p>
        </p:txBody>
      </p:sp>
      <p:sp>
        <p:nvSpPr>
          <p:cNvPr id="19" name="Text 17"/>
          <p:cNvSpPr/>
          <p:nvPr/>
        </p:nvSpPr>
        <p:spPr>
          <a:xfrm>
            <a:off x="5852160" y="2029968"/>
            <a:ext cx="3017520" cy="777240"/>
          </a:xfrm>
          <a:prstGeom prst="rect">
            <a:avLst/>
          </a:prstGeom>
          <a:noFill/>
          <a:ln/>
        </p:spPr>
        <p:txBody>
          <a:bodyPr wrap="square"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wl_c^max = 3 days. Planning done on Friday → execution must be Monday to stay within the 72h window. SIGIC legal obligation.</a:t>
            </a:r>
            <a:endParaRPr lang="en-US" sz="1000" dirty="0"/>
          </a:p>
        </p:txBody>
      </p:sp>
      <p:sp>
        <p:nvSpPr>
          <p:cNvPr id="20" name="Shape 18"/>
          <p:cNvSpPr/>
          <p:nvPr/>
        </p:nvSpPr>
        <p:spPr>
          <a:xfrm>
            <a:off x="274320" y="2798064"/>
            <a:ext cx="8595360" cy="0"/>
          </a:xfrm>
          <a:prstGeom prst="line">
            <a:avLst/>
          </a:prstGeom>
          <a:noFill/>
          <a:ln w="6350">
            <a:solidFill>
              <a:srgbClr val="D6E4EC"/>
            </a:solidFill>
            <a:prstDash val="solid"/>
          </a:ln>
        </p:spPr>
      </p:sp>
      <p:sp>
        <p:nvSpPr>
          <p:cNvPr id="21" name="Shape 19"/>
          <p:cNvSpPr/>
          <p:nvPr/>
        </p:nvSpPr>
        <p:spPr>
          <a:xfrm>
            <a:off x="274320" y="2907792"/>
            <a:ext cx="548640" cy="274320"/>
          </a:xfrm>
          <a:prstGeom prst="roundRect">
            <a:avLst>
              <a:gd name="adj" fmla="val 20000"/>
            </a:avLst>
          </a:prstGeom>
          <a:solidFill>
            <a:srgbClr val="0D7377"/>
          </a:solidFill>
          <a:ln w="12700">
            <a:solidFill>
              <a:srgbClr val="0D7377"/>
            </a:solidFill>
            <a:prstDash val="solid"/>
          </a:ln>
        </p:spPr>
      </p:sp>
      <p:sp>
        <p:nvSpPr>
          <p:cNvPr id="22" name="Text 20"/>
          <p:cNvSpPr/>
          <p:nvPr/>
        </p:nvSpPr>
        <p:spPr>
          <a:xfrm>
            <a:off x="274320" y="2907792"/>
            <a:ext cx="54864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5.3</a:t>
            </a:r>
            <a:endParaRPr lang="en-US" sz="900" dirty="0"/>
          </a:p>
        </p:txBody>
      </p:sp>
      <p:sp>
        <p:nvSpPr>
          <p:cNvPr id="23" name="Text 21"/>
          <p:cNvSpPr/>
          <p:nvPr/>
        </p:nvSpPr>
        <p:spPr>
          <a:xfrm>
            <a:off x="932688" y="2889504"/>
            <a:ext cx="5303520" cy="274320"/>
          </a:xfrm>
          <a:prstGeom prst="rect">
            <a:avLst/>
          </a:prstGeom>
          <a:noFill/>
          <a:ln/>
        </p:spPr>
        <p:txBody>
          <a:bodyPr wrap="square" lIns="0" tIns="0" rIns="0" bIns="0" rtlCol="0" anchor="ctr"/>
          <a:lstStyle/>
          <a:p>
            <a:pPr indent="0" marL="0">
              <a:buNone/>
            </a:pPr>
            <a:r>
              <a:rPr lang="en-US" sz="1200" b="1" dirty="0">
                <a:solidFill>
                  <a:srgbClr val="0A2E4A"/>
                </a:solidFill>
                <a:latin typeface="Calibri" pitchFamily="34" charset="0"/>
                <a:ea typeface="Calibri" pitchFamily="34" charset="-122"/>
                <a:cs typeface="Calibri" pitchFamily="34" charset="-120"/>
              </a:rPr>
              <a:t>Non-urgent: scheduled exactly once, or penalised</a:t>
            </a:r>
            <a:endParaRPr lang="en-US" sz="1200" dirty="0"/>
          </a:p>
        </p:txBody>
      </p:sp>
      <p:sp>
        <p:nvSpPr>
          <p:cNvPr id="24" name="Shape 22"/>
          <p:cNvSpPr/>
          <p:nvPr/>
        </p:nvSpPr>
        <p:spPr>
          <a:xfrm>
            <a:off x="274320" y="3200400"/>
            <a:ext cx="5394960" cy="320040"/>
          </a:xfrm>
          <a:prstGeom prst="roundRect">
            <a:avLst>
              <a:gd name="adj" fmla="val 20000"/>
            </a:avLst>
          </a:prstGeom>
          <a:solidFill>
            <a:srgbClr val="0A2E4A"/>
          </a:solidFill>
          <a:ln w="10160">
            <a:solidFill>
              <a:srgbClr val="0D7377"/>
            </a:solidFill>
            <a:prstDash val="solid"/>
          </a:ln>
        </p:spPr>
      </p:sp>
      <p:sp>
        <p:nvSpPr>
          <p:cNvPr id="25" name="Text 23"/>
          <p:cNvSpPr/>
          <p:nvPr/>
        </p:nvSpPr>
        <p:spPr>
          <a:xfrm>
            <a:off x="365760" y="3200400"/>
            <a:ext cx="5257800" cy="320040"/>
          </a:xfrm>
          <a:prstGeom prst="rect">
            <a:avLst/>
          </a:prstGeom>
          <a:noFill/>
          <a:ln/>
        </p:spPr>
        <p:txBody>
          <a:bodyPr wrap="square" lIns="0" tIns="0" rIns="0" bIns="0" rtlCol="0" anchor="ctr"/>
          <a:lstStyle/>
          <a:p>
            <a:pPr indent="0" marL="0">
              <a:buNone/>
            </a:pPr>
            <a:r>
              <a:rPr lang="en-US" sz="1000" dirty="0">
                <a:solidFill>
                  <a:srgbClr val="9EEADF"/>
                </a:solidFill>
                <a:latin typeface="Courier New" pitchFamily="34" charset="0"/>
                <a:ea typeface="Courier New" pitchFamily="34" charset="-122"/>
                <a:cs typeface="Courier New" pitchFamily="34" charset="-120"/>
              </a:rPr>
              <a:t>Σ_d Σ_b Σ_r  x_{cdbr}  +  z_c  =  1    ∀ c : p_c ≠ 4</a:t>
            </a:r>
            <a:endParaRPr lang="en-US" sz="1000" dirty="0"/>
          </a:p>
        </p:txBody>
      </p:sp>
      <p:sp>
        <p:nvSpPr>
          <p:cNvPr id="26" name="Text 24"/>
          <p:cNvSpPr/>
          <p:nvPr/>
        </p:nvSpPr>
        <p:spPr>
          <a:xfrm>
            <a:off x="5852160" y="2907792"/>
            <a:ext cx="3017520" cy="777240"/>
          </a:xfrm>
          <a:prstGeom prst="rect">
            <a:avLst/>
          </a:prstGeom>
          <a:noFill/>
          <a:ln/>
        </p:spPr>
        <p:txBody>
          <a:bodyPr wrap="square"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Forces z_c ∈ {0,1}: the model either schedules c (x=1, z=0) or pays the penalty (x=0, z=1). One schedule per case maximum.</a:t>
            </a:r>
            <a:endParaRPr lang="en-US" sz="1000" dirty="0"/>
          </a:p>
        </p:txBody>
      </p:sp>
      <p:sp>
        <p:nvSpPr>
          <p:cNvPr id="27" name="Shape 25"/>
          <p:cNvSpPr/>
          <p:nvPr/>
        </p:nvSpPr>
        <p:spPr>
          <a:xfrm>
            <a:off x="274320" y="3675888"/>
            <a:ext cx="8595360" cy="0"/>
          </a:xfrm>
          <a:prstGeom prst="line">
            <a:avLst/>
          </a:prstGeom>
          <a:noFill/>
          <a:ln w="6350">
            <a:solidFill>
              <a:srgbClr val="D6E4EC"/>
            </a:solidFill>
            <a:prstDash val="solid"/>
          </a:ln>
        </p:spPr>
      </p:sp>
      <p:sp>
        <p:nvSpPr>
          <p:cNvPr id="28" name="Shape 26"/>
          <p:cNvSpPr/>
          <p:nvPr/>
        </p:nvSpPr>
        <p:spPr>
          <a:xfrm>
            <a:off x="274320" y="3785616"/>
            <a:ext cx="548640" cy="274320"/>
          </a:xfrm>
          <a:prstGeom prst="roundRect">
            <a:avLst>
              <a:gd name="adj" fmla="val 20000"/>
            </a:avLst>
          </a:prstGeom>
          <a:solidFill>
            <a:srgbClr val="E67E22"/>
          </a:solidFill>
          <a:ln w="12700">
            <a:solidFill>
              <a:srgbClr val="E67E22"/>
            </a:solidFill>
            <a:prstDash val="solid"/>
          </a:ln>
        </p:spPr>
      </p:sp>
      <p:sp>
        <p:nvSpPr>
          <p:cNvPr id="29" name="Text 27"/>
          <p:cNvSpPr/>
          <p:nvPr/>
        </p:nvSpPr>
        <p:spPr>
          <a:xfrm>
            <a:off x="274320" y="3785616"/>
            <a:ext cx="54864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5.4</a:t>
            </a:r>
            <a:endParaRPr lang="en-US" sz="900" dirty="0"/>
          </a:p>
        </p:txBody>
      </p:sp>
      <p:sp>
        <p:nvSpPr>
          <p:cNvPr id="30" name="Text 28"/>
          <p:cNvSpPr/>
          <p:nvPr/>
        </p:nvSpPr>
        <p:spPr>
          <a:xfrm>
            <a:off x="932688" y="3767328"/>
            <a:ext cx="5303520" cy="274320"/>
          </a:xfrm>
          <a:prstGeom prst="rect">
            <a:avLst/>
          </a:prstGeom>
          <a:noFill/>
          <a:ln/>
        </p:spPr>
        <p:txBody>
          <a:bodyPr wrap="square" lIns="0" tIns="0" rIns="0" bIns="0" rtlCol="0" anchor="ctr"/>
          <a:lstStyle/>
          <a:p>
            <a:pPr indent="0" marL="0">
              <a:buNone/>
            </a:pPr>
            <a:r>
              <a:rPr lang="en-US" sz="1200" b="1" dirty="0">
                <a:solidFill>
                  <a:srgbClr val="0A2E4A"/>
                </a:solidFill>
                <a:latin typeface="Calibri" pitchFamily="34" charset="0"/>
                <a:ea typeface="Calibri" pitchFamily="34" charset="-122"/>
                <a:cs typeface="Calibri" pitchFamily="34" charset="-120"/>
              </a:rPr>
              <a:t>Room–service assignment (Master Surgery Schedule)</a:t>
            </a:r>
            <a:endParaRPr lang="en-US" sz="1200" dirty="0"/>
          </a:p>
        </p:txBody>
      </p:sp>
      <p:sp>
        <p:nvSpPr>
          <p:cNvPr id="31" name="Shape 29"/>
          <p:cNvSpPr/>
          <p:nvPr/>
        </p:nvSpPr>
        <p:spPr>
          <a:xfrm>
            <a:off x="274320" y="4078224"/>
            <a:ext cx="5394960" cy="320040"/>
          </a:xfrm>
          <a:prstGeom prst="roundRect">
            <a:avLst>
              <a:gd name="adj" fmla="val 20000"/>
            </a:avLst>
          </a:prstGeom>
          <a:solidFill>
            <a:srgbClr val="0A2E4A"/>
          </a:solidFill>
          <a:ln w="10160">
            <a:solidFill>
              <a:srgbClr val="0D7377"/>
            </a:solidFill>
            <a:prstDash val="solid"/>
          </a:ln>
        </p:spPr>
      </p:sp>
      <p:sp>
        <p:nvSpPr>
          <p:cNvPr id="32" name="Text 30"/>
          <p:cNvSpPr/>
          <p:nvPr/>
        </p:nvSpPr>
        <p:spPr>
          <a:xfrm>
            <a:off x="365760" y="4078224"/>
            <a:ext cx="5257800" cy="320040"/>
          </a:xfrm>
          <a:prstGeom prst="rect">
            <a:avLst/>
          </a:prstGeom>
          <a:noFill/>
          <a:ln/>
        </p:spPr>
        <p:txBody>
          <a:bodyPr wrap="square" lIns="0" tIns="0" rIns="0" bIns="0" rtlCol="0" anchor="ctr"/>
          <a:lstStyle/>
          <a:p>
            <a:pPr indent="0" marL="0">
              <a:buNone/>
            </a:pPr>
            <a:r>
              <a:rPr lang="en-US" sz="1000" dirty="0">
                <a:solidFill>
                  <a:srgbClr val="9EEADF"/>
                </a:solidFill>
                <a:latin typeface="Courier New" pitchFamily="34" charset="0"/>
                <a:ea typeface="Courier New" pitchFamily="34" charset="-122"/>
                <a:cs typeface="Courier New" pitchFamily="34" charset="-120"/>
              </a:rPr>
              <a:t>Σ_{c: s_c=s}  x_{cdbr}  ≤  a_{dbr}^s · M    ∀ s, d, b, r</a:t>
            </a:r>
            <a:endParaRPr lang="en-US" sz="1000" dirty="0"/>
          </a:p>
        </p:txBody>
      </p:sp>
      <p:sp>
        <p:nvSpPr>
          <p:cNvPr id="33" name="Text 31"/>
          <p:cNvSpPr/>
          <p:nvPr/>
        </p:nvSpPr>
        <p:spPr>
          <a:xfrm>
            <a:off x="5852160" y="3785616"/>
            <a:ext cx="3017520" cy="777240"/>
          </a:xfrm>
          <a:prstGeom prst="rect">
            <a:avLst/>
          </a:prstGeom>
          <a:noFill/>
          <a:ln/>
        </p:spPr>
        <p:txBody>
          <a:bodyPr wrap="square"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When a_{dbr}^s=0, all x_{cdbr} for service s are forced to zero. This eliminates ~85% of variables before even calling the solver.</a:t>
            </a:r>
            <a:endParaRPr lang="en-US" sz="1000" dirty="0"/>
          </a:p>
        </p:txBody>
      </p:sp>
      <p:sp>
        <p:nvSpPr>
          <p:cNvPr id="34" name="Shape 32"/>
          <p:cNvSpPr/>
          <p:nvPr/>
        </p:nvSpPr>
        <p:spPr>
          <a:xfrm>
            <a:off x="0" y="4800600"/>
            <a:ext cx="9144000" cy="342900"/>
          </a:xfrm>
          <a:prstGeom prst="rect">
            <a:avLst/>
          </a:prstGeom>
          <a:solidFill>
            <a:srgbClr val="0A2E4A"/>
          </a:solidFill>
          <a:ln w="12700">
            <a:solidFill>
              <a:srgbClr val="0A2E4A"/>
            </a:solidFill>
            <a:prstDash val="solid"/>
          </a:ln>
        </p:spPr>
      </p:sp>
      <p:sp>
        <p:nvSpPr>
          <p:cNvPr id="35" name="Text 33"/>
          <p:cNvSpPr/>
          <p:nvPr/>
        </p:nvSpPr>
        <p:spPr>
          <a:xfrm>
            <a:off x="182880" y="4818888"/>
            <a:ext cx="6400800" cy="27432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Elective Surgery Scheduling — MILP  ·  SNS/SIGIC Portugal  ·  github.com/</a:t>
            </a:r>
            <a:endParaRPr lang="en-US" sz="800" dirty="0"/>
          </a:p>
        </p:txBody>
      </p:sp>
      <p:sp>
        <p:nvSpPr>
          <p:cNvPr id="36" name="Text 34"/>
          <p:cNvSpPr/>
          <p:nvPr/>
        </p:nvSpPr>
        <p:spPr>
          <a:xfrm>
            <a:off x="7772400" y="4818888"/>
            <a:ext cx="1188720" cy="274320"/>
          </a:xfrm>
          <a:prstGeom prst="rect">
            <a:avLst/>
          </a:prstGeom>
          <a:noFill/>
          <a:ln/>
        </p:spPr>
        <p:txBody>
          <a:bodyPr wrap="square" lIns="0" tIns="0" rIns="0" bIns="0" rtlCol="0" anchor="ctr"/>
          <a:lstStyle/>
          <a:p>
            <a:pPr algn="r" indent="0" marL="0">
              <a:buNone/>
            </a:pPr>
            <a:r>
              <a:rPr lang="en-US" sz="800" dirty="0">
                <a:solidFill>
                  <a:srgbClr val="8FA3B1"/>
                </a:solidFill>
                <a:latin typeface="Calibri" pitchFamily="34" charset="0"/>
                <a:ea typeface="Calibri" pitchFamily="34" charset="-122"/>
                <a:cs typeface="Calibri" pitchFamily="34" charset="-120"/>
              </a:rPr>
              <a:t>6 / 20</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E4A"/>
          </a:solidFill>
          <a:ln w="12700">
            <a:solidFill>
              <a:srgbClr val="0A2E4A"/>
            </a:solidFill>
            <a:prstDash val="solid"/>
          </a:ln>
        </p:spPr>
      </p:sp>
      <p:sp>
        <p:nvSpPr>
          <p:cNvPr id="3" name="Shape 1"/>
          <p:cNvSpPr/>
          <p:nvPr/>
        </p:nvSpPr>
        <p:spPr>
          <a:xfrm>
            <a:off x="0" y="1005840"/>
            <a:ext cx="9144000" cy="54864"/>
          </a:xfrm>
          <a:prstGeom prst="rect">
            <a:avLst/>
          </a:prstGeom>
          <a:solidFill>
            <a:srgbClr val="0D7377"/>
          </a:solidFill>
          <a:ln w="12700">
            <a:solidFill>
              <a:srgbClr val="0D7377"/>
            </a:solidFill>
            <a:prstDash val="solid"/>
          </a:ln>
        </p:spPr>
      </p:sp>
      <p:sp>
        <p:nvSpPr>
          <p:cNvPr id="4" name="Shape 2"/>
          <p:cNvSpPr/>
          <p:nvPr/>
        </p:nvSpPr>
        <p:spPr>
          <a:xfrm>
            <a:off x="7772400" y="0"/>
            <a:ext cx="1371600" cy="1005840"/>
          </a:xfrm>
          <a:prstGeom prst="rect">
            <a:avLst/>
          </a:prstGeom>
          <a:solidFill>
            <a:srgbClr val="0D7377"/>
          </a:solidFill>
          <a:ln w="12700">
            <a:solidFill>
              <a:srgbClr val="0D7377"/>
            </a:solidFill>
            <a:prstDash val="solid"/>
          </a:ln>
        </p:spPr>
      </p:sp>
      <p:sp>
        <p:nvSpPr>
          <p:cNvPr id="5" name="Text 3"/>
          <p:cNvSpPr/>
          <p:nvPr/>
        </p:nvSpPr>
        <p:spPr>
          <a:xfrm>
            <a:off x="320040" y="73152"/>
            <a:ext cx="685800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Constraints — Part 2</a:t>
            </a:r>
            <a:endParaRPr lang="en-US" sz="2000" dirty="0"/>
          </a:p>
        </p:txBody>
      </p:sp>
      <p:sp>
        <p:nvSpPr>
          <p:cNvPr id="6" name="Text 4"/>
          <p:cNvSpPr/>
          <p:nvPr/>
        </p:nvSpPr>
        <p:spPr>
          <a:xfrm>
            <a:off x="320040" y="566928"/>
            <a:ext cx="8229600" cy="347472"/>
          </a:xfrm>
          <a:prstGeom prst="rect">
            <a:avLst/>
          </a:prstGeom>
          <a:noFill/>
          <a:ln/>
        </p:spPr>
        <p:txBody>
          <a:bodyPr wrap="square" lIns="0" tIns="0" rIns="0" bIns="0" rtlCol="0" anchor="ctr"/>
          <a:lstStyle/>
          <a:p>
            <a:pPr indent="0" marL="0">
              <a:buNone/>
            </a:pPr>
            <a:r>
              <a:rPr lang="en-US" sz="1150" i="1" dirty="0">
                <a:solidFill>
                  <a:srgbClr val="9EEADF"/>
                </a:solidFill>
                <a:latin typeface="Calibri" pitchFamily="34" charset="0"/>
                <a:ea typeface="Calibri" pitchFamily="34" charset="-122"/>
                <a:cs typeface="Calibri" pitchFamily="34" charset="-120"/>
              </a:rPr>
              <a:t>Capacity, surgeon limits and special operational rules</a:t>
            </a:r>
            <a:endParaRPr lang="en-US" sz="1150" dirty="0"/>
          </a:p>
        </p:txBody>
      </p:sp>
      <p:sp>
        <p:nvSpPr>
          <p:cNvPr id="7" name="Shape 5"/>
          <p:cNvSpPr/>
          <p:nvPr/>
        </p:nvSpPr>
        <p:spPr>
          <a:xfrm>
            <a:off x="274320" y="1152144"/>
            <a:ext cx="548640" cy="274320"/>
          </a:xfrm>
          <a:prstGeom prst="roundRect">
            <a:avLst>
              <a:gd name="adj" fmla="val 20000"/>
            </a:avLst>
          </a:prstGeom>
          <a:solidFill>
            <a:srgbClr val="E67E22"/>
          </a:solidFill>
          <a:ln w="12700">
            <a:solidFill>
              <a:srgbClr val="E67E22"/>
            </a:solidFill>
            <a:prstDash val="solid"/>
          </a:ln>
        </p:spPr>
      </p:sp>
      <p:sp>
        <p:nvSpPr>
          <p:cNvPr id="8" name="Text 6"/>
          <p:cNvSpPr/>
          <p:nvPr/>
        </p:nvSpPr>
        <p:spPr>
          <a:xfrm>
            <a:off x="274320" y="1152144"/>
            <a:ext cx="54864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5.5</a:t>
            </a:r>
            <a:endParaRPr lang="en-US" sz="900" dirty="0"/>
          </a:p>
        </p:txBody>
      </p:sp>
      <p:sp>
        <p:nvSpPr>
          <p:cNvPr id="9" name="Text 7"/>
          <p:cNvSpPr/>
          <p:nvPr/>
        </p:nvSpPr>
        <p:spPr>
          <a:xfrm>
            <a:off x="932688" y="1133856"/>
            <a:ext cx="5303520" cy="274320"/>
          </a:xfrm>
          <a:prstGeom prst="rect">
            <a:avLst/>
          </a:prstGeom>
          <a:noFill/>
          <a:ln/>
        </p:spPr>
        <p:txBody>
          <a:bodyPr wrap="square" lIns="0" tIns="0" rIns="0" bIns="0" rtlCol="0" anchor="ctr"/>
          <a:lstStyle/>
          <a:p>
            <a:pPr indent="0" marL="0">
              <a:buNone/>
            </a:pPr>
            <a:r>
              <a:rPr lang="en-US" sz="1200" b="1" dirty="0">
                <a:solidFill>
                  <a:srgbClr val="0A2E4A"/>
                </a:solidFill>
                <a:latin typeface="Calibri" pitchFamily="34" charset="0"/>
                <a:ea typeface="Calibri" pitchFamily="34" charset="-122"/>
                <a:cs typeface="Calibri" pitchFamily="34" charset="-120"/>
              </a:rPr>
              <a:t>Ambulatory-only block (Bloco URO Ambulatório)</a:t>
            </a:r>
            <a:endParaRPr lang="en-US" sz="1200" dirty="0"/>
          </a:p>
        </p:txBody>
      </p:sp>
      <p:sp>
        <p:nvSpPr>
          <p:cNvPr id="10" name="Shape 8"/>
          <p:cNvSpPr/>
          <p:nvPr/>
        </p:nvSpPr>
        <p:spPr>
          <a:xfrm>
            <a:off x="274320" y="1444752"/>
            <a:ext cx="5394960" cy="320040"/>
          </a:xfrm>
          <a:prstGeom prst="roundRect">
            <a:avLst>
              <a:gd name="adj" fmla="val 20000"/>
            </a:avLst>
          </a:prstGeom>
          <a:solidFill>
            <a:srgbClr val="0A2E4A"/>
          </a:solidFill>
          <a:ln w="10160">
            <a:solidFill>
              <a:srgbClr val="0D7377"/>
            </a:solidFill>
            <a:prstDash val="solid"/>
          </a:ln>
        </p:spPr>
      </p:sp>
      <p:sp>
        <p:nvSpPr>
          <p:cNvPr id="11" name="Text 9"/>
          <p:cNvSpPr/>
          <p:nvPr/>
        </p:nvSpPr>
        <p:spPr>
          <a:xfrm>
            <a:off x="365760" y="1444752"/>
            <a:ext cx="5257800" cy="320040"/>
          </a:xfrm>
          <a:prstGeom prst="rect">
            <a:avLst/>
          </a:prstGeom>
          <a:noFill/>
          <a:ln/>
        </p:spPr>
        <p:txBody>
          <a:bodyPr wrap="square" lIns="0" tIns="0" rIns="0" bIns="0" rtlCol="0" anchor="ctr"/>
          <a:lstStyle/>
          <a:p>
            <a:pPr indent="0" marL="0">
              <a:buNone/>
            </a:pPr>
            <a:r>
              <a:rPr lang="en-US" sz="1000" dirty="0">
                <a:solidFill>
                  <a:srgbClr val="9EEADF"/>
                </a:solidFill>
                <a:latin typeface="Courier New" pitchFamily="34" charset="0"/>
                <a:ea typeface="Courier New" pitchFamily="34" charset="-122"/>
                <a:cs typeface="Courier New" pitchFamily="34" charset="-120"/>
              </a:rPr>
              <a:t>Σ_{c: amb_c≠2, s_c=URO}  x_{cdbr}  =  0    ∀ d, r∈R_b: b=B_URO_AMB</a:t>
            </a:r>
            <a:endParaRPr lang="en-US" sz="1000" dirty="0"/>
          </a:p>
        </p:txBody>
      </p:sp>
      <p:sp>
        <p:nvSpPr>
          <p:cNvPr id="12" name="Text 10"/>
          <p:cNvSpPr/>
          <p:nvPr/>
        </p:nvSpPr>
        <p:spPr>
          <a:xfrm>
            <a:off x="5852160" y="1152144"/>
            <a:ext cx="3017520" cy="777240"/>
          </a:xfrm>
          <a:prstGeom prst="rect">
            <a:avLst/>
          </a:prstGeom>
          <a:noFill/>
          <a:ln/>
        </p:spPr>
        <p:txBody>
          <a:bodyPr wrap="square"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Only day-case (ambulatory) urology procedures may use this block. Inpatient cases go to the main OR block.</a:t>
            </a:r>
            <a:endParaRPr lang="en-US" sz="1000" dirty="0"/>
          </a:p>
        </p:txBody>
      </p:sp>
      <p:sp>
        <p:nvSpPr>
          <p:cNvPr id="13" name="Shape 11"/>
          <p:cNvSpPr/>
          <p:nvPr/>
        </p:nvSpPr>
        <p:spPr>
          <a:xfrm>
            <a:off x="274320" y="1920240"/>
            <a:ext cx="8595360" cy="0"/>
          </a:xfrm>
          <a:prstGeom prst="line">
            <a:avLst/>
          </a:prstGeom>
          <a:noFill/>
          <a:ln w="6350">
            <a:solidFill>
              <a:srgbClr val="D6E4EC"/>
            </a:solidFill>
            <a:prstDash val="solid"/>
          </a:ln>
        </p:spPr>
      </p:sp>
      <p:sp>
        <p:nvSpPr>
          <p:cNvPr id="14" name="Shape 12"/>
          <p:cNvSpPr/>
          <p:nvPr/>
        </p:nvSpPr>
        <p:spPr>
          <a:xfrm>
            <a:off x="274320" y="2029968"/>
            <a:ext cx="548640" cy="274320"/>
          </a:xfrm>
          <a:prstGeom prst="roundRect">
            <a:avLst>
              <a:gd name="adj" fmla="val 20000"/>
            </a:avLst>
          </a:prstGeom>
          <a:solidFill>
            <a:srgbClr val="14A085"/>
          </a:solidFill>
          <a:ln w="12700">
            <a:solidFill>
              <a:srgbClr val="14A085"/>
            </a:solidFill>
            <a:prstDash val="solid"/>
          </a:ln>
        </p:spPr>
      </p:sp>
      <p:sp>
        <p:nvSpPr>
          <p:cNvPr id="15" name="Text 13"/>
          <p:cNvSpPr/>
          <p:nvPr/>
        </p:nvSpPr>
        <p:spPr>
          <a:xfrm>
            <a:off x="274320" y="2029968"/>
            <a:ext cx="54864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5.6</a:t>
            </a:r>
            <a:endParaRPr lang="en-US" sz="900" dirty="0"/>
          </a:p>
        </p:txBody>
      </p:sp>
      <p:sp>
        <p:nvSpPr>
          <p:cNvPr id="16" name="Text 14"/>
          <p:cNvSpPr/>
          <p:nvPr/>
        </p:nvSpPr>
        <p:spPr>
          <a:xfrm>
            <a:off x="932688" y="2011680"/>
            <a:ext cx="5303520" cy="274320"/>
          </a:xfrm>
          <a:prstGeom prst="rect">
            <a:avLst/>
          </a:prstGeom>
          <a:noFill/>
          <a:ln/>
        </p:spPr>
        <p:txBody>
          <a:bodyPr wrap="square" lIns="0" tIns="0" rIns="0" bIns="0" rtlCol="0" anchor="ctr"/>
          <a:lstStyle/>
          <a:p>
            <a:pPr indent="0" marL="0">
              <a:buNone/>
            </a:pPr>
            <a:r>
              <a:rPr lang="en-US" sz="1200" b="1" dirty="0">
                <a:solidFill>
                  <a:srgbClr val="0A2E4A"/>
                </a:solidFill>
                <a:latin typeface="Calibri" pitchFamily="34" charset="0"/>
                <a:ea typeface="Calibri" pitchFamily="34" charset="-122"/>
                <a:cs typeface="Calibri" pitchFamily="34" charset="-120"/>
              </a:rPr>
              <a:t>ORL paediatric circuit (every Friday)</a:t>
            </a:r>
            <a:endParaRPr lang="en-US" sz="1200" dirty="0"/>
          </a:p>
        </p:txBody>
      </p:sp>
      <p:sp>
        <p:nvSpPr>
          <p:cNvPr id="17" name="Shape 15"/>
          <p:cNvSpPr/>
          <p:nvPr/>
        </p:nvSpPr>
        <p:spPr>
          <a:xfrm>
            <a:off x="274320" y="2322576"/>
            <a:ext cx="5394960" cy="320040"/>
          </a:xfrm>
          <a:prstGeom prst="roundRect">
            <a:avLst>
              <a:gd name="adj" fmla="val 20000"/>
            </a:avLst>
          </a:prstGeom>
          <a:solidFill>
            <a:srgbClr val="0A2E4A"/>
          </a:solidFill>
          <a:ln w="10160">
            <a:solidFill>
              <a:srgbClr val="0D7377"/>
            </a:solidFill>
            <a:prstDash val="solid"/>
          </a:ln>
        </p:spPr>
      </p:sp>
      <p:sp>
        <p:nvSpPr>
          <p:cNvPr id="18" name="Text 16"/>
          <p:cNvSpPr/>
          <p:nvPr/>
        </p:nvSpPr>
        <p:spPr>
          <a:xfrm>
            <a:off x="365760" y="2322576"/>
            <a:ext cx="5257800" cy="320040"/>
          </a:xfrm>
          <a:prstGeom prst="rect">
            <a:avLst/>
          </a:prstGeom>
          <a:noFill/>
          <a:ln/>
        </p:spPr>
        <p:txBody>
          <a:bodyPr wrap="square" lIns="0" tIns="0" rIns="0" bIns="0" rtlCol="0" anchor="ctr"/>
          <a:lstStyle/>
          <a:p>
            <a:pPr indent="0" marL="0">
              <a:buNone/>
            </a:pPr>
            <a:r>
              <a:rPr lang="en-US" sz="1000" dirty="0">
                <a:solidFill>
                  <a:srgbClr val="9EEADF"/>
                </a:solidFill>
                <a:latin typeface="Courier New" pitchFamily="34" charset="0"/>
                <a:ea typeface="Courier New" pitchFamily="34" charset="-122"/>
                <a:cs typeface="Courier New" pitchFamily="34" charset="-120"/>
              </a:rPr>
              <a:t>Σ_{c: i_c&gt;i, s_c=ORL}  x_{c, dᵤ, b, r}  =  0    ∀ r∈R_b: b=B_ORL</a:t>
            </a:r>
            <a:endParaRPr lang="en-US" sz="1000" dirty="0"/>
          </a:p>
        </p:txBody>
      </p:sp>
      <p:sp>
        <p:nvSpPr>
          <p:cNvPr id="19" name="Text 17"/>
          <p:cNvSpPr/>
          <p:nvPr/>
        </p:nvSpPr>
        <p:spPr>
          <a:xfrm>
            <a:off x="5852160" y="2029968"/>
            <a:ext cx="3017520" cy="777240"/>
          </a:xfrm>
          <a:prstGeom prst="rect">
            <a:avLst/>
          </a:prstGeom>
          <a:noFill/>
          <a:ln/>
        </p:spPr>
        <p:txBody>
          <a:bodyPr wrap="square"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Every Friday the ORL block is reserved for patients ≤8 years. Confirmed by ORL department head in interview with CHLN.</a:t>
            </a:r>
            <a:endParaRPr lang="en-US" sz="1000" dirty="0"/>
          </a:p>
        </p:txBody>
      </p:sp>
      <p:sp>
        <p:nvSpPr>
          <p:cNvPr id="20" name="Shape 18"/>
          <p:cNvSpPr/>
          <p:nvPr/>
        </p:nvSpPr>
        <p:spPr>
          <a:xfrm>
            <a:off x="274320" y="2798064"/>
            <a:ext cx="8595360" cy="0"/>
          </a:xfrm>
          <a:prstGeom prst="line">
            <a:avLst/>
          </a:prstGeom>
          <a:noFill/>
          <a:ln w="6350">
            <a:solidFill>
              <a:srgbClr val="D6E4EC"/>
            </a:solidFill>
            <a:prstDash val="solid"/>
          </a:ln>
        </p:spPr>
      </p:sp>
      <p:sp>
        <p:nvSpPr>
          <p:cNvPr id="21" name="Shape 19"/>
          <p:cNvSpPr/>
          <p:nvPr/>
        </p:nvSpPr>
        <p:spPr>
          <a:xfrm>
            <a:off x="274320" y="2907792"/>
            <a:ext cx="548640" cy="274320"/>
          </a:xfrm>
          <a:prstGeom prst="roundRect">
            <a:avLst>
              <a:gd name="adj" fmla="val 20000"/>
            </a:avLst>
          </a:prstGeom>
          <a:solidFill>
            <a:srgbClr val="0D7377"/>
          </a:solidFill>
          <a:ln w="12700">
            <a:solidFill>
              <a:srgbClr val="0D7377"/>
            </a:solidFill>
            <a:prstDash val="solid"/>
          </a:ln>
        </p:spPr>
      </p:sp>
      <p:sp>
        <p:nvSpPr>
          <p:cNvPr id="22" name="Text 20"/>
          <p:cNvSpPr/>
          <p:nvPr/>
        </p:nvSpPr>
        <p:spPr>
          <a:xfrm>
            <a:off x="274320" y="2907792"/>
            <a:ext cx="54864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5.7</a:t>
            </a:r>
            <a:endParaRPr lang="en-US" sz="900" dirty="0"/>
          </a:p>
        </p:txBody>
      </p:sp>
      <p:sp>
        <p:nvSpPr>
          <p:cNvPr id="23" name="Text 21"/>
          <p:cNvSpPr/>
          <p:nvPr/>
        </p:nvSpPr>
        <p:spPr>
          <a:xfrm>
            <a:off x="932688" y="2889504"/>
            <a:ext cx="5303520" cy="274320"/>
          </a:xfrm>
          <a:prstGeom prst="rect">
            <a:avLst/>
          </a:prstGeom>
          <a:noFill/>
          <a:ln/>
        </p:spPr>
        <p:txBody>
          <a:bodyPr wrap="square" lIns="0" tIns="0" rIns="0" bIns="0" rtlCol="0" anchor="ctr"/>
          <a:lstStyle/>
          <a:p>
            <a:pPr indent="0" marL="0">
              <a:buNone/>
            </a:pPr>
            <a:r>
              <a:rPr lang="en-US" sz="1200" b="1" dirty="0">
                <a:solidFill>
                  <a:srgbClr val="0A2E4A"/>
                </a:solidFill>
                <a:latin typeface="Calibri" pitchFamily="34" charset="0"/>
                <a:ea typeface="Calibri" pitchFamily="34" charset="-122"/>
                <a:cs typeface="Calibri" pitchFamily="34" charset="-120"/>
              </a:rPr>
              <a:t>Room capacity — no overtime allowed</a:t>
            </a:r>
            <a:endParaRPr lang="en-US" sz="1200" dirty="0"/>
          </a:p>
        </p:txBody>
      </p:sp>
      <p:sp>
        <p:nvSpPr>
          <p:cNvPr id="24" name="Shape 22"/>
          <p:cNvSpPr/>
          <p:nvPr/>
        </p:nvSpPr>
        <p:spPr>
          <a:xfrm>
            <a:off x="274320" y="3200400"/>
            <a:ext cx="5394960" cy="320040"/>
          </a:xfrm>
          <a:prstGeom prst="roundRect">
            <a:avLst>
              <a:gd name="adj" fmla="val 20000"/>
            </a:avLst>
          </a:prstGeom>
          <a:solidFill>
            <a:srgbClr val="0A2E4A"/>
          </a:solidFill>
          <a:ln w="10160">
            <a:solidFill>
              <a:srgbClr val="0D7377"/>
            </a:solidFill>
            <a:prstDash val="solid"/>
          </a:ln>
        </p:spPr>
      </p:sp>
      <p:sp>
        <p:nvSpPr>
          <p:cNvPr id="25" name="Text 23"/>
          <p:cNvSpPr/>
          <p:nvPr/>
        </p:nvSpPr>
        <p:spPr>
          <a:xfrm>
            <a:off x="365760" y="3200400"/>
            <a:ext cx="5257800" cy="320040"/>
          </a:xfrm>
          <a:prstGeom prst="rect">
            <a:avLst/>
          </a:prstGeom>
          <a:noFill/>
          <a:ln/>
        </p:spPr>
        <p:txBody>
          <a:bodyPr wrap="square" lIns="0" tIns="0" rIns="0" bIns="0" rtlCol="0" anchor="ctr"/>
          <a:lstStyle/>
          <a:p>
            <a:pPr indent="0" marL="0">
              <a:buNone/>
            </a:pPr>
            <a:r>
              <a:rPr lang="en-US" sz="1000" dirty="0">
                <a:solidFill>
                  <a:srgbClr val="9EEADF"/>
                </a:solidFill>
                <a:latin typeface="Courier New" pitchFamily="34" charset="0"/>
                <a:ea typeface="Courier New" pitchFamily="34" charset="-122"/>
                <a:cs typeface="Courier New" pitchFamily="34" charset="-120"/>
              </a:rPr>
              <a:t>Σ_c  t_c^tot · x_{cdbr}  ≤  k_{dbr}    ∀ d, b, r</a:t>
            </a:r>
            <a:endParaRPr lang="en-US" sz="1000" dirty="0"/>
          </a:p>
        </p:txBody>
      </p:sp>
      <p:sp>
        <p:nvSpPr>
          <p:cNvPr id="26" name="Text 24"/>
          <p:cNvSpPr/>
          <p:nvPr/>
        </p:nvSpPr>
        <p:spPr>
          <a:xfrm>
            <a:off x="5852160" y="2907792"/>
            <a:ext cx="3017520" cy="777240"/>
          </a:xfrm>
          <a:prstGeom prst="rect">
            <a:avLst/>
          </a:prstGeom>
          <a:noFill/>
          <a:ln/>
        </p:spPr>
        <p:txBody>
          <a:bodyPr wrap="square"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t_c^tot = t_c^cir + t_c^lim (surgery + cleaning). Overtime is legally forbidden. MSS determines k_{dbr} from opening hours.</a:t>
            </a:r>
            <a:endParaRPr lang="en-US" sz="1000" dirty="0"/>
          </a:p>
        </p:txBody>
      </p:sp>
      <p:sp>
        <p:nvSpPr>
          <p:cNvPr id="27" name="Shape 25"/>
          <p:cNvSpPr/>
          <p:nvPr/>
        </p:nvSpPr>
        <p:spPr>
          <a:xfrm>
            <a:off x="274320" y="3675888"/>
            <a:ext cx="8595360" cy="0"/>
          </a:xfrm>
          <a:prstGeom prst="line">
            <a:avLst/>
          </a:prstGeom>
          <a:noFill/>
          <a:ln w="6350">
            <a:solidFill>
              <a:srgbClr val="D6E4EC"/>
            </a:solidFill>
            <a:prstDash val="solid"/>
          </a:ln>
        </p:spPr>
      </p:sp>
      <p:sp>
        <p:nvSpPr>
          <p:cNvPr id="28" name="Shape 26"/>
          <p:cNvSpPr/>
          <p:nvPr/>
        </p:nvSpPr>
        <p:spPr>
          <a:xfrm>
            <a:off x="274320" y="3785616"/>
            <a:ext cx="548640" cy="274320"/>
          </a:xfrm>
          <a:prstGeom prst="roundRect">
            <a:avLst>
              <a:gd name="adj" fmla="val 20000"/>
            </a:avLst>
          </a:prstGeom>
          <a:solidFill>
            <a:srgbClr val="C0392B"/>
          </a:solidFill>
          <a:ln w="12700">
            <a:solidFill>
              <a:srgbClr val="C0392B"/>
            </a:solidFill>
            <a:prstDash val="solid"/>
          </a:ln>
        </p:spPr>
      </p:sp>
      <p:sp>
        <p:nvSpPr>
          <p:cNvPr id="29" name="Text 27"/>
          <p:cNvSpPr/>
          <p:nvPr/>
        </p:nvSpPr>
        <p:spPr>
          <a:xfrm>
            <a:off x="274320" y="3785616"/>
            <a:ext cx="54864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5.8–9</a:t>
            </a:r>
            <a:endParaRPr lang="en-US" sz="900" dirty="0"/>
          </a:p>
        </p:txBody>
      </p:sp>
      <p:sp>
        <p:nvSpPr>
          <p:cNvPr id="30" name="Text 28"/>
          <p:cNvSpPr/>
          <p:nvPr/>
        </p:nvSpPr>
        <p:spPr>
          <a:xfrm>
            <a:off x="932688" y="3767328"/>
            <a:ext cx="5303520" cy="274320"/>
          </a:xfrm>
          <a:prstGeom prst="rect">
            <a:avLst/>
          </a:prstGeom>
          <a:noFill/>
          <a:ln/>
        </p:spPr>
        <p:txBody>
          <a:bodyPr wrap="square" lIns="0" tIns="0" rIns="0" bIns="0" rtlCol="0" anchor="ctr"/>
          <a:lstStyle/>
          <a:p>
            <a:pPr indent="0" marL="0">
              <a:buNone/>
            </a:pPr>
            <a:r>
              <a:rPr lang="en-US" sz="1200" b="1" dirty="0">
                <a:solidFill>
                  <a:srgbClr val="0A2E4A"/>
                </a:solidFill>
                <a:latin typeface="Calibri" pitchFamily="34" charset="0"/>
                <a:ea typeface="Calibri" pitchFamily="34" charset="-122"/>
                <a:cs typeface="Calibri" pitchFamily="34" charset="-120"/>
              </a:rPr>
              <a:t>Surgeon daily and weekly time limits</a:t>
            </a:r>
            <a:endParaRPr lang="en-US" sz="1200" dirty="0"/>
          </a:p>
        </p:txBody>
      </p:sp>
      <p:sp>
        <p:nvSpPr>
          <p:cNvPr id="31" name="Shape 29"/>
          <p:cNvSpPr/>
          <p:nvPr/>
        </p:nvSpPr>
        <p:spPr>
          <a:xfrm>
            <a:off x="274320" y="4078224"/>
            <a:ext cx="5394960" cy="475488"/>
          </a:xfrm>
          <a:prstGeom prst="roundRect">
            <a:avLst>
              <a:gd name="adj" fmla="val 13462"/>
            </a:avLst>
          </a:prstGeom>
          <a:solidFill>
            <a:srgbClr val="0A2E4A"/>
          </a:solidFill>
          <a:ln w="10160">
            <a:solidFill>
              <a:srgbClr val="0D7377"/>
            </a:solidFill>
            <a:prstDash val="solid"/>
          </a:ln>
        </p:spPr>
      </p:sp>
      <p:sp>
        <p:nvSpPr>
          <p:cNvPr id="32" name="Text 30"/>
          <p:cNvSpPr/>
          <p:nvPr/>
        </p:nvSpPr>
        <p:spPr>
          <a:xfrm>
            <a:off x="365760" y="4078224"/>
            <a:ext cx="5257800" cy="475488"/>
          </a:xfrm>
          <a:prstGeom prst="rect">
            <a:avLst/>
          </a:prstGeom>
          <a:noFill/>
          <a:ln/>
        </p:spPr>
        <p:txBody>
          <a:bodyPr wrap="square" lIns="0" tIns="0" rIns="0" bIns="0" rtlCol="0" anchor="ctr"/>
          <a:lstStyle/>
          <a:p>
            <a:pPr indent="0" marL="0">
              <a:buNone/>
            </a:pPr>
            <a:r>
              <a:rPr lang="en-US" sz="1000" dirty="0">
                <a:solidFill>
                  <a:srgbClr val="9EEADF"/>
                </a:solidFill>
                <a:latin typeface="Courier New" pitchFamily="34" charset="0"/>
                <a:ea typeface="Courier New" pitchFamily="34" charset="-122"/>
                <a:cs typeface="Courier New" pitchFamily="34" charset="-120"/>
              </a:rPr>
              <a:t>Σ_{c:h_c=h} Σ_{b,r} t_c^cir · x_{cdbr} ≤ k_{hd}^dia   ∀ h, d</a:t>
            </a:r>
            <a:endParaRPr lang="en-US" sz="1000" dirty="0"/>
          </a:p>
          <a:p>
            <a:pPr indent="0" marL="0">
              <a:buNone/>
            </a:pPr>
            <a:r>
              <a:rPr lang="en-US" sz="1000" dirty="0">
                <a:solidFill>
                  <a:srgbClr val="9EEADF"/>
                </a:solidFill>
                <a:latin typeface="Courier New" pitchFamily="34" charset="0"/>
                <a:ea typeface="Courier New" pitchFamily="34" charset="-122"/>
                <a:cs typeface="Courier New" pitchFamily="34" charset="-120"/>
              </a:rPr>
              <a:t>Σ_{c:h_c=h} Σ_{d,b,r} t_c^cir · x_{cdbr} ≤ k_h^sem   ∀ h</a:t>
            </a:r>
            <a:endParaRPr lang="en-US" sz="1000" dirty="0"/>
          </a:p>
        </p:txBody>
      </p:sp>
      <p:sp>
        <p:nvSpPr>
          <p:cNvPr id="33" name="Text 31"/>
          <p:cNvSpPr/>
          <p:nvPr/>
        </p:nvSpPr>
        <p:spPr>
          <a:xfrm>
            <a:off x="5852160" y="3785616"/>
            <a:ext cx="3017520" cy="777240"/>
          </a:xfrm>
          <a:prstGeom prst="rect">
            <a:avLst/>
          </a:prstGeom>
          <a:noFill/>
          <a:ln/>
        </p:spPr>
        <p:txBody>
          <a:bodyPr wrap="square"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k_{hd}^dia = min(limit, max room cap) prevents double-booking (surgeon in two rooms). One elegant constraint handles both overwork and overlap.</a:t>
            </a:r>
            <a:endParaRPr lang="en-US" sz="1000" dirty="0"/>
          </a:p>
        </p:txBody>
      </p:sp>
      <p:sp>
        <p:nvSpPr>
          <p:cNvPr id="34" name="Shape 32"/>
          <p:cNvSpPr/>
          <p:nvPr/>
        </p:nvSpPr>
        <p:spPr>
          <a:xfrm>
            <a:off x="0" y="4800600"/>
            <a:ext cx="9144000" cy="342900"/>
          </a:xfrm>
          <a:prstGeom prst="rect">
            <a:avLst/>
          </a:prstGeom>
          <a:solidFill>
            <a:srgbClr val="0A2E4A"/>
          </a:solidFill>
          <a:ln w="12700">
            <a:solidFill>
              <a:srgbClr val="0A2E4A"/>
            </a:solidFill>
            <a:prstDash val="solid"/>
          </a:ln>
        </p:spPr>
      </p:sp>
      <p:sp>
        <p:nvSpPr>
          <p:cNvPr id="35" name="Text 33"/>
          <p:cNvSpPr/>
          <p:nvPr/>
        </p:nvSpPr>
        <p:spPr>
          <a:xfrm>
            <a:off x="182880" y="4818888"/>
            <a:ext cx="6400800" cy="27432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Elective Surgery Scheduling — MILP  ·  SNS/SIGIC Portugal  ·  github.com/</a:t>
            </a:r>
            <a:endParaRPr lang="en-US" sz="800" dirty="0"/>
          </a:p>
        </p:txBody>
      </p:sp>
      <p:sp>
        <p:nvSpPr>
          <p:cNvPr id="36" name="Text 34"/>
          <p:cNvSpPr/>
          <p:nvPr/>
        </p:nvSpPr>
        <p:spPr>
          <a:xfrm>
            <a:off x="7772400" y="4818888"/>
            <a:ext cx="1188720" cy="274320"/>
          </a:xfrm>
          <a:prstGeom prst="rect">
            <a:avLst/>
          </a:prstGeom>
          <a:noFill/>
          <a:ln/>
        </p:spPr>
        <p:txBody>
          <a:bodyPr wrap="square" lIns="0" tIns="0" rIns="0" bIns="0" rtlCol="0" anchor="ctr"/>
          <a:lstStyle/>
          <a:p>
            <a:pPr algn="r" indent="0" marL="0">
              <a:buNone/>
            </a:pPr>
            <a:r>
              <a:rPr lang="en-US" sz="800" dirty="0">
                <a:solidFill>
                  <a:srgbClr val="8FA3B1"/>
                </a:solidFill>
                <a:latin typeface="Calibri" pitchFamily="34" charset="0"/>
                <a:ea typeface="Calibri" pitchFamily="34" charset="-122"/>
                <a:cs typeface="Calibri" pitchFamily="34" charset="-120"/>
              </a:rPr>
              <a:t>7 / 20</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E4A"/>
          </a:solidFill>
          <a:ln w="12700">
            <a:solidFill>
              <a:srgbClr val="0A2E4A"/>
            </a:solidFill>
            <a:prstDash val="solid"/>
          </a:ln>
        </p:spPr>
      </p:sp>
      <p:sp>
        <p:nvSpPr>
          <p:cNvPr id="3" name="Shape 1"/>
          <p:cNvSpPr/>
          <p:nvPr/>
        </p:nvSpPr>
        <p:spPr>
          <a:xfrm>
            <a:off x="0" y="1005840"/>
            <a:ext cx="9144000" cy="54864"/>
          </a:xfrm>
          <a:prstGeom prst="rect">
            <a:avLst/>
          </a:prstGeom>
          <a:solidFill>
            <a:srgbClr val="0D7377"/>
          </a:solidFill>
          <a:ln w="12700">
            <a:solidFill>
              <a:srgbClr val="0D7377"/>
            </a:solidFill>
            <a:prstDash val="solid"/>
          </a:ln>
        </p:spPr>
      </p:sp>
      <p:sp>
        <p:nvSpPr>
          <p:cNvPr id="4" name="Shape 2"/>
          <p:cNvSpPr/>
          <p:nvPr/>
        </p:nvSpPr>
        <p:spPr>
          <a:xfrm>
            <a:off x="7772400" y="0"/>
            <a:ext cx="1371600" cy="1005840"/>
          </a:xfrm>
          <a:prstGeom prst="rect">
            <a:avLst/>
          </a:prstGeom>
          <a:solidFill>
            <a:srgbClr val="0D7377"/>
          </a:solidFill>
          <a:ln w="12700">
            <a:solidFill>
              <a:srgbClr val="0D7377"/>
            </a:solidFill>
            <a:prstDash val="solid"/>
          </a:ln>
        </p:spPr>
      </p:sp>
      <p:sp>
        <p:nvSpPr>
          <p:cNvPr id="5" name="Text 3"/>
          <p:cNvSpPr/>
          <p:nvPr/>
        </p:nvSpPr>
        <p:spPr>
          <a:xfrm>
            <a:off x="320040" y="73152"/>
            <a:ext cx="685800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Objective Function (5.12)</a:t>
            </a:r>
            <a:endParaRPr lang="en-US" sz="2000" dirty="0"/>
          </a:p>
        </p:txBody>
      </p:sp>
      <p:sp>
        <p:nvSpPr>
          <p:cNvPr id="6" name="Text 4"/>
          <p:cNvSpPr/>
          <p:nvPr/>
        </p:nvSpPr>
        <p:spPr>
          <a:xfrm>
            <a:off x="320040" y="566928"/>
            <a:ext cx="8229600" cy="347472"/>
          </a:xfrm>
          <a:prstGeom prst="rect">
            <a:avLst/>
          </a:prstGeom>
          <a:noFill/>
          <a:ln/>
        </p:spPr>
        <p:txBody>
          <a:bodyPr wrap="square" lIns="0" tIns="0" rIns="0" bIns="0" rtlCol="0" anchor="ctr"/>
          <a:lstStyle/>
          <a:p>
            <a:pPr indent="0" marL="0">
              <a:buNone/>
            </a:pPr>
            <a:r>
              <a:rPr lang="en-US" sz="1150" i="1" dirty="0">
                <a:solidFill>
                  <a:srgbClr val="9EEADF"/>
                </a:solidFill>
                <a:latin typeface="Calibri" pitchFamily="34" charset="0"/>
                <a:ea typeface="Calibri" pitchFamily="34" charset="-122"/>
                <a:cs typeface="Calibri" pitchFamily="34" charset="-120"/>
              </a:rPr>
              <a:t>Three-term weighted tardiness — captures SIGIC priority + antiquity</a:t>
            </a:r>
            <a:endParaRPr lang="en-US" sz="1150" dirty="0"/>
          </a:p>
        </p:txBody>
      </p:sp>
      <p:sp>
        <p:nvSpPr>
          <p:cNvPr id="7" name="Shape 5"/>
          <p:cNvSpPr/>
          <p:nvPr/>
        </p:nvSpPr>
        <p:spPr>
          <a:xfrm>
            <a:off x="274320" y="1115568"/>
            <a:ext cx="8595360" cy="1874520"/>
          </a:xfrm>
          <a:prstGeom prst="roundRect">
            <a:avLst>
              <a:gd name="adj" fmla="val 4878"/>
            </a:avLst>
          </a:prstGeom>
          <a:solidFill>
            <a:srgbClr val="0A2E4A"/>
          </a:solidFill>
          <a:ln w="12700">
            <a:solidFill>
              <a:srgbClr val="0D7377"/>
            </a:solidFill>
            <a:prstDash val="solid"/>
          </a:ln>
        </p:spPr>
      </p:sp>
      <p:sp>
        <p:nvSpPr>
          <p:cNvPr id="8" name="Text 6"/>
          <p:cNvSpPr/>
          <p:nvPr/>
        </p:nvSpPr>
        <p:spPr>
          <a:xfrm>
            <a:off x="457200" y="1188720"/>
            <a:ext cx="457200" cy="347472"/>
          </a:xfrm>
          <a:prstGeom prst="rect">
            <a:avLst/>
          </a:prstGeom>
          <a:noFill/>
          <a:ln/>
        </p:spPr>
        <p:txBody>
          <a:bodyPr wrap="square" lIns="0" tIns="0" rIns="0" bIns="0" rtlCol="0" anchor="ctr"/>
          <a:lstStyle/>
          <a:p>
            <a:pPr indent="0" marL="0">
              <a:buNone/>
            </a:pPr>
            <a:r>
              <a:rPr lang="en-US" sz="1400" b="1" dirty="0">
                <a:solidFill>
                  <a:srgbClr val="9EEADF"/>
                </a:solidFill>
                <a:latin typeface="Calibri" pitchFamily="34" charset="0"/>
                <a:ea typeface="Calibri" pitchFamily="34" charset="-122"/>
                <a:cs typeface="Calibri" pitchFamily="34" charset="-120"/>
              </a:rPr>
              <a:t>Min</a:t>
            </a:r>
            <a:endParaRPr lang="en-US" sz="1400" dirty="0"/>
          </a:p>
        </p:txBody>
      </p:sp>
      <p:sp>
        <p:nvSpPr>
          <p:cNvPr id="9" name="Text 7"/>
          <p:cNvSpPr/>
          <p:nvPr/>
        </p:nvSpPr>
        <p:spPr>
          <a:xfrm>
            <a:off x="960120" y="1188720"/>
            <a:ext cx="7772400" cy="347472"/>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Σ_{c: dd_c≥0}  Σ_d Σ_b Σ_r  [ (dd_c − d₁) + d ]  ·  x_{cdbr}</a:t>
            </a:r>
            <a:endParaRPr lang="en-US" sz="1150" dirty="0"/>
          </a:p>
        </p:txBody>
      </p:sp>
      <p:sp>
        <p:nvSpPr>
          <p:cNvPr id="10" name="Text 8"/>
          <p:cNvSpPr/>
          <p:nvPr/>
        </p:nvSpPr>
        <p:spPr>
          <a:xfrm>
            <a:off x="960120" y="1572768"/>
            <a:ext cx="7772400" cy="347472"/>
          </a:xfrm>
          <a:prstGeom prst="rect">
            <a:avLst/>
          </a:prstGeom>
          <a:noFill/>
          <a:ln/>
        </p:spPr>
        <p:txBody>
          <a:bodyPr wrap="square" lIns="0" tIns="0" rIns="0" bIns="0" rtlCol="0" anchor="ctr"/>
          <a:lstStyle/>
          <a:p>
            <a:pPr indent="0" marL="0">
              <a:buNone/>
            </a:pPr>
            <a:r>
              <a:rPr lang="en-US" sz="1150" dirty="0">
                <a:solidFill>
                  <a:srgbClr val="9EEADF"/>
                </a:solidFill>
                <a:latin typeface="Courier New" pitchFamily="34" charset="0"/>
                <a:ea typeface="Courier New" pitchFamily="34" charset="-122"/>
                <a:cs typeface="Courier New" pitchFamily="34" charset="-120"/>
              </a:rPr>
              <a:t>+  Σ_{c: dd_c&lt;0}  Σ_d Σ_b Σ_r  [ (dd_c − d₁) + α·d ]  ·  x_{cdbr}</a:t>
            </a:r>
            <a:endParaRPr lang="en-US" sz="1150" dirty="0"/>
          </a:p>
        </p:txBody>
      </p:sp>
      <p:sp>
        <p:nvSpPr>
          <p:cNvPr id="11" name="Text 9"/>
          <p:cNvSpPr/>
          <p:nvPr/>
        </p:nvSpPr>
        <p:spPr>
          <a:xfrm>
            <a:off x="960120" y="1956816"/>
            <a:ext cx="7772400" cy="347472"/>
          </a:xfrm>
          <a:prstGeom prst="rect">
            <a:avLst/>
          </a:prstGeom>
          <a:noFill/>
          <a:ln/>
        </p:spPr>
        <p:txBody>
          <a:bodyPr wrap="square" lIns="0" tIns="0" rIns="0" bIns="0" rtlCol="0" anchor="ctr"/>
          <a:lstStyle/>
          <a:p>
            <a:pPr indent="0" marL="0">
              <a:buNone/>
            </a:pPr>
            <a:r>
              <a:rPr lang="en-US" sz="1150" dirty="0">
                <a:solidFill>
                  <a:srgbClr val="E67E22"/>
                </a:solidFill>
                <a:latin typeface="Courier New" pitchFamily="34" charset="0"/>
                <a:ea typeface="Courier New" pitchFamily="34" charset="-122"/>
                <a:cs typeface="Courier New" pitchFamily="34" charset="-120"/>
              </a:rPr>
              <a:t>+  Σ_c  p_c · w_c · z_c</a:t>
            </a:r>
            <a:endParaRPr lang="en-US" sz="1150" dirty="0"/>
          </a:p>
        </p:txBody>
      </p:sp>
      <p:sp>
        <p:nvSpPr>
          <p:cNvPr id="12" name="Text 10"/>
          <p:cNvSpPr/>
          <p:nvPr/>
        </p:nvSpPr>
        <p:spPr>
          <a:xfrm>
            <a:off x="914400" y="3063240"/>
            <a:ext cx="8046720" cy="237744"/>
          </a:xfrm>
          <a:prstGeom prst="rect">
            <a:avLst/>
          </a:prstGeom>
          <a:noFill/>
          <a:ln/>
        </p:spPr>
        <p:txBody>
          <a:bodyPr wrap="square" lIns="0" tIns="0" rIns="0" bIns="0" rtlCol="0" anchor="ctr"/>
          <a:lstStyle/>
          <a:p>
            <a:pPr indent="0" marL="0">
              <a:buNone/>
            </a:pPr>
            <a:r>
              <a:rPr lang="en-US" sz="1000" i="1" dirty="0">
                <a:solidFill>
                  <a:srgbClr val="0D7377"/>
                </a:solidFill>
                <a:latin typeface="Calibri" pitchFamily="34" charset="0"/>
                <a:ea typeface="Calibri" pitchFamily="34" charset="-122"/>
                <a:cs typeface="Calibri" pitchFamily="34" charset="-120"/>
              </a:rPr>
              <a:t>← Term 1 (on-time cases): prefer cases with less time remaining; prefer earlier days within the week</a:t>
            </a:r>
            <a:endParaRPr lang="en-US" sz="1000" dirty="0"/>
          </a:p>
        </p:txBody>
      </p:sp>
      <p:sp>
        <p:nvSpPr>
          <p:cNvPr id="13" name="Text 11"/>
          <p:cNvSpPr/>
          <p:nvPr/>
        </p:nvSpPr>
        <p:spPr>
          <a:xfrm>
            <a:off x="914400" y="3310128"/>
            <a:ext cx="8046720" cy="237744"/>
          </a:xfrm>
          <a:prstGeom prst="rect">
            <a:avLst/>
          </a:prstGeom>
          <a:noFill/>
          <a:ln/>
        </p:spPr>
        <p:txBody>
          <a:bodyPr wrap="square" lIns="0" tIns="0" rIns="0" bIns="0" rtlCol="0" anchor="ctr"/>
          <a:lstStyle/>
          <a:p>
            <a:pPr indent="0" marL="0">
              <a:buNone/>
            </a:pPr>
            <a:r>
              <a:rPr lang="en-US" sz="1000" i="1" dirty="0">
                <a:solidFill>
                  <a:srgbClr val="14A085"/>
                </a:solidFill>
                <a:latin typeface="Calibri" pitchFamily="34" charset="0"/>
                <a:ea typeface="Calibri" pitchFamily="34" charset="-122"/>
                <a:cs typeface="Calibri" pitchFamily="34" charset="-120"/>
              </a:rPr>
              <a:t>← Term 2 (overdue cases): multiply day index by α&gt;1 — makes later days in the week more expensive → urgentises scheduling</a:t>
            </a:r>
            <a:endParaRPr lang="en-US" sz="1000" dirty="0"/>
          </a:p>
        </p:txBody>
      </p:sp>
      <p:sp>
        <p:nvSpPr>
          <p:cNvPr id="14" name="Text 12"/>
          <p:cNvSpPr/>
          <p:nvPr/>
        </p:nvSpPr>
        <p:spPr>
          <a:xfrm>
            <a:off x="914400" y="3557016"/>
            <a:ext cx="8046720" cy="237744"/>
          </a:xfrm>
          <a:prstGeom prst="rect">
            <a:avLst/>
          </a:prstGeom>
          <a:noFill/>
          <a:ln/>
        </p:spPr>
        <p:txBody>
          <a:bodyPr wrap="square" lIns="0" tIns="0" rIns="0" bIns="0" rtlCol="0" anchor="ctr"/>
          <a:lstStyle/>
          <a:p>
            <a:pPr indent="0" marL="0">
              <a:buNone/>
            </a:pPr>
            <a:r>
              <a:rPr lang="en-US" sz="1000" i="1" dirty="0">
                <a:solidFill>
                  <a:srgbClr val="E67E22"/>
                </a:solidFill>
                <a:latin typeface="Calibri" pitchFamily="34" charset="0"/>
                <a:ea typeface="Calibri" pitchFamily="34" charset="-122"/>
                <a:cs typeface="Calibri" pitchFamily="34" charset="-120"/>
              </a:rPr>
              <a:t>← Term 3 (non-scheduling penalty): w_c &gt;&gt; Terms 1+2 coefficients → model always prefers scheduling over penalising when feasible</a:t>
            </a:r>
            <a:endParaRPr lang="en-US" sz="1000" dirty="0"/>
          </a:p>
        </p:txBody>
      </p:sp>
      <p:sp>
        <p:nvSpPr>
          <p:cNvPr id="15" name="Shape 13"/>
          <p:cNvSpPr/>
          <p:nvPr/>
        </p:nvSpPr>
        <p:spPr>
          <a:xfrm>
            <a:off x="274320" y="3822192"/>
            <a:ext cx="8595360" cy="804672"/>
          </a:xfrm>
          <a:prstGeom prst="roundRect">
            <a:avLst>
              <a:gd name="adj" fmla="val 9091"/>
            </a:avLst>
          </a:prstGeom>
          <a:solidFill>
            <a:srgbClr val="E8F8F5"/>
          </a:solidFill>
          <a:ln/>
          <a:effectLst>
            <a:outerShdw sx="100000" sy="100000" kx="0" ky="0" algn="bl" rotWithShape="0" blurRad="63500" dist="25400" dir="2700000">
              <a:srgbClr val="000000">
                <a:alpha val="10000"/>
              </a:srgbClr>
            </a:outerShdw>
          </a:effectLst>
        </p:spPr>
      </p:sp>
      <p:sp>
        <p:nvSpPr>
          <p:cNvPr id="16" name="Text 14"/>
          <p:cNvSpPr/>
          <p:nvPr/>
        </p:nvSpPr>
        <p:spPr>
          <a:xfrm>
            <a:off x="457200" y="3913632"/>
            <a:ext cx="8229600" cy="621792"/>
          </a:xfrm>
          <a:prstGeom prst="rect">
            <a:avLst/>
          </a:prstGeom>
          <a:noFill/>
          <a:ln/>
        </p:spPr>
        <p:txBody>
          <a:bodyPr wrap="square" rtlCol="0" anchor="ctr"/>
          <a:lstStyle/>
          <a:p>
            <a:pPr indent="0" marL="0">
              <a:buNone/>
            </a:pPr>
            <a:r>
              <a:rPr lang="en-US" sz="1100" dirty="0">
                <a:solidFill>
                  <a:srgbClr val="0A2E4A"/>
                </a:solidFill>
                <a:latin typeface="Calibri" pitchFamily="34" charset="0"/>
                <a:ea typeface="Calibri" pitchFamily="34" charset="-122"/>
                <a:cs typeface="Calibri" pitchFamily="34" charset="-120"/>
              </a:rPr>
              <a:t>w_c = PenaltyFactor(p_c, dd_c)  +  1.2·max_c(dd_c)     ·     Multipliers (Table 5.1):  P1→×1  ·  P2→×4.5  ·  P3→×18  ·  P4→×90</a:t>
            </a:r>
            <a:endParaRPr lang="en-US" sz="1100" dirty="0"/>
          </a:p>
        </p:txBody>
      </p:sp>
      <p:sp>
        <p:nvSpPr>
          <p:cNvPr id="17" name="Shape 15"/>
          <p:cNvSpPr/>
          <p:nvPr/>
        </p:nvSpPr>
        <p:spPr>
          <a:xfrm>
            <a:off x="0" y="4800600"/>
            <a:ext cx="9144000" cy="342900"/>
          </a:xfrm>
          <a:prstGeom prst="rect">
            <a:avLst/>
          </a:prstGeom>
          <a:solidFill>
            <a:srgbClr val="0A2E4A"/>
          </a:solidFill>
          <a:ln w="12700">
            <a:solidFill>
              <a:srgbClr val="0A2E4A"/>
            </a:solidFill>
            <a:prstDash val="solid"/>
          </a:ln>
        </p:spPr>
      </p:sp>
      <p:sp>
        <p:nvSpPr>
          <p:cNvPr id="18" name="Text 16"/>
          <p:cNvSpPr/>
          <p:nvPr/>
        </p:nvSpPr>
        <p:spPr>
          <a:xfrm>
            <a:off x="182880" y="4818888"/>
            <a:ext cx="6400800" cy="27432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Elective Surgery Scheduling — MILP  ·  SNS/SIGIC Portugal  ·  github.com/</a:t>
            </a:r>
            <a:endParaRPr lang="en-US" sz="800" dirty="0"/>
          </a:p>
        </p:txBody>
      </p:sp>
      <p:sp>
        <p:nvSpPr>
          <p:cNvPr id="19" name="Text 17"/>
          <p:cNvSpPr/>
          <p:nvPr/>
        </p:nvSpPr>
        <p:spPr>
          <a:xfrm>
            <a:off x="7772400" y="4818888"/>
            <a:ext cx="1188720" cy="274320"/>
          </a:xfrm>
          <a:prstGeom prst="rect">
            <a:avLst/>
          </a:prstGeom>
          <a:noFill/>
          <a:ln/>
        </p:spPr>
        <p:txBody>
          <a:bodyPr wrap="square" lIns="0" tIns="0" rIns="0" bIns="0" rtlCol="0" anchor="ctr"/>
          <a:lstStyle/>
          <a:p>
            <a:pPr algn="r" indent="0" marL="0">
              <a:buNone/>
            </a:pPr>
            <a:r>
              <a:rPr lang="en-US" sz="800" dirty="0">
                <a:solidFill>
                  <a:srgbClr val="8FA3B1"/>
                </a:solidFill>
                <a:latin typeface="Calibri" pitchFamily="34" charset="0"/>
                <a:ea typeface="Calibri" pitchFamily="34" charset="-122"/>
                <a:cs typeface="Calibri" pitchFamily="34" charset="-120"/>
              </a:rPr>
              <a:t>8 / 20</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E4A"/>
          </a:solidFill>
          <a:ln w="12700">
            <a:solidFill>
              <a:srgbClr val="0A2E4A"/>
            </a:solidFill>
            <a:prstDash val="solid"/>
          </a:ln>
        </p:spPr>
      </p:sp>
      <p:sp>
        <p:nvSpPr>
          <p:cNvPr id="3" name="Shape 1"/>
          <p:cNvSpPr/>
          <p:nvPr/>
        </p:nvSpPr>
        <p:spPr>
          <a:xfrm>
            <a:off x="0" y="1005840"/>
            <a:ext cx="9144000" cy="54864"/>
          </a:xfrm>
          <a:prstGeom prst="rect">
            <a:avLst/>
          </a:prstGeom>
          <a:solidFill>
            <a:srgbClr val="0D7377"/>
          </a:solidFill>
          <a:ln w="12700">
            <a:solidFill>
              <a:srgbClr val="0D7377"/>
            </a:solidFill>
            <a:prstDash val="solid"/>
          </a:ln>
        </p:spPr>
      </p:sp>
      <p:sp>
        <p:nvSpPr>
          <p:cNvPr id="4" name="Shape 2"/>
          <p:cNvSpPr/>
          <p:nvPr/>
        </p:nvSpPr>
        <p:spPr>
          <a:xfrm>
            <a:off x="7772400" y="0"/>
            <a:ext cx="1371600" cy="1005840"/>
          </a:xfrm>
          <a:prstGeom prst="rect">
            <a:avLst/>
          </a:prstGeom>
          <a:solidFill>
            <a:srgbClr val="0D7377"/>
          </a:solidFill>
          <a:ln w="12700">
            <a:solidFill>
              <a:srgbClr val="0D7377"/>
            </a:solidFill>
            <a:prstDash val="solid"/>
          </a:ln>
        </p:spPr>
      </p:sp>
      <p:sp>
        <p:nvSpPr>
          <p:cNvPr id="5" name="Text 3"/>
          <p:cNvSpPr/>
          <p:nvPr/>
        </p:nvSpPr>
        <p:spPr>
          <a:xfrm>
            <a:off x="320040" y="73152"/>
            <a:ext cx="685800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Assumptions &amp; Modelling Choices</a:t>
            </a:r>
            <a:endParaRPr lang="en-US" sz="2000" dirty="0"/>
          </a:p>
        </p:txBody>
      </p:sp>
      <p:sp>
        <p:nvSpPr>
          <p:cNvPr id="6" name="Text 4"/>
          <p:cNvSpPr/>
          <p:nvPr/>
        </p:nvSpPr>
        <p:spPr>
          <a:xfrm>
            <a:off x="320040" y="566928"/>
            <a:ext cx="8229600" cy="347472"/>
          </a:xfrm>
          <a:prstGeom prst="rect">
            <a:avLst/>
          </a:prstGeom>
          <a:noFill/>
          <a:ln/>
        </p:spPr>
        <p:txBody>
          <a:bodyPr wrap="square" lIns="0" tIns="0" rIns="0" bIns="0" rtlCol="0" anchor="ctr"/>
          <a:lstStyle/>
          <a:p>
            <a:pPr indent="0" marL="0">
              <a:buNone/>
            </a:pPr>
            <a:r>
              <a:rPr lang="en-US" sz="1150" i="1" dirty="0">
                <a:solidFill>
                  <a:srgbClr val="9EEADF"/>
                </a:solidFill>
                <a:latin typeface="Calibri" pitchFamily="34" charset="0"/>
                <a:ea typeface="Calibri" pitchFamily="34" charset="-122"/>
                <a:cs typeface="Calibri" pitchFamily="34" charset="-120"/>
              </a:rPr>
              <a:t>Every simplification justified by data or confirmed by hospital staff</a:t>
            </a:r>
            <a:endParaRPr lang="en-US" sz="1150" dirty="0"/>
          </a:p>
        </p:txBody>
      </p:sp>
      <p:sp>
        <p:nvSpPr>
          <p:cNvPr id="7" name="Text 5"/>
          <p:cNvSpPr/>
          <p:nvPr/>
        </p:nvSpPr>
        <p:spPr>
          <a:xfrm>
            <a:off x="274320" y="1115568"/>
            <a:ext cx="4114800" cy="274320"/>
          </a:xfrm>
          <a:prstGeom prst="rect">
            <a:avLst/>
          </a:prstGeom>
          <a:noFill/>
          <a:ln/>
        </p:spPr>
        <p:txBody>
          <a:bodyPr wrap="square" lIns="0" tIns="0" rIns="0" bIns="0" rtlCol="0" anchor="ctr"/>
          <a:lstStyle/>
          <a:p>
            <a:pPr indent="0" marL="0">
              <a:buNone/>
            </a:pPr>
            <a:r>
              <a:rPr lang="en-US" sz="1300" b="1" dirty="0">
                <a:solidFill>
                  <a:srgbClr val="0D7377"/>
                </a:solidFill>
                <a:latin typeface="Calibri" pitchFamily="34" charset="0"/>
                <a:ea typeface="Calibri" pitchFamily="34" charset="-122"/>
                <a:cs typeface="Calibri" pitchFamily="34" charset="-120"/>
              </a:rPr>
              <a:t>Included</a:t>
            </a:r>
            <a:endParaRPr lang="en-US" sz="1300" dirty="0"/>
          </a:p>
        </p:txBody>
      </p:sp>
      <p:sp>
        <p:nvSpPr>
          <p:cNvPr id="8" name="Shape 6"/>
          <p:cNvSpPr/>
          <p:nvPr/>
        </p:nvSpPr>
        <p:spPr>
          <a:xfrm>
            <a:off x="274320" y="1389888"/>
            <a:ext cx="4114800" cy="3273552"/>
          </a:xfrm>
          <a:prstGeom prst="roundRect">
            <a:avLst>
              <a:gd name="adj" fmla="val 2235"/>
            </a:avLst>
          </a:prstGeom>
          <a:solidFill>
            <a:srgbClr val="FFFFFF"/>
          </a:solidFill>
          <a:ln/>
          <a:effectLst>
            <a:outerShdw sx="100000" sy="100000" kx="0" ky="0" algn="bl" rotWithShape="0" blurRad="63500" dist="25400" dir="2700000">
              <a:srgbClr val="000000">
                <a:alpha val="10000"/>
              </a:srgbClr>
            </a:outerShdw>
          </a:effectLst>
        </p:spPr>
      </p:sp>
      <p:sp>
        <p:nvSpPr>
          <p:cNvPr id="9" name="Text 7"/>
          <p:cNvSpPr/>
          <p:nvPr/>
        </p:nvSpPr>
        <p:spPr>
          <a:xfrm>
            <a:off x="411480" y="1444752"/>
            <a:ext cx="3840480" cy="3154680"/>
          </a:xfrm>
          <a:prstGeom prst="rect">
            <a:avLst/>
          </a:prstGeom>
          <a:noFill/>
          <a:ln/>
        </p:spPr>
        <p:txBody>
          <a:bodyPr wrap="square" rtlCol="0" anchor="ctr"/>
          <a:lstStyle/>
          <a:p>
            <a:pPr marL="342900" indent="-342900">
              <a:buSzPct val="100000"/>
              <a:buChar char="•"/>
            </a:pPr>
            <a:r>
              <a:rPr lang="en-US" sz="1050" dirty="0">
                <a:solidFill>
                  <a:srgbClr val="1A2E3B"/>
                </a:solidFill>
                <a:latin typeface="Calibri" pitchFamily="34" charset="0"/>
                <a:ea typeface="Calibri" pitchFamily="34" charset="-122"/>
                <a:cs typeface="Calibri" pitchFamily="34" charset="-120"/>
              </a:rPr>
              <a:t>SIGIC priority + antiquity in objective (legally mandated)</a:t>
            </a:r>
            <a:endParaRPr lang="en-US" sz="1050" dirty="0"/>
          </a:p>
          <a:p>
            <a:pPr marL="342900" indent="-342900">
              <a:buSzPct val="100000"/>
              <a:buChar char="•"/>
            </a:pPr>
            <a:r>
              <a:rPr lang="en-US" sz="1050" dirty="0">
                <a:solidFill>
                  <a:srgbClr val="1A2E3B"/>
                </a:solidFill>
                <a:latin typeface="Calibri" pitchFamily="34" charset="0"/>
                <a:ea typeface="Calibri" pitchFamily="34" charset="-122"/>
                <a:cs typeface="Calibri" pitchFamily="34" charset="-120"/>
              </a:rPr>
              <a:t>Deterministic surgery durations (CID-9-MC medians, 3yr history)</a:t>
            </a:r>
            <a:endParaRPr lang="en-US" sz="1050" dirty="0"/>
          </a:p>
          <a:p>
            <a:pPr marL="342900" indent="-342900">
              <a:buSzPct val="100000"/>
              <a:buChar char="•"/>
            </a:pPr>
            <a:r>
              <a:rPr lang="en-US" sz="1050" dirty="0">
                <a:solidFill>
                  <a:srgbClr val="1A2E3B"/>
                </a:solidFill>
                <a:latin typeface="Calibri" pitchFamily="34" charset="0"/>
                <a:ea typeface="Calibri" pitchFamily="34" charset="-122"/>
                <a:cs typeface="Calibri" pitchFamily="34" charset="-120"/>
              </a:rPr>
              <a:t>Surgeon proposer = surgeon executor (confirmed in ORL+CVA interviews)</a:t>
            </a:r>
            <a:endParaRPr lang="en-US" sz="1050" dirty="0"/>
          </a:p>
          <a:p>
            <a:pPr marL="342900" indent="-342900">
              <a:buSzPct val="100000"/>
              <a:buChar char="•"/>
            </a:pPr>
            <a:r>
              <a:rPr lang="en-US" sz="1050" dirty="0">
                <a:solidFill>
                  <a:srgbClr val="1A2E3B"/>
                </a:solidFill>
                <a:latin typeface="Calibri" pitchFamily="34" charset="0"/>
                <a:ea typeface="Calibri" pitchFamily="34" charset="-122"/>
                <a:cs typeface="Calibri" pitchFamily="34" charset="-120"/>
              </a:rPr>
              <a:t>MSS pre-assigns rooms to services (equipment is specialty-specific)</a:t>
            </a:r>
            <a:endParaRPr lang="en-US" sz="1050" dirty="0"/>
          </a:p>
          <a:p>
            <a:pPr marL="342900" indent="-342900">
              <a:buSzPct val="100000"/>
              <a:buChar char="•"/>
            </a:pPr>
            <a:r>
              <a:rPr lang="en-US" sz="1050" dirty="0">
                <a:solidFill>
                  <a:srgbClr val="1A2E3B"/>
                </a:solidFill>
                <a:latin typeface="Calibri" pitchFamily="34" charset="0"/>
                <a:ea typeface="Calibri" pitchFamily="34" charset="-122"/>
                <a:cs typeface="Calibri" pitchFamily="34" charset="-120"/>
              </a:rPr>
              <a:t>No overtime: room capacity ≤ opening hours (labour law)</a:t>
            </a:r>
            <a:endParaRPr lang="en-US" sz="1050" dirty="0"/>
          </a:p>
          <a:p>
            <a:pPr marL="342900" indent="-342900">
              <a:buSzPct val="100000"/>
              <a:buChar char="•"/>
            </a:pPr>
            <a:r>
              <a:rPr lang="en-US" sz="1050" dirty="0">
                <a:solidFill>
                  <a:srgbClr val="1A2E3B"/>
                </a:solidFill>
                <a:latin typeface="Calibri" pitchFamily="34" charset="0"/>
                <a:ea typeface="Calibri" pitchFamily="34" charset="-122"/>
                <a:cs typeface="Calibri" pitchFamily="34" charset="-120"/>
              </a:rPr>
              <a:t>Priority-4 on day 1 (72h window, planning done on Friday)</a:t>
            </a:r>
            <a:endParaRPr lang="en-US" sz="1050" dirty="0"/>
          </a:p>
          <a:p>
            <a:pPr marL="342900" indent="-342900">
              <a:buSzPct val="100000"/>
              <a:buChar char="•"/>
            </a:pPr>
            <a:r>
              <a:rPr lang="en-US" sz="1050" dirty="0">
                <a:solidFill>
                  <a:srgbClr val="1A2E3B"/>
                </a:solidFill>
                <a:latin typeface="Calibri" pitchFamily="34" charset="0"/>
                <a:ea typeface="Calibri" pitchFamily="34" charset="-122"/>
                <a:cs typeface="Calibri" pitchFamily="34" charset="-120"/>
              </a:rPr>
              <a:t>One case per patient per week (conservative default)</a:t>
            </a:r>
            <a:endParaRPr lang="en-US" sz="1050" dirty="0"/>
          </a:p>
          <a:p>
            <a:pPr marL="342900" indent="-342900">
              <a:buSzPct val="100000"/>
              <a:buChar char="•"/>
            </a:pPr>
            <a:r>
              <a:rPr lang="en-US" sz="1050" dirty="0">
                <a:solidFill>
                  <a:srgbClr val="1A2E3B"/>
                </a:solidFill>
                <a:latin typeface="Calibri" pitchFamily="34" charset="0"/>
                <a:ea typeface="Calibri" pitchFamily="34" charset="-122"/>
                <a:cs typeface="Calibri" pitchFamily="34" charset="-120"/>
              </a:rPr>
              <a:t>ORL paediatric Friday circuit (confirmed by department head)</a:t>
            </a:r>
            <a:endParaRPr lang="en-US" sz="1050" dirty="0"/>
          </a:p>
          <a:p>
            <a:pPr indent="0" marL="0">
              <a:buNone/>
            </a:pPr>
            <a:endParaRPr lang="en-US" sz="1050" dirty="0"/>
          </a:p>
        </p:txBody>
      </p:sp>
      <p:sp>
        <p:nvSpPr>
          <p:cNvPr id="10" name="Text 8"/>
          <p:cNvSpPr/>
          <p:nvPr/>
        </p:nvSpPr>
        <p:spPr>
          <a:xfrm>
            <a:off x="4754880" y="1115568"/>
            <a:ext cx="4114800" cy="274320"/>
          </a:xfrm>
          <a:prstGeom prst="rect">
            <a:avLst/>
          </a:prstGeom>
          <a:noFill/>
          <a:ln/>
        </p:spPr>
        <p:txBody>
          <a:bodyPr wrap="square" lIns="0" tIns="0" rIns="0" bIns="0" rtlCol="0" anchor="ctr"/>
          <a:lstStyle/>
          <a:p>
            <a:pPr indent="0" marL="0">
              <a:buNone/>
            </a:pPr>
            <a:r>
              <a:rPr lang="en-US" sz="1300" b="1" dirty="0">
                <a:solidFill>
                  <a:srgbClr val="E67E22"/>
                </a:solidFill>
                <a:latin typeface="Calibri" pitchFamily="34" charset="0"/>
                <a:ea typeface="Calibri" pitchFamily="34" charset="-122"/>
                <a:cs typeface="Calibri" pitchFamily="34" charset="-120"/>
              </a:rPr>
              <a:t>Excluded</a:t>
            </a:r>
            <a:endParaRPr lang="en-US" sz="1300" dirty="0"/>
          </a:p>
        </p:txBody>
      </p:sp>
      <p:sp>
        <p:nvSpPr>
          <p:cNvPr id="11" name="Shape 9"/>
          <p:cNvSpPr/>
          <p:nvPr/>
        </p:nvSpPr>
        <p:spPr>
          <a:xfrm>
            <a:off x="4754880" y="1389888"/>
            <a:ext cx="4114800" cy="3273552"/>
          </a:xfrm>
          <a:prstGeom prst="roundRect">
            <a:avLst>
              <a:gd name="adj" fmla="val 2235"/>
            </a:avLst>
          </a:prstGeom>
          <a:solidFill>
            <a:srgbClr val="FFFFFF"/>
          </a:solidFill>
          <a:ln/>
          <a:effectLst>
            <a:outerShdw sx="100000" sy="100000" kx="0" ky="0" algn="bl" rotWithShape="0" blurRad="63500" dist="25400" dir="2700000">
              <a:srgbClr val="000000">
                <a:alpha val="10000"/>
              </a:srgbClr>
            </a:outerShdw>
          </a:effectLst>
        </p:spPr>
      </p:sp>
      <p:sp>
        <p:nvSpPr>
          <p:cNvPr id="12" name="Text 10"/>
          <p:cNvSpPr/>
          <p:nvPr/>
        </p:nvSpPr>
        <p:spPr>
          <a:xfrm>
            <a:off x="4892040" y="1444752"/>
            <a:ext cx="3840480" cy="3154680"/>
          </a:xfrm>
          <a:prstGeom prst="rect">
            <a:avLst/>
          </a:prstGeom>
          <a:noFill/>
          <a:ln/>
        </p:spPr>
        <p:txBody>
          <a:bodyPr wrap="square" rtlCol="0" anchor="ctr"/>
          <a:lstStyle/>
          <a:p>
            <a:pPr marL="342900" indent="-342900">
              <a:buSzPct val="100000"/>
              <a:buChar char="•"/>
            </a:pPr>
            <a:r>
              <a:rPr lang="en-US" sz="1050" dirty="0">
                <a:solidFill>
                  <a:srgbClr val="1A2E3B"/>
                </a:solidFill>
                <a:latin typeface="Calibri" pitchFamily="34" charset="0"/>
                <a:ea typeface="Calibri" pitchFamily="34" charset="-122"/>
                <a:cs typeface="Calibri" pitchFamily="34" charset="-120"/>
              </a:rPr>
              <a:t>Within-day sequencing (nursing team handles; advanced scheduling only)</a:t>
            </a:r>
            <a:endParaRPr lang="en-US" sz="1050" dirty="0"/>
          </a:p>
          <a:p>
            <a:pPr marL="342900" indent="-342900">
              <a:buSzPct val="100000"/>
              <a:buChar char="•"/>
            </a:pPr>
            <a:r>
              <a:rPr lang="en-US" sz="1050" dirty="0">
                <a:solidFill>
                  <a:srgbClr val="1A2E3B"/>
                </a:solidFill>
                <a:latin typeface="Calibri" pitchFamily="34" charset="0"/>
                <a:ea typeface="Calibri" pitchFamily="34" charset="-122"/>
                <a:cs typeface="Calibri" pitchFamily="34" charset="-120"/>
              </a:rPr>
              <a:t>Anaesthesiologists/nurses as binding resources (MSS pre-allocates them)</a:t>
            </a:r>
            <a:endParaRPr lang="en-US" sz="1050" dirty="0"/>
          </a:p>
          <a:p>
            <a:pPr marL="342900" indent="-342900">
              <a:buSzPct val="100000"/>
              <a:buChar char="•"/>
            </a:pPr>
            <a:r>
              <a:rPr lang="en-US" sz="1050" dirty="0">
                <a:solidFill>
                  <a:srgbClr val="1A2E3B"/>
                </a:solidFill>
                <a:latin typeface="Calibri" pitchFamily="34" charset="0"/>
                <a:ea typeface="Calibri" pitchFamily="34" charset="-122"/>
                <a:cs typeface="Calibri" pitchFamily="34" charset="-120"/>
              </a:rPr>
              <a:t>ICU/ward bed downstream constraints (future extension)</a:t>
            </a:r>
            <a:endParaRPr lang="en-US" sz="1050" dirty="0"/>
          </a:p>
          <a:p>
            <a:pPr marL="342900" indent="-342900">
              <a:buSzPct val="100000"/>
              <a:buChar char="•"/>
            </a:pPr>
            <a:r>
              <a:rPr lang="en-US" sz="1050" dirty="0">
                <a:solidFill>
                  <a:srgbClr val="1A2E3B"/>
                </a:solidFill>
                <a:latin typeface="Calibri" pitchFamily="34" charset="0"/>
                <a:ea typeface="Calibri" pitchFamily="34" charset="-122"/>
                <a:cs typeface="Calibri" pitchFamily="34" charset="-120"/>
              </a:rPr>
              <a:t>Stochastic durations (Denton et al. 2010: deterministic is standard)</a:t>
            </a:r>
            <a:endParaRPr lang="en-US" sz="1050" dirty="0"/>
          </a:p>
          <a:p>
            <a:pPr marL="342900" indent="-342900">
              <a:buSzPct val="100000"/>
              <a:buChar char="•"/>
            </a:pPr>
            <a:r>
              <a:rPr lang="en-US" sz="1050" dirty="0">
                <a:solidFill>
                  <a:srgbClr val="1A2E3B"/>
                </a:solidFill>
                <a:latin typeface="Calibri" pitchFamily="34" charset="0"/>
                <a:ea typeface="Calibri" pitchFamily="34" charset="-122"/>
                <a:cs typeface="Calibri" pitchFamily="34" charset="-120"/>
              </a:rPr>
              <a:t>Multi-team surgery (cooperative scheduling is service-specific)</a:t>
            </a:r>
            <a:endParaRPr lang="en-US" sz="1050" dirty="0"/>
          </a:p>
          <a:p>
            <a:pPr marL="342900" indent="-342900">
              <a:buSzPct val="100000"/>
              <a:buChar char="•"/>
            </a:pPr>
            <a:r>
              <a:rPr lang="en-US" sz="1050" dirty="0">
                <a:solidFill>
                  <a:srgbClr val="1A2E3B"/>
                </a:solidFill>
                <a:latin typeface="Calibri" pitchFamily="34" charset="0"/>
                <a:ea typeface="Calibri" pitchFamily="34" charset="-122"/>
                <a:cs typeface="Calibri" pitchFamily="34" charset="-120"/>
              </a:rPr>
              <a:t>Patient day preferences (not in SIGIC protocol)</a:t>
            </a:r>
            <a:endParaRPr lang="en-US" sz="1050" dirty="0"/>
          </a:p>
          <a:p>
            <a:pPr indent="0" marL="0">
              <a:buNone/>
            </a:pPr>
            <a:endParaRPr lang="en-US" sz="1050" dirty="0"/>
          </a:p>
        </p:txBody>
      </p:sp>
      <p:sp>
        <p:nvSpPr>
          <p:cNvPr id="13" name="Shape 11"/>
          <p:cNvSpPr/>
          <p:nvPr/>
        </p:nvSpPr>
        <p:spPr>
          <a:xfrm>
            <a:off x="0" y="4800600"/>
            <a:ext cx="9144000" cy="342900"/>
          </a:xfrm>
          <a:prstGeom prst="rect">
            <a:avLst/>
          </a:prstGeom>
          <a:solidFill>
            <a:srgbClr val="0A2E4A"/>
          </a:solidFill>
          <a:ln w="12700">
            <a:solidFill>
              <a:srgbClr val="0A2E4A"/>
            </a:solidFill>
            <a:prstDash val="solid"/>
          </a:ln>
        </p:spPr>
      </p:sp>
      <p:sp>
        <p:nvSpPr>
          <p:cNvPr id="14" name="Text 12"/>
          <p:cNvSpPr/>
          <p:nvPr/>
        </p:nvSpPr>
        <p:spPr>
          <a:xfrm>
            <a:off x="182880" y="4818888"/>
            <a:ext cx="6400800" cy="27432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Elective Surgery Scheduling — MILP  ·  SNS/SIGIC Portugal  ·  github.com/</a:t>
            </a:r>
            <a:endParaRPr lang="en-US" sz="800" dirty="0"/>
          </a:p>
        </p:txBody>
      </p:sp>
      <p:sp>
        <p:nvSpPr>
          <p:cNvPr id="15" name="Text 13"/>
          <p:cNvSpPr/>
          <p:nvPr/>
        </p:nvSpPr>
        <p:spPr>
          <a:xfrm>
            <a:off x="7772400" y="4818888"/>
            <a:ext cx="1188720" cy="274320"/>
          </a:xfrm>
          <a:prstGeom prst="rect">
            <a:avLst/>
          </a:prstGeom>
          <a:noFill/>
          <a:ln/>
        </p:spPr>
        <p:txBody>
          <a:bodyPr wrap="square" lIns="0" tIns="0" rIns="0" bIns="0" rtlCol="0" anchor="ctr"/>
          <a:lstStyle/>
          <a:p>
            <a:pPr algn="r" indent="0" marL="0">
              <a:buNone/>
            </a:pPr>
            <a:r>
              <a:rPr lang="en-US" sz="800" dirty="0">
                <a:solidFill>
                  <a:srgbClr val="8FA3B1"/>
                </a:solidFill>
                <a:latin typeface="Calibri" pitchFamily="34" charset="0"/>
                <a:ea typeface="Calibri" pitchFamily="34" charset="-122"/>
                <a:cs typeface="Calibri" pitchFamily="34" charset="-120"/>
              </a:rPr>
              <a:t>9 / 20</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E4A"/>
          </a:solidFill>
          <a:ln w="12700">
            <a:solidFill>
              <a:srgbClr val="0A2E4A"/>
            </a:solidFill>
            <a:prstDash val="solid"/>
          </a:ln>
        </p:spPr>
      </p:sp>
      <p:sp>
        <p:nvSpPr>
          <p:cNvPr id="3" name="Shape 1"/>
          <p:cNvSpPr/>
          <p:nvPr/>
        </p:nvSpPr>
        <p:spPr>
          <a:xfrm>
            <a:off x="0" y="1005840"/>
            <a:ext cx="9144000" cy="54864"/>
          </a:xfrm>
          <a:prstGeom prst="rect">
            <a:avLst/>
          </a:prstGeom>
          <a:solidFill>
            <a:srgbClr val="0D7377"/>
          </a:solidFill>
          <a:ln w="12700">
            <a:solidFill>
              <a:srgbClr val="0D7377"/>
            </a:solidFill>
            <a:prstDash val="solid"/>
          </a:ln>
        </p:spPr>
      </p:sp>
      <p:sp>
        <p:nvSpPr>
          <p:cNvPr id="4" name="Shape 2"/>
          <p:cNvSpPr/>
          <p:nvPr/>
        </p:nvSpPr>
        <p:spPr>
          <a:xfrm>
            <a:off x="7772400" y="0"/>
            <a:ext cx="1371600" cy="1005840"/>
          </a:xfrm>
          <a:prstGeom prst="rect">
            <a:avLst/>
          </a:prstGeom>
          <a:solidFill>
            <a:srgbClr val="0D7377"/>
          </a:solidFill>
          <a:ln w="12700">
            <a:solidFill>
              <a:srgbClr val="0D7377"/>
            </a:solidFill>
            <a:prstDash val="solid"/>
          </a:ln>
        </p:spPr>
      </p:sp>
      <p:sp>
        <p:nvSpPr>
          <p:cNvPr id="5" name="Text 3"/>
          <p:cNvSpPr/>
          <p:nvPr/>
        </p:nvSpPr>
        <p:spPr>
          <a:xfrm>
            <a:off x="320040" y="73152"/>
            <a:ext cx="685800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Code Architecture — Repository Structure</a:t>
            </a:r>
            <a:endParaRPr lang="en-US" sz="2000" dirty="0"/>
          </a:p>
        </p:txBody>
      </p:sp>
      <p:sp>
        <p:nvSpPr>
          <p:cNvPr id="6" name="Text 4"/>
          <p:cNvSpPr/>
          <p:nvPr/>
        </p:nvSpPr>
        <p:spPr>
          <a:xfrm>
            <a:off x="320040" y="566928"/>
            <a:ext cx="8229600" cy="347472"/>
          </a:xfrm>
          <a:prstGeom prst="rect">
            <a:avLst/>
          </a:prstGeom>
          <a:noFill/>
          <a:ln/>
        </p:spPr>
        <p:txBody>
          <a:bodyPr wrap="square" lIns="0" tIns="0" rIns="0" bIns="0" rtlCol="0" anchor="ctr"/>
          <a:lstStyle/>
          <a:p>
            <a:pPr indent="0" marL="0">
              <a:buNone/>
            </a:pPr>
            <a:r>
              <a:rPr lang="en-US" sz="1150" i="1" dirty="0">
                <a:solidFill>
                  <a:srgbClr val="9EEADF"/>
                </a:solidFill>
                <a:latin typeface="Calibri" pitchFamily="34" charset="0"/>
                <a:ea typeface="Calibri" pitchFamily="34" charset="-122"/>
                <a:cs typeface="Calibri" pitchFamily="34" charset="-120"/>
              </a:rPr>
              <a:t>FORMULATION.md ↔ src/ are read together: same names, same constraint numbers</a:t>
            </a:r>
            <a:endParaRPr lang="en-US" sz="1150" dirty="0"/>
          </a:p>
        </p:txBody>
      </p:sp>
      <p:sp>
        <p:nvSpPr>
          <p:cNvPr id="7" name="Shape 5"/>
          <p:cNvSpPr/>
          <p:nvPr/>
        </p:nvSpPr>
        <p:spPr>
          <a:xfrm>
            <a:off x="274320" y="1143000"/>
            <a:ext cx="8595360" cy="402336"/>
          </a:xfrm>
          <a:prstGeom prst="rect">
            <a:avLst/>
          </a:prstGeom>
          <a:solidFill>
            <a:srgbClr val="F4F8FA"/>
          </a:solidFill>
          <a:ln w="12700">
            <a:solidFill>
              <a:srgbClr val="D6E4EC"/>
            </a:solidFill>
            <a:prstDash val="solid"/>
          </a:ln>
        </p:spPr>
      </p:sp>
      <p:sp>
        <p:nvSpPr>
          <p:cNvPr id="8" name="Text 6"/>
          <p:cNvSpPr/>
          <p:nvPr/>
        </p:nvSpPr>
        <p:spPr>
          <a:xfrm>
            <a:off x="384048" y="1234440"/>
            <a:ext cx="3108960" cy="219456"/>
          </a:xfrm>
          <a:prstGeom prst="rect">
            <a:avLst/>
          </a:prstGeom>
          <a:noFill/>
          <a:ln/>
        </p:spPr>
        <p:txBody>
          <a:bodyPr wrap="square" lIns="0" tIns="0" rIns="0" bIns="0" rtlCol="0" anchor="ctr"/>
          <a:lstStyle/>
          <a:p>
            <a:pPr indent="0" marL="0">
              <a:buNone/>
            </a:pPr>
            <a:r>
              <a:rPr lang="en-US" sz="1000" b="1" dirty="0">
                <a:solidFill>
                  <a:srgbClr val="0D7377"/>
                </a:solidFill>
                <a:latin typeface="Courier New" pitchFamily="34" charset="0"/>
                <a:ea typeface="Courier New" pitchFamily="34" charset="-122"/>
                <a:cs typeface="Courier New" pitchFamily="34" charset="-120"/>
              </a:rPr>
              <a:t>src/model/types.py</a:t>
            </a:r>
            <a:endParaRPr lang="en-US" sz="1000" dirty="0"/>
          </a:p>
        </p:txBody>
      </p:sp>
      <p:sp>
        <p:nvSpPr>
          <p:cNvPr id="9" name="Text 7"/>
          <p:cNvSpPr/>
          <p:nvPr/>
        </p:nvSpPr>
        <p:spPr>
          <a:xfrm>
            <a:off x="3566160" y="1234440"/>
            <a:ext cx="5212080" cy="219456"/>
          </a:xfrm>
          <a:prstGeom prst="rect">
            <a:avLst/>
          </a:prstGeom>
          <a:noFill/>
          <a:ln/>
        </p:spPr>
        <p:txBody>
          <a:bodyPr wrap="square" lIns="0" tIns="0" rIns="0" bIns="0" rtlCol="0" anchor="ctr"/>
          <a:lstStyle/>
          <a:p>
            <a:pPr indent="0" marL="0">
              <a:buNone/>
            </a:pPr>
            <a:r>
              <a:rPr lang="en-US" sz="1000" dirty="0">
                <a:solidFill>
                  <a:srgbClr val="1A2E3B"/>
                </a:solidFill>
                <a:latin typeface="Calibri" pitchFamily="34" charset="0"/>
                <a:ea typeface="Calibri" pitchFamily="34" charset="-122"/>
                <a:cs typeface="Calibri" pitchFamily="34" charset="-120"/>
              </a:rPr>
              <a:t>SurgicalCase, Surgeon, OperatingRoom, PlanningInstance — solver-agnostic dataclasses</a:t>
            </a:r>
            <a:endParaRPr lang="en-US" sz="1000" dirty="0"/>
          </a:p>
        </p:txBody>
      </p:sp>
      <p:sp>
        <p:nvSpPr>
          <p:cNvPr id="10" name="Shape 8"/>
          <p:cNvSpPr/>
          <p:nvPr/>
        </p:nvSpPr>
        <p:spPr>
          <a:xfrm>
            <a:off x="274320" y="1581912"/>
            <a:ext cx="8595360" cy="402336"/>
          </a:xfrm>
          <a:prstGeom prst="rect">
            <a:avLst/>
          </a:prstGeom>
          <a:solidFill>
            <a:srgbClr val="FFFFFF"/>
          </a:solidFill>
          <a:ln w="12700">
            <a:solidFill>
              <a:srgbClr val="D6E4EC"/>
            </a:solidFill>
            <a:prstDash val="solid"/>
          </a:ln>
        </p:spPr>
      </p:sp>
      <p:sp>
        <p:nvSpPr>
          <p:cNvPr id="11" name="Text 9"/>
          <p:cNvSpPr/>
          <p:nvPr/>
        </p:nvSpPr>
        <p:spPr>
          <a:xfrm>
            <a:off x="384048" y="1673352"/>
            <a:ext cx="3108960" cy="219456"/>
          </a:xfrm>
          <a:prstGeom prst="rect">
            <a:avLst/>
          </a:prstGeom>
          <a:noFill/>
          <a:ln/>
        </p:spPr>
        <p:txBody>
          <a:bodyPr wrap="square" lIns="0" tIns="0" rIns="0" bIns="0" rtlCol="0" anchor="ctr"/>
          <a:lstStyle/>
          <a:p>
            <a:pPr indent="0" marL="0">
              <a:buNone/>
            </a:pPr>
            <a:r>
              <a:rPr lang="en-US" sz="1000" b="1" dirty="0">
                <a:solidFill>
                  <a:srgbClr val="0D7377"/>
                </a:solidFill>
                <a:latin typeface="Courier New" pitchFamily="34" charset="0"/>
                <a:ea typeface="Courier New" pitchFamily="34" charset="-122"/>
                <a:cs typeface="Courier New" pitchFamily="34" charset="-120"/>
              </a:rPr>
              <a:t>src/model/penalty.py</a:t>
            </a:r>
            <a:endParaRPr lang="en-US" sz="1000" dirty="0"/>
          </a:p>
        </p:txBody>
      </p:sp>
      <p:sp>
        <p:nvSpPr>
          <p:cNvPr id="12" name="Text 10"/>
          <p:cNvSpPr/>
          <p:nvPr/>
        </p:nvSpPr>
        <p:spPr>
          <a:xfrm>
            <a:off x="3566160" y="1673352"/>
            <a:ext cx="5212080" cy="219456"/>
          </a:xfrm>
          <a:prstGeom prst="rect">
            <a:avLst/>
          </a:prstGeom>
          <a:noFill/>
          <a:ln/>
        </p:spPr>
        <p:txBody>
          <a:bodyPr wrap="square" lIns="0" tIns="0" rIns="0" bIns="0" rtlCol="0" anchor="ctr"/>
          <a:lstStyle/>
          <a:p>
            <a:pPr indent="0" marL="0">
              <a:buNone/>
            </a:pPr>
            <a:r>
              <a:rPr lang="en-US" sz="1000" dirty="0">
                <a:solidFill>
                  <a:srgbClr val="1A2E3B"/>
                </a:solidFill>
                <a:latin typeface="Calibri" pitchFamily="34" charset="0"/>
                <a:ea typeface="Calibri" pitchFamily="34" charset="-122"/>
                <a:cs typeface="Calibri" pitchFamily="34" charset="-120"/>
              </a:rPr>
              <a:t>w_c computation: PenaltyFactor(p_c, dd_c) + 1.2·max(dd_c)  (Figure 5.1)</a:t>
            </a:r>
            <a:endParaRPr lang="en-US" sz="1000" dirty="0"/>
          </a:p>
        </p:txBody>
      </p:sp>
      <p:sp>
        <p:nvSpPr>
          <p:cNvPr id="13" name="Shape 11"/>
          <p:cNvSpPr/>
          <p:nvPr/>
        </p:nvSpPr>
        <p:spPr>
          <a:xfrm>
            <a:off x="274320" y="2020824"/>
            <a:ext cx="8595360" cy="402336"/>
          </a:xfrm>
          <a:prstGeom prst="rect">
            <a:avLst/>
          </a:prstGeom>
          <a:solidFill>
            <a:srgbClr val="F4F8FA"/>
          </a:solidFill>
          <a:ln w="12700">
            <a:solidFill>
              <a:srgbClr val="D6E4EC"/>
            </a:solidFill>
            <a:prstDash val="solid"/>
          </a:ln>
        </p:spPr>
      </p:sp>
      <p:sp>
        <p:nvSpPr>
          <p:cNvPr id="14" name="Text 12"/>
          <p:cNvSpPr/>
          <p:nvPr/>
        </p:nvSpPr>
        <p:spPr>
          <a:xfrm>
            <a:off x="384048" y="2112264"/>
            <a:ext cx="3108960" cy="219456"/>
          </a:xfrm>
          <a:prstGeom prst="rect">
            <a:avLst/>
          </a:prstGeom>
          <a:noFill/>
          <a:ln/>
        </p:spPr>
        <p:txBody>
          <a:bodyPr wrap="square" lIns="0" tIns="0" rIns="0" bIns="0" rtlCol="0" anchor="ctr"/>
          <a:lstStyle/>
          <a:p>
            <a:pPr indent="0" marL="0">
              <a:buNone/>
            </a:pPr>
            <a:r>
              <a:rPr lang="en-US" sz="1000" b="1" dirty="0">
                <a:solidFill>
                  <a:srgbClr val="0D7377"/>
                </a:solidFill>
                <a:latin typeface="Courier New" pitchFamily="34" charset="0"/>
                <a:ea typeface="Courier New" pitchFamily="34" charset="-122"/>
                <a:cs typeface="Courier New" pitchFamily="34" charset="-120"/>
              </a:rPr>
              <a:t>src/solvers/pulp_cbc_solver.py</a:t>
            </a:r>
            <a:endParaRPr lang="en-US" sz="1000" dirty="0"/>
          </a:p>
        </p:txBody>
      </p:sp>
      <p:sp>
        <p:nvSpPr>
          <p:cNvPr id="15" name="Text 13"/>
          <p:cNvSpPr/>
          <p:nvPr/>
        </p:nvSpPr>
        <p:spPr>
          <a:xfrm>
            <a:off x="3566160" y="2112264"/>
            <a:ext cx="5212080" cy="219456"/>
          </a:xfrm>
          <a:prstGeom prst="rect">
            <a:avLst/>
          </a:prstGeom>
          <a:noFill/>
          <a:ln/>
        </p:spPr>
        <p:txBody>
          <a:bodyPr wrap="square" lIns="0" tIns="0" rIns="0" bIns="0" rtlCol="0" anchor="ctr"/>
          <a:lstStyle/>
          <a:p>
            <a:pPr indent="0" marL="0">
              <a:buNone/>
            </a:pPr>
            <a:r>
              <a:rPr lang="en-US" sz="1000" dirty="0">
                <a:solidFill>
                  <a:srgbClr val="1A2E3B"/>
                </a:solidFill>
                <a:latin typeface="Calibri" pitchFamily="34" charset="0"/>
                <a:ea typeface="Calibri" pitchFamily="34" charset="-122"/>
                <a:cs typeface="Calibri" pitchFamily="34" charset="-120"/>
              </a:rPr>
              <a:t>PuLP/CBC MILP — PRIMARY demo solver, no commercial licence</a:t>
            </a:r>
            <a:endParaRPr lang="en-US" sz="1000" dirty="0"/>
          </a:p>
        </p:txBody>
      </p:sp>
      <p:sp>
        <p:nvSpPr>
          <p:cNvPr id="16" name="Shape 14"/>
          <p:cNvSpPr/>
          <p:nvPr/>
        </p:nvSpPr>
        <p:spPr>
          <a:xfrm>
            <a:off x="274320" y="2459736"/>
            <a:ext cx="8595360" cy="402336"/>
          </a:xfrm>
          <a:prstGeom prst="rect">
            <a:avLst/>
          </a:prstGeom>
          <a:solidFill>
            <a:srgbClr val="FFFFFF"/>
          </a:solidFill>
          <a:ln w="12700">
            <a:solidFill>
              <a:srgbClr val="D6E4EC"/>
            </a:solidFill>
            <a:prstDash val="solid"/>
          </a:ln>
        </p:spPr>
      </p:sp>
      <p:sp>
        <p:nvSpPr>
          <p:cNvPr id="17" name="Text 15"/>
          <p:cNvSpPr/>
          <p:nvPr/>
        </p:nvSpPr>
        <p:spPr>
          <a:xfrm>
            <a:off x="384048" y="2551176"/>
            <a:ext cx="3108960" cy="219456"/>
          </a:xfrm>
          <a:prstGeom prst="rect">
            <a:avLst/>
          </a:prstGeom>
          <a:noFill/>
          <a:ln/>
        </p:spPr>
        <p:txBody>
          <a:bodyPr wrap="square" lIns="0" tIns="0" rIns="0" bIns="0" rtlCol="0" anchor="ctr"/>
          <a:lstStyle/>
          <a:p>
            <a:pPr indent="0" marL="0">
              <a:buNone/>
            </a:pPr>
            <a:r>
              <a:rPr lang="en-US" sz="1000" b="1" dirty="0">
                <a:solidFill>
                  <a:srgbClr val="0D7377"/>
                </a:solidFill>
                <a:latin typeface="Courier New" pitchFamily="34" charset="0"/>
                <a:ea typeface="Courier New" pitchFamily="34" charset="-122"/>
                <a:cs typeface="Courier New" pitchFamily="34" charset="-120"/>
              </a:rPr>
              <a:t>src/solvers/pyomo_solver.py</a:t>
            </a:r>
            <a:endParaRPr lang="en-US" sz="1000" dirty="0"/>
          </a:p>
        </p:txBody>
      </p:sp>
      <p:sp>
        <p:nvSpPr>
          <p:cNvPr id="18" name="Text 16"/>
          <p:cNvSpPr/>
          <p:nvPr/>
        </p:nvSpPr>
        <p:spPr>
          <a:xfrm>
            <a:off x="3566160" y="2551176"/>
            <a:ext cx="5212080" cy="219456"/>
          </a:xfrm>
          <a:prstGeom prst="rect">
            <a:avLst/>
          </a:prstGeom>
          <a:noFill/>
          <a:ln/>
        </p:spPr>
        <p:txBody>
          <a:bodyPr wrap="square" lIns="0" tIns="0" rIns="0" bIns="0" rtlCol="0" anchor="ctr"/>
          <a:lstStyle/>
          <a:p>
            <a:pPr indent="0" marL="0">
              <a:buNone/>
            </a:pPr>
            <a:r>
              <a:rPr lang="en-US" sz="1000" dirty="0">
                <a:solidFill>
                  <a:srgbClr val="1A2E3B"/>
                </a:solidFill>
                <a:latin typeface="Calibri" pitchFamily="34" charset="0"/>
                <a:ea typeface="Calibri" pitchFamily="34" charset="-122"/>
                <a:cs typeface="Calibri" pitchFamily="34" charset="-120"/>
              </a:rPr>
              <a:t>Pyomo MILP — one model, swap backend: CBC / GLPK / Gurobi / CPLEX / HiGHS</a:t>
            </a:r>
            <a:endParaRPr lang="en-US" sz="1000" dirty="0"/>
          </a:p>
        </p:txBody>
      </p:sp>
      <p:sp>
        <p:nvSpPr>
          <p:cNvPr id="19" name="Shape 17"/>
          <p:cNvSpPr/>
          <p:nvPr/>
        </p:nvSpPr>
        <p:spPr>
          <a:xfrm>
            <a:off x="274320" y="2898648"/>
            <a:ext cx="8595360" cy="402336"/>
          </a:xfrm>
          <a:prstGeom prst="rect">
            <a:avLst/>
          </a:prstGeom>
          <a:solidFill>
            <a:srgbClr val="F4F8FA"/>
          </a:solidFill>
          <a:ln w="12700">
            <a:solidFill>
              <a:srgbClr val="D6E4EC"/>
            </a:solidFill>
            <a:prstDash val="solid"/>
          </a:ln>
        </p:spPr>
      </p:sp>
      <p:sp>
        <p:nvSpPr>
          <p:cNvPr id="20" name="Text 18"/>
          <p:cNvSpPr/>
          <p:nvPr/>
        </p:nvSpPr>
        <p:spPr>
          <a:xfrm>
            <a:off x="384048" y="2990088"/>
            <a:ext cx="3108960" cy="219456"/>
          </a:xfrm>
          <a:prstGeom prst="rect">
            <a:avLst/>
          </a:prstGeom>
          <a:noFill/>
          <a:ln/>
        </p:spPr>
        <p:txBody>
          <a:bodyPr wrap="square" lIns="0" tIns="0" rIns="0" bIns="0" rtlCol="0" anchor="ctr"/>
          <a:lstStyle/>
          <a:p>
            <a:pPr indent="0" marL="0">
              <a:buNone/>
            </a:pPr>
            <a:r>
              <a:rPr lang="en-US" sz="1000" b="1" dirty="0">
                <a:solidFill>
                  <a:srgbClr val="0D7377"/>
                </a:solidFill>
                <a:latin typeface="Courier New" pitchFamily="34" charset="0"/>
                <a:ea typeface="Courier New" pitchFamily="34" charset="-122"/>
                <a:cs typeface="Courier New" pitchFamily="34" charset="-120"/>
              </a:rPr>
              <a:t>src/solvers/greedy_solver.py</a:t>
            </a:r>
            <a:endParaRPr lang="en-US" sz="1000" dirty="0"/>
          </a:p>
        </p:txBody>
      </p:sp>
      <p:sp>
        <p:nvSpPr>
          <p:cNvPr id="21" name="Text 19"/>
          <p:cNvSpPr/>
          <p:nvPr/>
        </p:nvSpPr>
        <p:spPr>
          <a:xfrm>
            <a:off x="3566160" y="2990088"/>
            <a:ext cx="5212080" cy="219456"/>
          </a:xfrm>
          <a:prstGeom prst="rect">
            <a:avLst/>
          </a:prstGeom>
          <a:noFill/>
          <a:ln/>
        </p:spPr>
        <p:txBody>
          <a:bodyPr wrap="square" lIns="0" tIns="0" rIns="0" bIns="0" rtlCol="0" anchor="ctr"/>
          <a:lstStyle/>
          <a:p>
            <a:pPr indent="0" marL="0">
              <a:buNone/>
            </a:pPr>
            <a:r>
              <a:rPr lang="en-US" sz="1000" dirty="0">
                <a:solidFill>
                  <a:srgbClr val="1A2E3B"/>
                </a:solidFill>
                <a:latin typeface="Calibri" pitchFamily="34" charset="0"/>
                <a:ea typeface="Calibri" pitchFamily="34" charset="-122"/>
                <a:cs typeface="Calibri" pitchFamily="34" charset="-120"/>
              </a:rPr>
              <a:t>Priority-first constructive heuristic — warm-start + upper bound</a:t>
            </a:r>
            <a:endParaRPr lang="en-US" sz="1000" dirty="0"/>
          </a:p>
        </p:txBody>
      </p:sp>
      <p:sp>
        <p:nvSpPr>
          <p:cNvPr id="22" name="Shape 20"/>
          <p:cNvSpPr/>
          <p:nvPr/>
        </p:nvSpPr>
        <p:spPr>
          <a:xfrm>
            <a:off x="274320" y="3337560"/>
            <a:ext cx="8595360" cy="402336"/>
          </a:xfrm>
          <a:prstGeom prst="rect">
            <a:avLst/>
          </a:prstGeom>
          <a:solidFill>
            <a:srgbClr val="FFFFFF"/>
          </a:solidFill>
          <a:ln w="12700">
            <a:solidFill>
              <a:srgbClr val="D6E4EC"/>
            </a:solidFill>
            <a:prstDash val="solid"/>
          </a:ln>
        </p:spPr>
      </p:sp>
      <p:sp>
        <p:nvSpPr>
          <p:cNvPr id="23" name="Text 21"/>
          <p:cNvSpPr/>
          <p:nvPr/>
        </p:nvSpPr>
        <p:spPr>
          <a:xfrm>
            <a:off x="384048" y="3429000"/>
            <a:ext cx="3108960" cy="219456"/>
          </a:xfrm>
          <a:prstGeom prst="rect">
            <a:avLst/>
          </a:prstGeom>
          <a:noFill/>
          <a:ln/>
        </p:spPr>
        <p:txBody>
          <a:bodyPr wrap="square" lIns="0" tIns="0" rIns="0" bIns="0" rtlCol="0" anchor="ctr"/>
          <a:lstStyle/>
          <a:p>
            <a:pPr indent="0" marL="0">
              <a:buNone/>
            </a:pPr>
            <a:r>
              <a:rPr lang="en-US" sz="1000" b="1" dirty="0">
                <a:solidFill>
                  <a:srgbClr val="0D7377"/>
                </a:solidFill>
                <a:latin typeface="Courier New" pitchFamily="34" charset="0"/>
                <a:ea typeface="Courier New" pitchFamily="34" charset="-122"/>
                <a:cs typeface="Courier New" pitchFamily="34" charset="-120"/>
              </a:rPr>
              <a:t>src/data/instances.py</a:t>
            </a:r>
            <a:endParaRPr lang="en-US" sz="1000" dirty="0"/>
          </a:p>
        </p:txBody>
      </p:sp>
      <p:sp>
        <p:nvSpPr>
          <p:cNvPr id="24" name="Text 22"/>
          <p:cNvSpPr/>
          <p:nvPr/>
        </p:nvSpPr>
        <p:spPr>
          <a:xfrm>
            <a:off x="3566160" y="3429000"/>
            <a:ext cx="5212080" cy="219456"/>
          </a:xfrm>
          <a:prstGeom prst="rect">
            <a:avLst/>
          </a:prstGeom>
          <a:noFill/>
          <a:ln/>
        </p:spPr>
        <p:txBody>
          <a:bodyPr wrap="square" lIns="0" tIns="0" rIns="0" bIns="0" rtlCol="0" anchor="ctr"/>
          <a:lstStyle/>
          <a:p>
            <a:pPr indent="0" marL="0">
              <a:buNone/>
            </a:pPr>
            <a:r>
              <a:rPr lang="en-US" sz="1000" dirty="0">
                <a:solidFill>
                  <a:srgbClr val="1A2E3B"/>
                </a:solidFill>
                <a:latin typeface="Calibri" pitchFamily="34" charset="0"/>
                <a:ea typeface="Calibri" pitchFamily="34" charset="-122"/>
                <a:cs typeface="Calibri" pitchFamily="34" charset="-120"/>
              </a:rPr>
              <a:t>demo_chln() · small_chln() · literature_cardoen() — three instance families</a:t>
            </a:r>
            <a:endParaRPr lang="en-US" sz="1000" dirty="0"/>
          </a:p>
        </p:txBody>
      </p:sp>
      <p:sp>
        <p:nvSpPr>
          <p:cNvPr id="25" name="Shape 23"/>
          <p:cNvSpPr/>
          <p:nvPr/>
        </p:nvSpPr>
        <p:spPr>
          <a:xfrm>
            <a:off x="274320" y="3776472"/>
            <a:ext cx="8595360" cy="402336"/>
          </a:xfrm>
          <a:prstGeom prst="rect">
            <a:avLst/>
          </a:prstGeom>
          <a:solidFill>
            <a:srgbClr val="F4F8FA"/>
          </a:solidFill>
          <a:ln w="12700">
            <a:solidFill>
              <a:srgbClr val="D6E4EC"/>
            </a:solidFill>
            <a:prstDash val="solid"/>
          </a:ln>
        </p:spPr>
      </p:sp>
      <p:sp>
        <p:nvSpPr>
          <p:cNvPr id="26" name="Text 24"/>
          <p:cNvSpPr/>
          <p:nvPr/>
        </p:nvSpPr>
        <p:spPr>
          <a:xfrm>
            <a:off x="384048" y="3867912"/>
            <a:ext cx="3108960" cy="219456"/>
          </a:xfrm>
          <a:prstGeom prst="rect">
            <a:avLst/>
          </a:prstGeom>
          <a:noFill/>
          <a:ln/>
        </p:spPr>
        <p:txBody>
          <a:bodyPr wrap="square" lIns="0" tIns="0" rIns="0" bIns="0" rtlCol="0" anchor="ctr"/>
          <a:lstStyle/>
          <a:p>
            <a:pPr indent="0" marL="0">
              <a:buNone/>
            </a:pPr>
            <a:r>
              <a:rPr lang="en-US" sz="1000" b="1" dirty="0">
                <a:solidFill>
                  <a:srgbClr val="0D7377"/>
                </a:solidFill>
                <a:latin typeface="Courier New" pitchFamily="34" charset="0"/>
                <a:ea typeface="Courier New" pitchFamily="34" charset="-122"/>
                <a:cs typeface="Courier New" pitchFamily="34" charset="-120"/>
              </a:rPr>
              <a:t>tests/test_model.py</a:t>
            </a:r>
            <a:endParaRPr lang="en-US" sz="1000" dirty="0"/>
          </a:p>
        </p:txBody>
      </p:sp>
      <p:sp>
        <p:nvSpPr>
          <p:cNvPr id="27" name="Text 25"/>
          <p:cNvSpPr/>
          <p:nvPr/>
        </p:nvSpPr>
        <p:spPr>
          <a:xfrm>
            <a:off x="3566160" y="3867912"/>
            <a:ext cx="5212080" cy="219456"/>
          </a:xfrm>
          <a:prstGeom prst="rect">
            <a:avLst/>
          </a:prstGeom>
          <a:noFill/>
          <a:ln/>
        </p:spPr>
        <p:txBody>
          <a:bodyPr wrap="square" lIns="0" tIns="0" rIns="0" bIns="0" rtlCol="0" anchor="ctr"/>
          <a:lstStyle/>
          <a:p>
            <a:pPr indent="0" marL="0">
              <a:buNone/>
            </a:pPr>
            <a:r>
              <a:rPr lang="en-US" sz="1000" dirty="0">
                <a:solidFill>
                  <a:srgbClr val="1A2E3B"/>
                </a:solidFill>
                <a:latin typeface="Calibri" pitchFamily="34" charset="0"/>
                <a:ea typeface="Calibri" pitchFamily="34" charset="-122"/>
                <a:cs typeface="Calibri" pitchFamily="34" charset="-120"/>
              </a:rPr>
              <a:t>7 constraint-level unit tests (P4 on Mon, capacity, surgeon limits, paediatric)</a:t>
            </a:r>
            <a:endParaRPr lang="en-US" sz="1000" dirty="0"/>
          </a:p>
        </p:txBody>
      </p:sp>
      <p:sp>
        <p:nvSpPr>
          <p:cNvPr id="28" name="Shape 26"/>
          <p:cNvSpPr/>
          <p:nvPr/>
        </p:nvSpPr>
        <p:spPr>
          <a:xfrm>
            <a:off x="274320" y="4215384"/>
            <a:ext cx="8595360" cy="402336"/>
          </a:xfrm>
          <a:prstGeom prst="rect">
            <a:avLst/>
          </a:prstGeom>
          <a:solidFill>
            <a:srgbClr val="FFFFFF"/>
          </a:solidFill>
          <a:ln w="12700">
            <a:solidFill>
              <a:srgbClr val="D6E4EC"/>
            </a:solidFill>
            <a:prstDash val="solid"/>
          </a:ln>
        </p:spPr>
      </p:sp>
      <p:sp>
        <p:nvSpPr>
          <p:cNvPr id="29" name="Text 27"/>
          <p:cNvSpPr/>
          <p:nvPr/>
        </p:nvSpPr>
        <p:spPr>
          <a:xfrm>
            <a:off x="384048" y="4306824"/>
            <a:ext cx="3108960" cy="219456"/>
          </a:xfrm>
          <a:prstGeom prst="rect">
            <a:avLst/>
          </a:prstGeom>
          <a:noFill/>
          <a:ln/>
        </p:spPr>
        <p:txBody>
          <a:bodyPr wrap="square" lIns="0" tIns="0" rIns="0" bIns="0" rtlCol="0" anchor="ctr"/>
          <a:lstStyle/>
          <a:p>
            <a:pPr indent="0" marL="0">
              <a:buNone/>
            </a:pPr>
            <a:r>
              <a:rPr lang="en-US" sz="1000" b="1" dirty="0">
                <a:solidFill>
                  <a:srgbClr val="0D7377"/>
                </a:solidFill>
                <a:latin typeface="Courier New" pitchFamily="34" charset="0"/>
                <a:ea typeface="Courier New" pitchFamily="34" charset="-122"/>
                <a:cs typeface="Courier New" pitchFamily="34" charset="-120"/>
              </a:rPr>
              <a:t>FORMULATION.md</a:t>
            </a:r>
            <a:endParaRPr lang="en-US" sz="1000" dirty="0"/>
          </a:p>
        </p:txBody>
      </p:sp>
      <p:sp>
        <p:nvSpPr>
          <p:cNvPr id="30" name="Text 28"/>
          <p:cNvSpPr/>
          <p:nvPr/>
        </p:nvSpPr>
        <p:spPr>
          <a:xfrm>
            <a:off x="3566160" y="4306824"/>
            <a:ext cx="5212080" cy="219456"/>
          </a:xfrm>
          <a:prstGeom prst="rect">
            <a:avLst/>
          </a:prstGeom>
          <a:noFill/>
          <a:ln/>
        </p:spPr>
        <p:txBody>
          <a:bodyPr wrap="square" lIns="0" tIns="0" rIns="0" bIns="0" rtlCol="0" anchor="ctr"/>
          <a:lstStyle/>
          <a:p>
            <a:pPr indent="0" marL="0">
              <a:buNone/>
            </a:pPr>
            <a:r>
              <a:rPr lang="en-US" sz="1000" dirty="0">
                <a:solidFill>
                  <a:srgbClr val="1A2E3B"/>
                </a:solidFill>
                <a:latin typeface="Calibri" pitchFamily="34" charset="0"/>
                <a:ea typeface="Calibri" pitchFamily="34" charset="-122"/>
                <a:cs typeface="Calibri" pitchFamily="34" charset="-120"/>
              </a:rPr>
              <a:t>Full mathematical formulation with SIGIC context, references, and open questions</a:t>
            </a:r>
            <a:endParaRPr lang="en-US" sz="1000" dirty="0"/>
          </a:p>
        </p:txBody>
      </p:sp>
      <p:sp>
        <p:nvSpPr>
          <p:cNvPr id="31" name="Shape 29"/>
          <p:cNvSpPr/>
          <p:nvPr/>
        </p:nvSpPr>
        <p:spPr>
          <a:xfrm>
            <a:off x="0" y="4800600"/>
            <a:ext cx="9144000" cy="342900"/>
          </a:xfrm>
          <a:prstGeom prst="rect">
            <a:avLst/>
          </a:prstGeom>
          <a:solidFill>
            <a:srgbClr val="0A2E4A"/>
          </a:solidFill>
          <a:ln w="12700">
            <a:solidFill>
              <a:srgbClr val="0A2E4A"/>
            </a:solidFill>
            <a:prstDash val="solid"/>
          </a:ln>
        </p:spPr>
      </p:sp>
      <p:sp>
        <p:nvSpPr>
          <p:cNvPr id="32" name="Text 30"/>
          <p:cNvSpPr/>
          <p:nvPr/>
        </p:nvSpPr>
        <p:spPr>
          <a:xfrm>
            <a:off x="182880" y="4818888"/>
            <a:ext cx="6400800" cy="27432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Elective Surgery Scheduling — MILP  ·  SNS/SIGIC Portugal  ·  github.com/</a:t>
            </a:r>
            <a:endParaRPr lang="en-US" sz="800" dirty="0"/>
          </a:p>
        </p:txBody>
      </p:sp>
      <p:sp>
        <p:nvSpPr>
          <p:cNvPr id="33" name="Text 31"/>
          <p:cNvSpPr/>
          <p:nvPr/>
        </p:nvSpPr>
        <p:spPr>
          <a:xfrm>
            <a:off x="7772400" y="4818888"/>
            <a:ext cx="1188720" cy="274320"/>
          </a:xfrm>
          <a:prstGeom prst="rect">
            <a:avLst/>
          </a:prstGeom>
          <a:noFill/>
          <a:ln/>
        </p:spPr>
        <p:txBody>
          <a:bodyPr wrap="square" lIns="0" tIns="0" rIns="0" bIns="0" rtlCol="0" anchor="ctr"/>
          <a:lstStyle/>
          <a:p>
            <a:pPr algn="r" indent="0" marL="0">
              <a:buNone/>
            </a:pPr>
            <a:r>
              <a:rPr lang="en-US" sz="800" dirty="0">
                <a:solidFill>
                  <a:srgbClr val="8FA3B1"/>
                </a:solidFill>
                <a:latin typeface="Calibri" pitchFamily="34" charset="0"/>
                <a:ea typeface="Calibri" pitchFamily="34" charset="-122"/>
                <a:cs typeface="Calibri" pitchFamily="34" charset="-120"/>
              </a:rPr>
              <a:t>10 / 20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E4A"/>
          </a:solidFill>
          <a:ln w="12700">
            <a:solidFill>
              <a:srgbClr val="0A2E4A"/>
            </a:solidFill>
            <a:prstDash val="solid"/>
          </a:ln>
        </p:spPr>
      </p:sp>
      <p:sp>
        <p:nvSpPr>
          <p:cNvPr id="3" name="Shape 1"/>
          <p:cNvSpPr/>
          <p:nvPr/>
        </p:nvSpPr>
        <p:spPr>
          <a:xfrm>
            <a:off x="0" y="1005840"/>
            <a:ext cx="9144000" cy="54864"/>
          </a:xfrm>
          <a:prstGeom prst="rect">
            <a:avLst/>
          </a:prstGeom>
          <a:solidFill>
            <a:srgbClr val="0D7377"/>
          </a:solidFill>
          <a:ln w="12700">
            <a:solidFill>
              <a:srgbClr val="0D7377"/>
            </a:solidFill>
            <a:prstDash val="solid"/>
          </a:ln>
        </p:spPr>
      </p:sp>
      <p:sp>
        <p:nvSpPr>
          <p:cNvPr id="4" name="Shape 2"/>
          <p:cNvSpPr/>
          <p:nvPr/>
        </p:nvSpPr>
        <p:spPr>
          <a:xfrm>
            <a:off x="7772400" y="0"/>
            <a:ext cx="1371600" cy="1005840"/>
          </a:xfrm>
          <a:prstGeom prst="rect">
            <a:avLst/>
          </a:prstGeom>
          <a:solidFill>
            <a:srgbClr val="0D7377"/>
          </a:solidFill>
          <a:ln w="12700">
            <a:solidFill>
              <a:srgbClr val="0D7377"/>
            </a:solidFill>
            <a:prstDash val="solid"/>
          </a:ln>
        </p:spPr>
      </p:sp>
      <p:sp>
        <p:nvSpPr>
          <p:cNvPr id="5" name="Text 3"/>
          <p:cNvSpPr/>
          <p:nvPr/>
        </p:nvSpPr>
        <p:spPr>
          <a:xfrm>
            <a:off x="320040" y="73152"/>
            <a:ext cx="685800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Demo Instance — demo_chln()</a:t>
            </a:r>
            <a:endParaRPr lang="en-US" sz="2000" dirty="0"/>
          </a:p>
        </p:txBody>
      </p:sp>
      <p:sp>
        <p:nvSpPr>
          <p:cNvPr id="6" name="Text 4"/>
          <p:cNvSpPr/>
          <p:nvPr/>
        </p:nvSpPr>
        <p:spPr>
          <a:xfrm>
            <a:off x="320040" y="566928"/>
            <a:ext cx="8229600" cy="347472"/>
          </a:xfrm>
          <a:prstGeom prst="rect">
            <a:avLst/>
          </a:prstGeom>
          <a:noFill/>
          <a:ln/>
        </p:spPr>
        <p:txBody>
          <a:bodyPr wrap="square" lIns="0" tIns="0" rIns="0" bIns="0" rtlCol="0" anchor="ctr"/>
          <a:lstStyle/>
          <a:p>
            <a:pPr indent="0" marL="0">
              <a:buNone/>
            </a:pPr>
            <a:r>
              <a:rPr lang="en-US" sz="1150" i="1" dirty="0">
                <a:solidFill>
                  <a:srgbClr val="9EEADF"/>
                </a:solidFill>
                <a:latin typeface="Calibri" pitchFamily="34" charset="0"/>
                <a:ea typeface="Calibri" pitchFamily="34" charset="-122"/>
                <a:cs typeface="Calibri" pitchFamily="34" charset="-120"/>
              </a:rPr>
              <a:t>20 cases · 3 services (ORL, ORT, CVA) · 5 rooms · 5 days · 6 surgeons</a:t>
            </a:r>
            <a:endParaRPr lang="en-US" sz="11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74320" y="1115568"/>
          <a:ext cx="8595360" cy="914400"/>
        </p:xfrm>
        <a:graphic>
          <a:graphicData uri="http://schemas.openxmlformats.org/drawingml/2006/table">
            <a:tbl>
              <a:tblPr/>
              <a:tblGrid>
                <a:gridCol w="2926080"/>
                <a:gridCol w="2834640"/>
                <a:gridCol w="283464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Component</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0A2E4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Demo (20 cases)</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0A2E4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Real CHLN</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0A2E4A"/>
                    </a:solidFill>
                  </a:tcPr>
                </a:tc>
              </a:tr>
              <a:tr h="310896">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Surgical cases |C|</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~7,000</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r>
              <a:tr h="310896">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Services |S|</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3 (ORL, ORT, CVA)</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13 services</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r>
              <a:tr h="310896">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OR blocks |B|</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r>
              <a:tr h="310896">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Rooms Σ|R_b|</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28</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r>
              <a:tr h="310896">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Surgeons |H|</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~400 active</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r>
              <a:tr h="310896">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Binary variables (raw)</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~2,000</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~980,000</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r>
              <a:tr h="310896">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Binary variables (filtered)</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~800</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~130,000</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r>
              <a:tr h="310896">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Special rules active</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P4 on Mon · ORL paediatric Fri</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All 5 rules</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r>
              <a:tr h="310896">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Solver</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PuLP/CBC</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CBC/CPLEX/Gurobi</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r>
              <a:tr h="310896">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Solve time</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&lt; 0.03 seconds</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&lt; 5 minutes (CPLEX)</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r>
              <a:tr h="310896">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Optimal</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Optimal</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r>
              <a:tr h="310896">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Objective value</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155.00</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100" dirty="0">
                          <a:solidFill>
                            <a:srgbClr val="1A2E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r>
            </a:tbl>
          </a:graphicData>
        </a:graphic>
      </p:graphicFrame>
      <p:sp>
        <p:nvSpPr>
          <p:cNvPr id="8" name="Shape 5"/>
          <p:cNvSpPr/>
          <p:nvPr/>
        </p:nvSpPr>
        <p:spPr>
          <a:xfrm>
            <a:off x="0" y="4800600"/>
            <a:ext cx="9144000" cy="342900"/>
          </a:xfrm>
          <a:prstGeom prst="rect">
            <a:avLst/>
          </a:prstGeom>
          <a:solidFill>
            <a:srgbClr val="0A2E4A"/>
          </a:solidFill>
          <a:ln w="12700">
            <a:solidFill>
              <a:srgbClr val="0A2E4A"/>
            </a:solidFill>
            <a:prstDash val="solid"/>
          </a:ln>
        </p:spPr>
      </p:sp>
      <p:sp>
        <p:nvSpPr>
          <p:cNvPr id="9" name="Text 6"/>
          <p:cNvSpPr/>
          <p:nvPr/>
        </p:nvSpPr>
        <p:spPr>
          <a:xfrm>
            <a:off x="182880" y="4818888"/>
            <a:ext cx="6400800" cy="27432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Elective Surgery Scheduling — MILP  ·  SNS/SIGIC Portugal  ·  github.com/</a:t>
            </a:r>
            <a:endParaRPr lang="en-US" sz="800" dirty="0"/>
          </a:p>
        </p:txBody>
      </p:sp>
      <p:sp>
        <p:nvSpPr>
          <p:cNvPr id="10" name="Text 7"/>
          <p:cNvSpPr/>
          <p:nvPr/>
        </p:nvSpPr>
        <p:spPr>
          <a:xfrm>
            <a:off x="7772400" y="4818888"/>
            <a:ext cx="1188720" cy="274320"/>
          </a:xfrm>
          <a:prstGeom prst="rect">
            <a:avLst/>
          </a:prstGeom>
          <a:noFill/>
          <a:ln/>
        </p:spPr>
        <p:txBody>
          <a:bodyPr wrap="square" lIns="0" tIns="0" rIns="0" bIns="0" rtlCol="0" anchor="ctr"/>
          <a:lstStyle/>
          <a:p>
            <a:pPr algn="r" indent="0" marL="0">
              <a:buNone/>
            </a:pPr>
            <a:r>
              <a:rPr lang="en-US" sz="800" dirty="0">
                <a:solidFill>
                  <a:srgbClr val="8FA3B1"/>
                </a:solidFill>
                <a:latin typeface="Calibri" pitchFamily="34" charset="0"/>
                <a:ea typeface="Calibri" pitchFamily="34" charset="-122"/>
                <a:cs typeface="Calibri" pitchFamily="34" charset="-120"/>
              </a:rPr>
              <a:t>11 / 20</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E4A"/>
          </a:solidFill>
          <a:ln w="12700">
            <a:solidFill>
              <a:srgbClr val="0A2E4A"/>
            </a:solidFill>
            <a:prstDash val="solid"/>
          </a:ln>
        </p:spPr>
      </p:sp>
      <p:sp>
        <p:nvSpPr>
          <p:cNvPr id="3" name="Shape 1"/>
          <p:cNvSpPr/>
          <p:nvPr/>
        </p:nvSpPr>
        <p:spPr>
          <a:xfrm>
            <a:off x="0" y="1005840"/>
            <a:ext cx="9144000" cy="54864"/>
          </a:xfrm>
          <a:prstGeom prst="rect">
            <a:avLst/>
          </a:prstGeom>
          <a:solidFill>
            <a:srgbClr val="0D7377"/>
          </a:solidFill>
          <a:ln w="12700">
            <a:solidFill>
              <a:srgbClr val="0D7377"/>
            </a:solidFill>
            <a:prstDash val="solid"/>
          </a:ln>
        </p:spPr>
      </p:sp>
      <p:sp>
        <p:nvSpPr>
          <p:cNvPr id="4" name="Shape 2"/>
          <p:cNvSpPr/>
          <p:nvPr/>
        </p:nvSpPr>
        <p:spPr>
          <a:xfrm>
            <a:off x="7772400" y="0"/>
            <a:ext cx="1371600" cy="1005840"/>
          </a:xfrm>
          <a:prstGeom prst="rect">
            <a:avLst/>
          </a:prstGeom>
          <a:solidFill>
            <a:srgbClr val="0D7377"/>
          </a:solidFill>
          <a:ln w="12700">
            <a:solidFill>
              <a:srgbClr val="0D7377"/>
            </a:solidFill>
            <a:prstDash val="solid"/>
          </a:ln>
        </p:spPr>
      </p:sp>
      <p:sp>
        <p:nvSpPr>
          <p:cNvPr id="5" name="Text 3"/>
          <p:cNvSpPr/>
          <p:nvPr/>
        </p:nvSpPr>
        <p:spPr>
          <a:xfrm>
            <a:off x="320040" y="73152"/>
            <a:ext cx="685800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Demo Results — Weekly Schedule</a:t>
            </a:r>
            <a:endParaRPr lang="en-US" sz="2000" dirty="0"/>
          </a:p>
        </p:txBody>
      </p:sp>
      <p:sp>
        <p:nvSpPr>
          <p:cNvPr id="6" name="Text 4"/>
          <p:cNvSpPr/>
          <p:nvPr/>
        </p:nvSpPr>
        <p:spPr>
          <a:xfrm>
            <a:off x="320040" y="566928"/>
            <a:ext cx="8229600" cy="347472"/>
          </a:xfrm>
          <a:prstGeom prst="rect">
            <a:avLst/>
          </a:prstGeom>
          <a:noFill/>
          <a:ln/>
        </p:spPr>
        <p:txBody>
          <a:bodyPr wrap="square" lIns="0" tIns="0" rIns="0" bIns="0" rtlCol="0" anchor="ctr"/>
          <a:lstStyle/>
          <a:p>
            <a:pPr indent="0" marL="0">
              <a:buNone/>
            </a:pPr>
            <a:r>
              <a:rPr lang="en-US" sz="1150" i="1" dirty="0">
                <a:solidFill>
                  <a:srgbClr val="9EEADF"/>
                </a:solidFill>
                <a:latin typeface="Calibri" pitchFamily="34" charset="0"/>
                <a:ea typeface="Calibri" pitchFamily="34" charset="-122"/>
                <a:cs typeface="Calibri" pitchFamily="34" charset="-120"/>
              </a:rPr>
              <a:t>Status: Optimal · Obj = 155.00 · Time &lt; 0.03s (CBC)</a:t>
            </a:r>
            <a:endParaRPr lang="en-US" sz="1150" dirty="0"/>
          </a:p>
        </p:txBody>
      </p:sp>
      <p:sp>
        <p:nvSpPr>
          <p:cNvPr id="7" name="Shape 5"/>
          <p:cNvSpPr/>
          <p:nvPr/>
        </p:nvSpPr>
        <p:spPr>
          <a:xfrm>
            <a:off x="274320" y="1115568"/>
            <a:ext cx="1920240" cy="1097280"/>
          </a:xfrm>
          <a:prstGeom prst="roundRect">
            <a:avLst>
              <a:gd name="adj" fmla="val 6667"/>
            </a:avLst>
          </a:prstGeom>
          <a:solidFill>
            <a:srgbClr val="FFFFFF"/>
          </a:solidFill>
          <a:ln/>
          <a:effectLst>
            <a:outerShdw sx="100000" sy="100000" kx="0" ky="0" algn="bl" rotWithShape="0" blurRad="63500" dist="25400" dir="2700000">
              <a:srgbClr val="000000">
                <a:alpha val="10000"/>
              </a:srgbClr>
            </a:outerShdw>
          </a:effectLst>
        </p:spPr>
      </p:sp>
      <p:sp>
        <p:nvSpPr>
          <p:cNvPr id="8" name="Text 6"/>
          <p:cNvSpPr/>
          <p:nvPr/>
        </p:nvSpPr>
        <p:spPr>
          <a:xfrm>
            <a:off x="320040" y="1188720"/>
            <a:ext cx="1828800" cy="640080"/>
          </a:xfrm>
          <a:prstGeom prst="rect">
            <a:avLst/>
          </a:prstGeom>
          <a:noFill/>
          <a:ln/>
        </p:spPr>
        <p:txBody>
          <a:bodyPr wrap="square" lIns="0" tIns="0" rIns="0" bIns="0" rtlCol="0" anchor="ctr"/>
          <a:lstStyle/>
          <a:p>
            <a:pPr algn="ctr" indent="0" marL="0">
              <a:buNone/>
            </a:pPr>
            <a:r>
              <a:rPr lang="en-US" sz="3400" b="1" dirty="0">
                <a:solidFill>
                  <a:srgbClr val="1A7A44"/>
                </a:solidFill>
                <a:latin typeface="Calibri" pitchFamily="34" charset="0"/>
                <a:ea typeface="Calibri" pitchFamily="34" charset="-122"/>
                <a:cs typeface="Calibri" pitchFamily="34" charset="-120"/>
              </a:rPr>
              <a:t>20/20</a:t>
            </a:r>
            <a:endParaRPr lang="en-US" sz="3400" dirty="0"/>
          </a:p>
        </p:txBody>
      </p:sp>
      <p:sp>
        <p:nvSpPr>
          <p:cNvPr id="9" name="Text 7"/>
          <p:cNvSpPr/>
          <p:nvPr/>
        </p:nvSpPr>
        <p:spPr>
          <a:xfrm>
            <a:off x="320040" y="1828800"/>
            <a:ext cx="1828800" cy="320040"/>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cases scheduled</a:t>
            </a:r>
            <a:endParaRPr lang="en-US" sz="1000" dirty="0"/>
          </a:p>
        </p:txBody>
      </p:sp>
      <p:sp>
        <p:nvSpPr>
          <p:cNvPr id="10" name="Shape 8"/>
          <p:cNvSpPr/>
          <p:nvPr/>
        </p:nvSpPr>
        <p:spPr>
          <a:xfrm>
            <a:off x="2331720" y="1115568"/>
            <a:ext cx="1920240" cy="1097280"/>
          </a:xfrm>
          <a:prstGeom prst="roundRect">
            <a:avLst>
              <a:gd name="adj" fmla="val 6667"/>
            </a:avLst>
          </a:prstGeom>
          <a:solidFill>
            <a:srgbClr val="FFFFFF"/>
          </a:solidFill>
          <a:ln/>
          <a:effectLst>
            <a:outerShdw sx="100000" sy="100000" kx="0" ky="0" algn="bl" rotWithShape="0" blurRad="63500" dist="25400" dir="2700000">
              <a:srgbClr val="000000">
                <a:alpha val="10000"/>
              </a:srgbClr>
            </a:outerShdw>
          </a:effectLst>
        </p:spPr>
      </p:sp>
      <p:sp>
        <p:nvSpPr>
          <p:cNvPr id="11" name="Text 9"/>
          <p:cNvSpPr/>
          <p:nvPr/>
        </p:nvSpPr>
        <p:spPr>
          <a:xfrm>
            <a:off x="2377440" y="1188720"/>
            <a:ext cx="1828800" cy="640080"/>
          </a:xfrm>
          <a:prstGeom prst="rect">
            <a:avLst/>
          </a:prstGeom>
          <a:noFill/>
          <a:ln/>
        </p:spPr>
        <p:txBody>
          <a:bodyPr wrap="square" lIns="0" tIns="0" rIns="0" bIns="0" rtlCol="0" anchor="ctr"/>
          <a:lstStyle/>
          <a:p>
            <a:pPr algn="ctr" indent="0" marL="0">
              <a:buNone/>
            </a:pPr>
            <a:r>
              <a:rPr lang="en-US" sz="3400" b="1" dirty="0">
                <a:solidFill>
                  <a:srgbClr val="0D7377"/>
                </a:solidFill>
                <a:latin typeface="Calibri" pitchFamily="34" charset="0"/>
                <a:ea typeface="Calibri" pitchFamily="34" charset="-122"/>
                <a:cs typeface="Calibri" pitchFamily="34" charset="-120"/>
              </a:rPr>
              <a:t>3</a:t>
            </a:r>
            <a:endParaRPr lang="en-US" sz="3400" dirty="0"/>
          </a:p>
        </p:txBody>
      </p:sp>
      <p:sp>
        <p:nvSpPr>
          <p:cNvPr id="12" name="Text 10"/>
          <p:cNvSpPr/>
          <p:nvPr/>
        </p:nvSpPr>
        <p:spPr>
          <a:xfrm>
            <a:off x="2377440" y="1828800"/>
            <a:ext cx="1828800" cy="320040"/>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Priority-4 on Mon ✓</a:t>
            </a:r>
            <a:endParaRPr lang="en-US" sz="1000" dirty="0"/>
          </a:p>
        </p:txBody>
      </p:sp>
      <p:sp>
        <p:nvSpPr>
          <p:cNvPr id="13" name="Shape 11"/>
          <p:cNvSpPr/>
          <p:nvPr/>
        </p:nvSpPr>
        <p:spPr>
          <a:xfrm>
            <a:off x="4389120" y="1115568"/>
            <a:ext cx="1920240" cy="1097280"/>
          </a:xfrm>
          <a:prstGeom prst="roundRect">
            <a:avLst>
              <a:gd name="adj" fmla="val 6667"/>
            </a:avLst>
          </a:prstGeom>
          <a:solidFill>
            <a:srgbClr val="FFFFFF"/>
          </a:solidFill>
          <a:ln/>
          <a:effectLst>
            <a:outerShdw sx="100000" sy="100000" kx="0" ky="0" algn="bl" rotWithShape="0" blurRad="63500" dist="25400" dir="2700000">
              <a:srgbClr val="000000">
                <a:alpha val="10000"/>
              </a:srgbClr>
            </a:outerShdw>
          </a:effectLst>
        </p:spPr>
      </p:sp>
      <p:sp>
        <p:nvSpPr>
          <p:cNvPr id="14" name="Text 12"/>
          <p:cNvSpPr/>
          <p:nvPr/>
        </p:nvSpPr>
        <p:spPr>
          <a:xfrm>
            <a:off x="4434840" y="1188720"/>
            <a:ext cx="1828800" cy="640080"/>
          </a:xfrm>
          <a:prstGeom prst="rect">
            <a:avLst/>
          </a:prstGeom>
          <a:noFill/>
          <a:ln/>
        </p:spPr>
        <p:txBody>
          <a:bodyPr wrap="square" lIns="0" tIns="0" rIns="0" bIns="0" rtlCol="0" anchor="ctr"/>
          <a:lstStyle/>
          <a:p>
            <a:pPr algn="ctr" indent="0" marL="0">
              <a:buNone/>
            </a:pPr>
            <a:r>
              <a:rPr lang="en-US" sz="3400" b="1" dirty="0">
                <a:solidFill>
                  <a:srgbClr val="E67E22"/>
                </a:solidFill>
                <a:latin typeface="Calibri" pitchFamily="34" charset="0"/>
                <a:ea typeface="Calibri" pitchFamily="34" charset="-122"/>
                <a:cs typeface="Calibri" pitchFamily="34" charset="-120"/>
              </a:rPr>
              <a:t>3</a:t>
            </a:r>
            <a:endParaRPr lang="en-US" sz="3400" dirty="0"/>
          </a:p>
        </p:txBody>
      </p:sp>
      <p:sp>
        <p:nvSpPr>
          <p:cNvPr id="15" name="Text 13"/>
          <p:cNvSpPr/>
          <p:nvPr/>
        </p:nvSpPr>
        <p:spPr>
          <a:xfrm>
            <a:off x="4434840" y="1828800"/>
            <a:ext cx="1828800" cy="320040"/>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overdue cases prioritised</a:t>
            </a:r>
            <a:endParaRPr lang="en-US" sz="1000" dirty="0"/>
          </a:p>
        </p:txBody>
      </p:sp>
      <p:sp>
        <p:nvSpPr>
          <p:cNvPr id="16" name="Shape 14"/>
          <p:cNvSpPr/>
          <p:nvPr/>
        </p:nvSpPr>
        <p:spPr>
          <a:xfrm>
            <a:off x="6446520" y="1115568"/>
            <a:ext cx="1920240" cy="1097280"/>
          </a:xfrm>
          <a:prstGeom prst="roundRect">
            <a:avLst>
              <a:gd name="adj" fmla="val 6667"/>
            </a:avLst>
          </a:prstGeom>
          <a:solidFill>
            <a:srgbClr val="FFFFFF"/>
          </a:solidFill>
          <a:ln/>
          <a:effectLst>
            <a:outerShdw sx="100000" sy="100000" kx="0" ky="0" algn="bl" rotWithShape="0" blurRad="63500" dist="25400" dir="2700000">
              <a:srgbClr val="000000">
                <a:alpha val="10000"/>
              </a:srgbClr>
            </a:outerShdw>
          </a:effectLst>
        </p:spPr>
      </p:sp>
      <p:sp>
        <p:nvSpPr>
          <p:cNvPr id="17" name="Text 15"/>
          <p:cNvSpPr/>
          <p:nvPr/>
        </p:nvSpPr>
        <p:spPr>
          <a:xfrm>
            <a:off x="6492240" y="1188720"/>
            <a:ext cx="1828800" cy="640080"/>
          </a:xfrm>
          <a:prstGeom prst="rect">
            <a:avLst/>
          </a:prstGeom>
          <a:noFill/>
          <a:ln/>
        </p:spPr>
        <p:txBody>
          <a:bodyPr wrap="square" lIns="0" tIns="0" rIns="0" bIns="0" rtlCol="0" anchor="ctr"/>
          <a:lstStyle/>
          <a:p>
            <a:pPr algn="ctr" indent="0" marL="0">
              <a:buNone/>
            </a:pPr>
            <a:r>
              <a:rPr lang="en-US" sz="3400" b="1" dirty="0">
                <a:solidFill>
                  <a:srgbClr val="0D7377"/>
                </a:solidFill>
                <a:latin typeface="Calibri" pitchFamily="34" charset="0"/>
                <a:ea typeface="Calibri" pitchFamily="34" charset="-122"/>
                <a:cs typeface="Calibri" pitchFamily="34" charset="-120"/>
              </a:rPr>
              <a:t>&lt; 1s</a:t>
            </a:r>
            <a:endParaRPr lang="en-US" sz="3400" dirty="0"/>
          </a:p>
        </p:txBody>
      </p:sp>
      <p:sp>
        <p:nvSpPr>
          <p:cNvPr id="18" name="Text 16"/>
          <p:cNvSpPr/>
          <p:nvPr/>
        </p:nvSpPr>
        <p:spPr>
          <a:xfrm>
            <a:off x="6492240" y="1828800"/>
            <a:ext cx="1828800" cy="320040"/>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solve time (CBC)</a:t>
            </a:r>
            <a:endParaRPr lang="en-US" sz="1000" dirty="0"/>
          </a:p>
        </p:txBody>
      </p:sp>
      <p:sp>
        <p:nvSpPr>
          <p:cNvPr id="19" name="Shape 17"/>
          <p:cNvSpPr/>
          <p:nvPr/>
        </p:nvSpPr>
        <p:spPr>
          <a:xfrm>
            <a:off x="274320" y="2743200"/>
            <a:ext cx="8595360" cy="347472"/>
          </a:xfrm>
          <a:prstGeom prst="rect">
            <a:avLst/>
          </a:prstGeom>
          <a:solidFill>
            <a:srgbClr val="E6F7FF"/>
          </a:solidFill>
          <a:ln w="12700">
            <a:solidFill>
              <a:srgbClr val="D6E4EC"/>
            </a:solidFill>
            <a:prstDash val="solid"/>
          </a:ln>
        </p:spPr>
      </p:sp>
      <p:sp>
        <p:nvSpPr>
          <p:cNvPr id="20" name="Text 18"/>
          <p:cNvSpPr/>
          <p:nvPr/>
        </p:nvSpPr>
        <p:spPr>
          <a:xfrm>
            <a:off x="411480" y="2807208"/>
            <a:ext cx="457200" cy="219456"/>
          </a:xfrm>
          <a:prstGeom prst="rect">
            <a:avLst/>
          </a:prstGeom>
          <a:noFill/>
          <a:ln/>
        </p:spPr>
        <p:txBody>
          <a:bodyPr wrap="square" lIns="0" tIns="0" rIns="0" bIns="0" rtlCol="0" anchor="ctr"/>
          <a:lstStyle/>
          <a:p>
            <a:pPr indent="0" marL="0">
              <a:buNone/>
            </a:pPr>
            <a:r>
              <a:rPr lang="en-US" sz="1100" b="1" dirty="0">
                <a:solidFill>
                  <a:srgbClr val="0A2E4A"/>
                </a:solidFill>
                <a:latin typeface="Calibri" pitchFamily="34" charset="0"/>
                <a:ea typeface="Calibri" pitchFamily="34" charset="-122"/>
                <a:cs typeface="Calibri" pitchFamily="34" charset="-120"/>
              </a:rPr>
              <a:t>Mon</a:t>
            </a:r>
            <a:endParaRPr lang="en-US" sz="1100" dirty="0"/>
          </a:p>
        </p:txBody>
      </p:sp>
      <p:sp>
        <p:nvSpPr>
          <p:cNvPr id="21" name="Text 19"/>
          <p:cNvSpPr/>
          <p:nvPr/>
        </p:nvSpPr>
        <p:spPr>
          <a:xfrm>
            <a:off x="1005840" y="2807208"/>
            <a:ext cx="1005840" cy="219456"/>
          </a:xfrm>
          <a:prstGeom prst="rect">
            <a:avLst/>
          </a:prstGeom>
          <a:noFill/>
          <a:ln/>
        </p:spPr>
        <p:txBody>
          <a:bodyPr wrap="square" lIns="0" tIns="0" rIns="0" bIns="0" rtlCol="0" anchor="ctr"/>
          <a:lstStyle/>
          <a:p>
            <a:pPr indent="0" marL="0">
              <a:buNone/>
            </a:pPr>
            <a:r>
              <a:rPr lang="en-US" sz="1100" b="1" dirty="0">
                <a:solidFill>
                  <a:srgbClr val="0D7377"/>
                </a:solidFill>
                <a:latin typeface="Calibri" pitchFamily="34" charset="0"/>
                <a:ea typeface="Calibri" pitchFamily="34" charset="-122"/>
                <a:cs typeface="Calibri" pitchFamily="34" charset="-120"/>
              </a:rPr>
              <a:t>11 case(s)</a:t>
            </a:r>
            <a:endParaRPr lang="en-US" sz="1100" dirty="0"/>
          </a:p>
        </p:txBody>
      </p:sp>
      <p:sp>
        <p:nvSpPr>
          <p:cNvPr id="22" name="Text 20"/>
          <p:cNvSpPr/>
          <p:nvPr/>
        </p:nvSpPr>
        <p:spPr>
          <a:xfrm>
            <a:off x="2194560" y="2807208"/>
            <a:ext cx="6583680" cy="219456"/>
          </a:xfrm>
          <a:prstGeom prst="rect">
            <a:avLst/>
          </a:prstGeom>
          <a:noFill/>
          <a:ln/>
        </p:spPr>
        <p:txBody>
          <a:bodyPr wrap="square" lIns="0" tIns="0" rIns="0" bIns="0" rtlCol="0" anchor="ctr"/>
          <a:lstStyle/>
          <a:p>
            <a:pPr indent="0" marL="0">
              <a:buNone/>
            </a:pPr>
            <a:r>
              <a:rPr lang="en-US" sz="950" i="1" dirty="0">
                <a:solidFill>
                  <a:srgbClr val="8FA3B1"/>
                </a:solidFill>
                <a:latin typeface="Calibri" pitchFamily="34" charset="0"/>
                <a:ea typeface="Calibri" pitchFamily="34" charset="-122"/>
                <a:cs typeface="Calibri" pitchFamily="34" charset="-120"/>
              </a:rPr>
              <a:t>C03✓(P1,⚠OVD) C05✓(P4) C11✓(P1,⚠OVD) C13✓(P4) C19✓(P4) … [3 P4 cases on day 1 as required]</a:t>
            </a:r>
            <a:endParaRPr lang="en-US" sz="950" dirty="0"/>
          </a:p>
        </p:txBody>
      </p:sp>
      <p:sp>
        <p:nvSpPr>
          <p:cNvPr id="23" name="Shape 21"/>
          <p:cNvSpPr/>
          <p:nvPr/>
        </p:nvSpPr>
        <p:spPr>
          <a:xfrm>
            <a:off x="274320" y="3127248"/>
            <a:ext cx="8595360" cy="347472"/>
          </a:xfrm>
          <a:prstGeom prst="rect">
            <a:avLst/>
          </a:prstGeom>
          <a:solidFill>
            <a:srgbClr val="FFFFFF"/>
          </a:solidFill>
          <a:ln w="12700">
            <a:solidFill>
              <a:srgbClr val="D6E4EC"/>
            </a:solidFill>
            <a:prstDash val="solid"/>
          </a:ln>
        </p:spPr>
      </p:sp>
      <p:sp>
        <p:nvSpPr>
          <p:cNvPr id="24" name="Text 22"/>
          <p:cNvSpPr/>
          <p:nvPr/>
        </p:nvSpPr>
        <p:spPr>
          <a:xfrm>
            <a:off x="411480" y="3191256"/>
            <a:ext cx="457200" cy="219456"/>
          </a:xfrm>
          <a:prstGeom prst="rect">
            <a:avLst/>
          </a:prstGeom>
          <a:noFill/>
          <a:ln/>
        </p:spPr>
        <p:txBody>
          <a:bodyPr wrap="square" lIns="0" tIns="0" rIns="0" bIns="0" rtlCol="0" anchor="ctr"/>
          <a:lstStyle/>
          <a:p>
            <a:pPr indent="0" marL="0">
              <a:buNone/>
            </a:pPr>
            <a:r>
              <a:rPr lang="en-US" sz="1100" b="1" dirty="0">
                <a:solidFill>
                  <a:srgbClr val="0A2E4A"/>
                </a:solidFill>
                <a:latin typeface="Calibri" pitchFamily="34" charset="0"/>
                <a:ea typeface="Calibri" pitchFamily="34" charset="-122"/>
                <a:cs typeface="Calibri" pitchFamily="34" charset="-120"/>
              </a:rPr>
              <a:t>Tue</a:t>
            </a:r>
            <a:endParaRPr lang="en-US" sz="1100" dirty="0"/>
          </a:p>
        </p:txBody>
      </p:sp>
      <p:sp>
        <p:nvSpPr>
          <p:cNvPr id="25" name="Text 23"/>
          <p:cNvSpPr/>
          <p:nvPr/>
        </p:nvSpPr>
        <p:spPr>
          <a:xfrm>
            <a:off x="1005840" y="3191256"/>
            <a:ext cx="1005840" cy="219456"/>
          </a:xfrm>
          <a:prstGeom prst="rect">
            <a:avLst/>
          </a:prstGeom>
          <a:noFill/>
          <a:ln/>
        </p:spPr>
        <p:txBody>
          <a:bodyPr wrap="square" lIns="0" tIns="0" rIns="0" bIns="0" rtlCol="0" anchor="ctr"/>
          <a:lstStyle/>
          <a:p>
            <a:pPr indent="0" marL="0">
              <a:buNone/>
            </a:pPr>
            <a:r>
              <a:rPr lang="en-US" sz="1100" b="1" dirty="0">
                <a:solidFill>
                  <a:srgbClr val="0D7377"/>
                </a:solidFill>
                <a:latin typeface="Calibri" pitchFamily="34" charset="0"/>
                <a:ea typeface="Calibri" pitchFamily="34" charset="-122"/>
                <a:cs typeface="Calibri" pitchFamily="34" charset="-120"/>
              </a:rPr>
              <a:t>6 case(s)</a:t>
            </a:r>
            <a:endParaRPr lang="en-US" sz="1100" dirty="0"/>
          </a:p>
        </p:txBody>
      </p:sp>
      <p:sp>
        <p:nvSpPr>
          <p:cNvPr id="26" name="Text 24"/>
          <p:cNvSpPr/>
          <p:nvPr/>
        </p:nvSpPr>
        <p:spPr>
          <a:xfrm>
            <a:off x="2194560" y="3191256"/>
            <a:ext cx="6583680" cy="219456"/>
          </a:xfrm>
          <a:prstGeom prst="rect">
            <a:avLst/>
          </a:prstGeom>
          <a:noFill/>
          <a:ln/>
        </p:spPr>
        <p:txBody>
          <a:bodyPr wrap="square" lIns="0" tIns="0" rIns="0" bIns="0" rtlCol="0" anchor="ctr"/>
          <a:lstStyle/>
          <a:p>
            <a:pPr indent="0" marL="0">
              <a:buNone/>
            </a:pPr>
            <a:r>
              <a:rPr lang="en-US" sz="950" i="1" dirty="0">
                <a:solidFill>
                  <a:srgbClr val="8FA3B1"/>
                </a:solidFill>
                <a:latin typeface="Calibri" pitchFamily="34" charset="0"/>
                <a:ea typeface="Calibri" pitchFamily="34" charset="-122"/>
                <a:cs typeface="Calibri" pitchFamily="34" charset="-120"/>
              </a:rPr>
              <a:t>C16✓(P1,⚠OVD) C17(P3,+3d) C01(P1,+20d) C09(P2,+5d) C10(P3,+5d) C15(P2,+10d)</a:t>
            </a:r>
            <a:endParaRPr lang="en-US" sz="950" dirty="0"/>
          </a:p>
        </p:txBody>
      </p:sp>
      <p:sp>
        <p:nvSpPr>
          <p:cNvPr id="27" name="Shape 25"/>
          <p:cNvSpPr/>
          <p:nvPr/>
        </p:nvSpPr>
        <p:spPr>
          <a:xfrm>
            <a:off x="274320" y="3511296"/>
            <a:ext cx="8595360" cy="347472"/>
          </a:xfrm>
          <a:prstGeom prst="rect">
            <a:avLst/>
          </a:prstGeom>
          <a:solidFill>
            <a:srgbClr val="FFFFFF"/>
          </a:solidFill>
          <a:ln w="12700">
            <a:solidFill>
              <a:srgbClr val="D6E4EC"/>
            </a:solidFill>
            <a:prstDash val="solid"/>
          </a:ln>
        </p:spPr>
      </p:sp>
      <p:sp>
        <p:nvSpPr>
          <p:cNvPr id="28" name="Text 26"/>
          <p:cNvSpPr/>
          <p:nvPr/>
        </p:nvSpPr>
        <p:spPr>
          <a:xfrm>
            <a:off x="411480" y="3575304"/>
            <a:ext cx="457200" cy="219456"/>
          </a:xfrm>
          <a:prstGeom prst="rect">
            <a:avLst/>
          </a:prstGeom>
          <a:noFill/>
          <a:ln/>
        </p:spPr>
        <p:txBody>
          <a:bodyPr wrap="square" lIns="0" tIns="0" rIns="0" bIns="0" rtlCol="0" anchor="ctr"/>
          <a:lstStyle/>
          <a:p>
            <a:pPr indent="0" marL="0">
              <a:buNone/>
            </a:pPr>
            <a:r>
              <a:rPr lang="en-US" sz="1100" b="1" dirty="0">
                <a:solidFill>
                  <a:srgbClr val="0A2E4A"/>
                </a:solidFill>
                <a:latin typeface="Calibri" pitchFamily="34" charset="0"/>
                <a:ea typeface="Calibri" pitchFamily="34" charset="-122"/>
                <a:cs typeface="Calibri" pitchFamily="34" charset="-120"/>
              </a:rPr>
              <a:t>Wed</a:t>
            </a:r>
            <a:endParaRPr lang="en-US" sz="1100" dirty="0"/>
          </a:p>
        </p:txBody>
      </p:sp>
      <p:sp>
        <p:nvSpPr>
          <p:cNvPr id="29" name="Text 27"/>
          <p:cNvSpPr/>
          <p:nvPr/>
        </p:nvSpPr>
        <p:spPr>
          <a:xfrm>
            <a:off x="1005840" y="3575304"/>
            <a:ext cx="1005840" cy="219456"/>
          </a:xfrm>
          <a:prstGeom prst="rect">
            <a:avLst/>
          </a:prstGeom>
          <a:noFill/>
          <a:ln/>
        </p:spPr>
        <p:txBody>
          <a:bodyPr wrap="square" lIns="0" tIns="0" rIns="0" bIns="0" rtlCol="0" anchor="ctr"/>
          <a:lstStyle/>
          <a:p>
            <a:pPr indent="0" marL="0">
              <a:buNone/>
            </a:pPr>
            <a:r>
              <a:rPr lang="en-US" sz="1100" b="1" dirty="0">
                <a:solidFill>
                  <a:srgbClr val="0D7377"/>
                </a:solidFill>
                <a:latin typeface="Calibri" pitchFamily="34" charset="0"/>
                <a:ea typeface="Calibri" pitchFamily="34" charset="-122"/>
                <a:cs typeface="Calibri" pitchFamily="34" charset="-120"/>
              </a:rPr>
              <a:t>2 case(s)</a:t>
            </a:r>
            <a:endParaRPr lang="en-US" sz="1100" dirty="0"/>
          </a:p>
        </p:txBody>
      </p:sp>
      <p:sp>
        <p:nvSpPr>
          <p:cNvPr id="30" name="Text 28"/>
          <p:cNvSpPr/>
          <p:nvPr/>
        </p:nvSpPr>
        <p:spPr>
          <a:xfrm>
            <a:off x="2194560" y="3575304"/>
            <a:ext cx="6583680" cy="219456"/>
          </a:xfrm>
          <a:prstGeom prst="rect">
            <a:avLst/>
          </a:prstGeom>
          <a:noFill/>
          <a:ln/>
        </p:spPr>
        <p:txBody>
          <a:bodyPr wrap="square" lIns="0" tIns="0" rIns="0" bIns="0" rtlCol="0" anchor="ctr"/>
          <a:lstStyle/>
          <a:p>
            <a:pPr indent="0" marL="0">
              <a:buNone/>
            </a:pPr>
            <a:r>
              <a:rPr lang="en-US" sz="950" i="1" dirty="0">
                <a:solidFill>
                  <a:srgbClr val="8FA3B1"/>
                </a:solidFill>
                <a:latin typeface="Calibri" pitchFamily="34" charset="0"/>
                <a:ea typeface="Calibri" pitchFamily="34" charset="-122"/>
                <a:cs typeface="Calibri" pitchFamily="34" charset="-120"/>
              </a:rPr>
              <a:t>C08(P1,+10d)  C20(P1,+15d)</a:t>
            </a:r>
            <a:endParaRPr lang="en-US" sz="950" dirty="0"/>
          </a:p>
        </p:txBody>
      </p:sp>
      <p:sp>
        <p:nvSpPr>
          <p:cNvPr id="31" name="Shape 29"/>
          <p:cNvSpPr/>
          <p:nvPr/>
        </p:nvSpPr>
        <p:spPr>
          <a:xfrm>
            <a:off x="274320" y="3895344"/>
            <a:ext cx="8595360" cy="347472"/>
          </a:xfrm>
          <a:prstGeom prst="rect">
            <a:avLst/>
          </a:prstGeom>
          <a:solidFill>
            <a:srgbClr val="FFFFFF"/>
          </a:solidFill>
          <a:ln w="12700">
            <a:solidFill>
              <a:srgbClr val="D6E4EC"/>
            </a:solidFill>
            <a:prstDash val="solid"/>
          </a:ln>
        </p:spPr>
      </p:sp>
      <p:sp>
        <p:nvSpPr>
          <p:cNvPr id="32" name="Text 30"/>
          <p:cNvSpPr/>
          <p:nvPr/>
        </p:nvSpPr>
        <p:spPr>
          <a:xfrm>
            <a:off x="411480" y="3959352"/>
            <a:ext cx="457200" cy="219456"/>
          </a:xfrm>
          <a:prstGeom prst="rect">
            <a:avLst/>
          </a:prstGeom>
          <a:noFill/>
          <a:ln/>
        </p:spPr>
        <p:txBody>
          <a:bodyPr wrap="square" lIns="0" tIns="0" rIns="0" bIns="0" rtlCol="0" anchor="ctr"/>
          <a:lstStyle/>
          <a:p>
            <a:pPr indent="0" marL="0">
              <a:buNone/>
            </a:pPr>
            <a:r>
              <a:rPr lang="en-US" sz="1100" b="1" dirty="0">
                <a:solidFill>
                  <a:srgbClr val="0A2E4A"/>
                </a:solidFill>
                <a:latin typeface="Calibri" pitchFamily="34" charset="0"/>
                <a:ea typeface="Calibri" pitchFamily="34" charset="-122"/>
                <a:cs typeface="Calibri" pitchFamily="34" charset="-120"/>
              </a:rPr>
              <a:t>Thu</a:t>
            </a:r>
            <a:endParaRPr lang="en-US" sz="1100" dirty="0"/>
          </a:p>
        </p:txBody>
      </p:sp>
      <p:sp>
        <p:nvSpPr>
          <p:cNvPr id="33" name="Text 31"/>
          <p:cNvSpPr/>
          <p:nvPr/>
        </p:nvSpPr>
        <p:spPr>
          <a:xfrm>
            <a:off x="1005840" y="3959352"/>
            <a:ext cx="1005840" cy="219456"/>
          </a:xfrm>
          <a:prstGeom prst="rect">
            <a:avLst/>
          </a:prstGeom>
          <a:noFill/>
          <a:ln/>
        </p:spPr>
        <p:txBody>
          <a:bodyPr wrap="square" lIns="0" tIns="0" rIns="0" bIns="0" rtlCol="0" anchor="ctr"/>
          <a:lstStyle/>
          <a:p>
            <a:pPr indent="0" marL="0">
              <a:buNone/>
            </a:pPr>
            <a:r>
              <a:rPr lang="en-US" sz="1100" b="1" dirty="0">
                <a:solidFill>
                  <a:srgbClr val="0D7377"/>
                </a:solidFill>
                <a:latin typeface="Calibri" pitchFamily="34" charset="0"/>
                <a:ea typeface="Calibri" pitchFamily="34" charset="-122"/>
                <a:cs typeface="Calibri" pitchFamily="34" charset="-120"/>
              </a:rPr>
              <a:t>1 case(s)</a:t>
            </a:r>
            <a:endParaRPr lang="en-US" sz="1100" dirty="0"/>
          </a:p>
        </p:txBody>
      </p:sp>
      <p:sp>
        <p:nvSpPr>
          <p:cNvPr id="34" name="Text 32"/>
          <p:cNvSpPr/>
          <p:nvPr/>
        </p:nvSpPr>
        <p:spPr>
          <a:xfrm>
            <a:off x="2194560" y="3959352"/>
            <a:ext cx="6583680" cy="219456"/>
          </a:xfrm>
          <a:prstGeom prst="rect">
            <a:avLst/>
          </a:prstGeom>
          <a:noFill/>
          <a:ln/>
        </p:spPr>
        <p:txBody>
          <a:bodyPr wrap="square" lIns="0" tIns="0" rIns="0" bIns="0" rtlCol="0" anchor="ctr"/>
          <a:lstStyle/>
          <a:p>
            <a:pPr indent="0" marL="0">
              <a:buNone/>
            </a:pPr>
            <a:r>
              <a:rPr lang="en-US" sz="950" i="1" dirty="0">
                <a:solidFill>
                  <a:srgbClr val="8FA3B1"/>
                </a:solidFill>
                <a:latin typeface="Calibri" pitchFamily="34" charset="0"/>
                <a:ea typeface="Calibri" pitchFamily="34" charset="-122"/>
                <a:cs typeface="Calibri" pitchFamily="34" charset="-120"/>
              </a:rPr>
              <a:t>C12(P2,+10d)</a:t>
            </a:r>
            <a:endParaRPr lang="en-US" sz="950" dirty="0"/>
          </a:p>
        </p:txBody>
      </p:sp>
      <p:sp>
        <p:nvSpPr>
          <p:cNvPr id="35" name="Shape 33"/>
          <p:cNvSpPr/>
          <p:nvPr/>
        </p:nvSpPr>
        <p:spPr>
          <a:xfrm>
            <a:off x="274320" y="4279392"/>
            <a:ext cx="8595360" cy="347472"/>
          </a:xfrm>
          <a:prstGeom prst="rect">
            <a:avLst/>
          </a:prstGeom>
          <a:solidFill>
            <a:srgbClr val="FFFFFF"/>
          </a:solidFill>
          <a:ln w="12700">
            <a:solidFill>
              <a:srgbClr val="D6E4EC"/>
            </a:solidFill>
            <a:prstDash val="solid"/>
          </a:ln>
        </p:spPr>
      </p:sp>
      <p:sp>
        <p:nvSpPr>
          <p:cNvPr id="36" name="Text 34"/>
          <p:cNvSpPr/>
          <p:nvPr/>
        </p:nvSpPr>
        <p:spPr>
          <a:xfrm>
            <a:off x="411480" y="4343400"/>
            <a:ext cx="457200" cy="219456"/>
          </a:xfrm>
          <a:prstGeom prst="rect">
            <a:avLst/>
          </a:prstGeom>
          <a:noFill/>
          <a:ln/>
        </p:spPr>
        <p:txBody>
          <a:bodyPr wrap="square" lIns="0" tIns="0" rIns="0" bIns="0" rtlCol="0" anchor="ctr"/>
          <a:lstStyle/>
          <a:p>
            <a:pPr indent="0" marL="0">
              <a:buNone/>
            </a:pPr>
            <a:r>
              <a:rPr lang="en-US" sz="1100" b="1" dirty="0">
                <a:solidFill>
                  <a:srgbClr val="0A2E4A"/>
                </a:solidFill>
                <a:latin typeface="Calibri" pitchFamily="34" charset="0"/>
                <a:ea typeface="Calibri" pitchFamily="34" charset="-122"/>
                <a:cs typeface="Calibri" pitchFamily="34" charset="-120"/>
              </a:rPr>
              <a:t>Fri</a:t>
            </a:r>
            <a:endParaRPr lang="en-US" sz="1100" dirty="0"/>
          </a:p>
        </p:txBody>
      </p:sp>
      <p:sp>
        <p:nvSpPr>
          <p:cNvPr id="37" name="Text 35"/>
          <p:cNvSpPr/>
          <p:nvPr/>
        </p:nvSpPr>
        <p:spPr>
          <a:xfrm>
            <a:off x="1005840" y="4343400"/>
            <a:ext cx="1005840" cy="219456"/>
          </a:xfrm>
          <a:prstGeom prst="rect">
            <a:avLst/>
          </a:prstGeom>
          <a:noFill/>
          <a:ln/>
        </p:spPr>
        <p:txBody>
          <a:bodyPr wrap="square" lIns="0" tIns="0" rIns="0" bIns="0" rtlCol="0" anchor="ctr"/>
          <a:lstStyle/>
          <a:p>
            <a:pPr indent="0" marL="0">
              <a:buNone/>
            </a:pPr>
            <a:r>
              <a:rPr lang="en-US" sz="1100" b="1" dirty="0">
                <a:solidFill>
                  <a:srgbClr val="0D7377"/>
                </a:solidFill>
                <a:latin typeface="Calibri" pitchFamily="34" charset="0"/>
                <a:ea typeface="Calibri" pitchFamily="34" charset="-122"/>
                <a:cs typeface="Calibri" pitchFamily="34" charset="-120"/>
              </a:rPr>
              <a:t>0 case(s)</a:t>
            </a:r>
            <a:endParaRPr lang="en-US" sz="1100" dirty="0"/>
          </a:p>
        </p:txBody>
      </p:sp>
      <p:sp>
        <p:nvSpPr>
          <p:cNvPr id="38" name="Text 36"/>
          <p:cNvSpPr/>
          <p:nvPr/>
        </p:nvSpPr>
        <p:spPr>
          <a:xfrm>
            <a:off x="2194560" y="4343400"/>
            <a:ext cx="6583680" cy="219456"/>
          </a:xfrm>
          <a:prstGeom prst="rect">
            <a:avLst/>
          </a:prstGeom>
          <a:noFill/>
          <a:ln/>
        </p:spPr>
        <p:txBody>
          <a:bodyPr wrap="square" lIns="0" tIns="0" rIns="0" bIns="0" rtlCol="0" anchor="ctr"/>
          <a:lstStyle/>
          <a:p>
            <a:pPr indent="0" marL="0">
              <a:buNone/>
            </a:pPr>
            <a:r>
              <a:rPr lang="en-US" sz="950" i="1" dirty="0">
                <a:solidFill>
                  <a:srgbClr val="8FA3B1"/>
                </a:solidFill>
                <a:latin typeface="Calibri" pitchFamily="34" charset="0"/>
                <a:ea typeface="Calibri" pitchFamily="34" charset="-122"/>
                <a:cs typeface="Calibri" pitchFamily="34" charset="-120"/>
              </a:rPr>
              <a:t>— (ORL paediatric circuit: no adult patients in ORL rooms ✓)</a:t>
            </a:r>
            <a:endParaRPr lang="en-US" sz="950" dirty="0"/>
          </a:p>
        </p:txBody>
      </p:sp>
      <p:sp>
        <p:nvSpPr>
          <p:cNvPr id="39" name="Text 37"/>
          <p:cNvSpPr/>
          <p:nvPr/>
        </p:nvSpPr>
        <p:spPr>
          <a:xfrm>
            <a:off x="274320" y="4663440"/>
            <a:ext cx="8595360" cy="228600"/>
          </a:xfrm>
          <a:prstGeom prst="rect">
            <a:avLst/>
          </a:prstGeom>
          <a:noFill/>
          <a:ln/>
        </p:spPr>
        <p:txBody>
          <a:bodyPr wrap="square" lIns="0" tIns="0" rIns="0" bIns="0" rtlCol="0" anchor="ctr"/>
          <a:lstStyle/>
          <a:p>
            <a:pPr indent="0" marL="0">
              <a:buNone/>
            </a:pPr>
            <a:r>
              <a:rPr lang="en-US" sz="950" b="1" dirty="0">
                <a:solidFill>
                  <a:srgbClr val="1A7A44"/>
                </a:solidFill>
                <a:latin typeface="Calibri" pitchFamily="34" charset="0"/>
                <a:ea typeface="Calibri" pitchFamily="34" charset="-122"/>
                <a:cs typeface="Calibri" pitchFamily="34" charset="-120"/>
              </a:rPr>
              <a:t>✓ P4 on Mon  ·  ✓ Paediatric ORL Fri  ·  ✓ Room capacities  ·  ✓ Surgeon limits  [all 7 unit tests pass]</a:t>
            </a:r>
            <a:endParaRPr lang="en-US" sz="950" dirty="0"/>
          </a:p>
        </p:txBody>
      </p:sp>
      <p:sp>
        <p:nvSpPr>
          <p:cNvPr id="40" name="Shape 38"/>
          <p:cNvSpPr/>
          <p:nvPr/>
        </p:nvSpPr>
        <p:spPr>
          <a:xfrm>
            <a:off x="0" y="4800600"/>
            <a:ext cx="9144000" cy="342900"/>
          </a:xfrm>
          <a:prstGeom prst="rect">
            <a:avLst/>
          </a:prstGeom>
          <a:solidFill>
            <a:srgbClr val="0A2E4A"/>
          </a:solidFill>
          <a:ln w="12700">
            <a:solidFill>
              <a:srgbClr val="0A2E4A"/>
            </a:solidFill>
            <a:prstDash val="solid"/>
          </a:ln>
        </p:spPr>
      </p:sp>
      <p:sp>
        <p:nvSpPr>
          <p:cNvPr id="41" name="Text 39"/>
          <p:cNvSpPr/>
          <p:nvPr/>
        </p:nvSpPr>
        <p:spPr>
          <a:xfrm>
            <a:off x="182880" y="4818888"/>
            <a:ext cx="6400800" cy="27432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Elective Surgery Scheduling — MILP  ·  SNS/SIGIC Portugal  ·  github.com/</a:t>
            </a:r>
            <a:endParaRPr lang="en-US" sz="800" dirty="0"/>
          </a:p>
        </p:txBody>
      </p:sp>
      <p:sp>
        <p:nvSpPr>
          <p:cNvPr id="42" name="Text 40"/>
          <p:cNvSpPr/>
          <p:nvPr/>
        </p:nvSpPr>
        <p:spPr>
          <a:xfrm>
            <a:off x="7772400" y="4818888"/>
            <a:ext cx="1188720" cy="274320"/>
          </a:xfrm>
          <a:prstGeom prst="rect">
            <a:avLst/>
          </a:prstGeom>
          <a:noFill/>
          <a:ln/>
        </p:spPr>
        <p:txBody>
          <a:bodyPr wrap="square" lIns="0" tIns="0" rIns="0" bIns="0" rtlCol="0" anchor="ctr"/>
          <a:lstStyle/>
          <a:p>
            <a:pPr algn="r" indent="0" marL="0">
              <a:buNone/>
            </a:pPr>
            <a:r>
              <a:rPr lang="en-US" sz="800" dirty="0">
                <a:solidFill>
                  <a:srgbClr val="8FA3B1"/>
                </a:solidFill>
                <a:latin typeface="Calibri" pitchFamily="34" charset="0"/>
                <a:ea typeface="Calibri" pitchFamily="34" charset="-122"/>
                <a:cs typeface="Calibri" pitchFamily="34" charset="-120"/>
              </a:rPr>
              <a:t>12 / 20</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E4A"/>
          </a:solidFill>
          <a:ln w="12700">
            <a:solidFill>
              <a:srgbClr val="0A2E4A"/>
            </a:solidFill>
            <a:prstDash val="solid"/>
          </a:ln>
        </p:spPr>
      </p:sp>
      <p:sp>
        <p:nvSpPr>
          <p:cNvPr id="3" name="Shape 1"/>
          <p:cNvSpPr/>
          <p:nvPr/>
        </p:nvSpPr>
        <p:spPr>
          <a:xfrm>
            <a:off x="0" y="1005840"/>
            <a:ext cx="9144000" cy="54864"/>
          </a:xfrm>
          <a:prstGeom prst="rect">
            <a:avLst/>
          </a:prstGeom>
          <a:solidFill>
            <a:srgbClr val="0D7377"/>
          </a:solidFill>
          <a:ln w="12700">
            <a:solidFill>
              <a:srgbClr val="0D7377"/>
            </a:solidFill>
            <a:prstDash val="solid"/>
          </a:ln>
        </p:spPr>
      </p:sp>
      <p:sp>
        <p:nvSpPr>
          <p:cNvPr id="4" name="Shape 2"/>
          <p:cNvSpPr/>
          <p:nvPr/>
        </p:nvSpPr>
        <p:spPr>
          <a:xfrm>
            <a:off x="7772400" y="0"/>
            <a:ext cx="1371600" cy="1005840"/>
          </a:xfrm>
          <a:prstGeom prst="rect">
            <a:avLst/>
          </a:prstGeom>
          <a:solidFill>
            <a:srgbClr val="0D7377"/>
          </a:solidFill>
          <a:ln w="12700">
            <a:solidFill>
              <a:srgbClr val="0D7377"/>
            </a:solidFill>
            <a:prstDash val="solid"/>
          </a:ln>
        </p:spPr>
      </p:sp>
      <p:sp>
        <p:nvSpPr>
          <p:cNvPr id="5" name="Text 3"/>
          <p:cNvSpPr/>
          <p:nvPr/>
        </p:nvSpPr>
        <p:spPr>
          <a:xfrm>
            <a:off x="320040" y="73152"/>
            <a:ext cx="685800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Three Instance Families</a:t>
            </a:r>
            <a:endParaRPr lang="en-US" sz="2000" dirty="0"/>
          </a:p>
        </p:txBody>
      </p:sp>
      <p:sp>
        <p:nvSpPr>
          <p:cNvPr id="6" name="Text 4"/>
          <p:cNvSpPr/>
          <p:nvPr/>
        </p:nvSpPr>
        <p:spPr>
          <a:xfrm>
            <a:off x="320040" y="566928"/>
            <a:ext cx="8229600" cy="347472"/>
          </a:xfrm>
          <a:prstGeom prst="rect">
            <a:avLst/>
          </a:prstGeom>
          <a:noFill/>
          <a:ln/>
        </p:spPr>
        <p:txBody>
          <a:bodyPr wrap="square" lIns="0" tIns="0" rIns="0" bIns="0" rtlCol="0" anchor="ctr"/>
          <a:lstStyle/>
          <a:p>
            <a:pPr indent="0" marL="0">
              <a:buNone/>
            </a:pPr>
            <a:r>
              <a:rPr lang="en-US" sz="1150" i="1" dirty="0">
                <a:solidFill>
                  <a:srgbClr val="9EEADF"/>
                </a:solidFill>
                <a:latin typeface="Calibri" pitchFamily="34" charset="0"/>
                <a:ea typeface="Calibri" pitchFamily="34" charset="-122"/>
                <a:cs typeface="Calibri" pitchFamily="34" charset="-120"/>
              </a:rPr>
              <a:t>Progressively larger; all solved to optimality</a:t>
            </a:r>
            <a:endParaRPr lang="en-US" sz="1150" dirty="0"/>
          </a:p>
        </p:txBody>
      </p:sp>
      <p:sp>
        <p:nvSpPr>
          <p:cNvPr id="7" name="Shape 5"/>
          <p:cNvSpPr/>
          <p:nvPr/>
        </p:nvSpPr>
        <p:spPr>
          <a:xfrm>
            <a:off x="274320" y="1188720"/>
            <a:ext cx="8595360" cy="1078992"/>
          </a:xfrm>
          <a:prstGeom prst="roundRect">
            <a:avLst>
              <a:gd name="adj" fmla="val 6780"/>
            </a:avLst>
          </a:prstGeom>
          <a:solidFill>
            <a:srgbClr val="FFFFFF"/>
          </a:solidFill>
          <a:ln/>
          <a:effectLst>
            <a:outerShdw sx="100000" sy="100000" kx="0" ky="0" algn="bl" rotWithShape="0" blurRad="63500" dist="25400" dir="2700000">
              <a:srgbClr val="000000">
                <a:alpha val="10000"/>
              </a:srgbClr>
            </a:outerShdw>
          </a:effectLst>
        </p:spPr>
      </p:sp>
      <p:sp>
        <p:nvSpPr>
          <p:cNvPr id="8" name="Shape 6"/>
          <p:cNvSpPr/>
          <p:nvPr/>
        </p:nvSpPr>
        <p:spPr>
          <a:xfrm>
            <a:off x="457200" y="1280160"/>
            <a:ext cx="457200" cy="457200"/>
          </a:xfrm>
          <a:prstGeom prst="ellipse">
            <a:avLst/>
          </a:prstGeom>
          <a:solidFill>
            <a:srgbClr val="0D7377"/>
          </a:solidFill>
          <a:ln w="12700">
            <a:solidFill>
              <a:srgbClr val="0D7377"/>
            </a:solidFill>
            <a:prstDash val="solid"/>
          </a:ln>
        </p:spPr>
      </p:sp>
      <p:sp>
        <p:nvSpPr>
          <p:cNvPr id="9" name="Text 7"/>
          <p:cNvSpPr/>
          <p:nvPr/>
        </p:nvSpPr>
        <p:spPr>
          <a:xfrm>
            <a:off x="457200" y="12801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8"/>
          <p:cNvSpPr/>
          <p:nvPr/>
        </p:nvSpPr>
        <p:spPr>
          <a:xfrm>
            <a:off x="1051560" y="1261872"/>
            <a:ext cx="3657600" cy="274320"/>
          </a:xfrm>
          <a:prstGeom prst="rect">
            <a:avLst/>
          </a:prstGeom>
          <a:noFill/>
          <a:ln/>
        </p:spPr>
        <p:txBody>
          <a:bodyPr wrap="square" lIns="0" tIns="0" rIns="0" bIns="0" rtlCol="0" anchor="ctr"/>
          <a:lstStyle/>
          <a:p>
            <a:pPr indent="0" marL="0">
              <a:buNone/>
            </a:pPr>
            <a:r>
              <a:rPr lang="en-US" sz="1300" b="1" dirty="0">
                <a:solidFill>
                  <a:srgbClr val="0A2E4A"/>
                </a:solidFill>
                <a:latin typeface="Calibri" pitchFamily="34" charset="0"/>
                <a:ea typeface="Calibri" pitchFamily="34" charset="-122"/>
                <a:cs typeface="Calibri" pitchFamily="34" charset="-120"/>
              </a:rPr>
              <a:t>demo_chln()</a:t>
            </a:r>
            <a:endParaRPr lang="en-US" sz="1300" dirty="0"/>
          </a:p>
        </p:txBody>
      </p:sp>
      <p:sp>
        <p:nvSpPr>
          <p:cNvPr id="11" name="Text 9"/>
          <p:cNvSpPr/>
          <p:nvPr/>
        </p:nvSpPr>
        <p:spPr>
          <a:xfrm>
            <a:off x="1051560" y="1554480"/>
            <a:ext cx="7315200" cy="201168"/>
          </a:xfrm>
          <a:prstGeom prst="rect">
            <a:avLst/>
          </a:prstGeom>
          <a:noFill/>
          <a:ln/>
        </p:spPr>
        <p:txBody>
          <a:bodyPr wrap="square" lIns="0" tIns="0" rIns="0" bIns="0"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CHLN LIC1 2016 (Marques &amp; Captivo)</a:t>
            </a:r>
            <a:endParaRPr lang="en-US" sz="1000" dirty="0"/>
          </a:p>
        </p:txBody>
      </p:sp>
      <p:sp>
        <p:nvSpPr>
          <p:cNvPr id="12" name="Text 10"/>
          <p:cNvSpPr/>
          <p:nvPr/>
        </p:nvSpPr>
        <p:spPr>
          <a:xfrm>
            <a:off x="1051560" y="1773936"/>
            <a:ext cx="2560320" cy="182880"/>
          </a:xfrm>
          <a:prstGeom prst="rect">
            <a:avLst/>
          </a:prstGeom>
          <a:noFill/>
          <a:ln/>
        </p:spPr>
        <p:txBody>
          <a:bodyPr wrap="square" lIns="0" tIns="0" rIns="0" bIns="0" rtlCol="0" anchor="ctr"/>
          <a:lstStyle/>
          <a:p>
            <a:pPr indent="0" marL="0">
              <a:buNone/>
            </a:pPr>
            <a:r>
              <a:rPr lang="en-US" sz="1050" dirty="0">
                <a:solidFill>
                  <a:srgbClr val="1A2E3B"/>
                </a:solidFill>
                <a:latin typeface="Calibri" pitchFamily="34" charset="0"/>
                <a:ea typeface="Calibri" pitchFamily="34" charset="-122"/>
                <a:cs typeface="Calibri" pitchFamily="34" charset="-120"/>
              </a:rPr>
              <a:t>20 cases</a:t>
            </a:r>
            <a:endParaRPr lang="en-US" sz="1050" dirty="0"/>
          </a:p>
        </p:txBody>
      </p:sp>
      <p:sp>
        <p:nvSpPr>
          <p:cNvPr id="13" name="Text 11"/>
          <p:cNvSpPr/>
          <p:nvPr/>
        </p:nvSpPr>
        <p:spPr>
          <a:xfrm>
            <a:off x="1051560" y="1956816"/>
            <a:ext cx="2560320" cy="182880"/>
          </a:xfrm>
          <a:prstGeom prst="rect">
            <a:avLst/>
          </a:prstGeom>
          <a:noFill/>
          <a:ln/>
        </p:spPr>
        <p:txBody>
          <a:bodyPr wrap="square" lIns="0" tIns="0" rIns="0" bIns="0" rtlCol="0" anchor="ctr"/>
          <a:lstStyle/>
          <a:p>
            <a:pPr indent="0" marL="0">
              <a:buNone/>
            </a:pPr>
            <a:r>
              <a:rPr lang="en-US" sz="1050" dirty="0">
                <a:solidFill>
                  <a:srgbClr val="1A2E3B"/>
                </a:solidFill>
                <a:latin typeface="Calibri" pitchFamily="34" charset="0"/>
                <a:ea typeface="Calibri" pitchFamily="34" charset="-122"/>
                <a:cs typeface="Calibri" pitchFamily="34" charset="-120"/>
              </a:rPr>
              <a:t>5 rooms</a:t>
            </a:r>
            <a:endParaRPr lang="en-US" sz="1050" dirty="0"/>
          </a:p>
        </p:txBody>
      </p:sp>
      <p:sp>
        <p:nvSpPr>
          <p:cNvPr id="14" name="Text 12"/>
          <p:cNvSpPr/>
          <p:nvPr/>
        </p:nvSpPr>
        <p:spPr>
          <a:xfrm>
            <a:off x="3383280" y="1773936"/>
            <a:ext cx="2560320" cy="182880"/>
          </a:xfrm>
          <a:prstGeom prst="rect">
            <a:avLst/>
          </a:prstGeom>
          <a:noFill/>
          <a:ln/>
        </p:spPr>
        <p:txBody>
          <a:bodyPr wrap="square" lIns="0" tIns="0" rIns="0" bIns="0" rtlCol="0" anchor="ctr"/>
          <a:lstStyle/>
          <a:p>
            <a:pPr indent="0" marL="0">
              <a:buNone/>
            </a:pPr>
            <a:r>
              <a:rPr lang="en-US" sz="1050" dirty="0">
                <a:solidFill>
                  <a:srgbClr val="1A2E3B"/>
                </a:solidFill>
                <a:latin typeface="Calibri" pitchFamily="34" charset="0"/>
                <a:ea typeface="Calibri" pitchFamily="34" charset="-122"/>
                <a:cs typeface="Calibri" pitchFamily="34" charset="-120"/>
              </a:rPr>
              <a:t>PuLP/CBC · Pyomo/CBC</a:t>
            </a:r>
            <a:endParaRPr lang="en-US" sz="1050" dirty="0"/>
          </a:p>
        </p:txBody>
      </p:sp>
      <p:sp>
        <p:nvSpPr>
          <p:cNvPr id="15" name="Text 13"/>
          <p:cNvSpPr/>
          <p:nvPr/>
        </p:nvSpPr>
        <p:spPr>
          <a:xfrm>
            <a:off x="6217920" y="1773936"/>
            <a:ext cx="2560320" cy="182880"/>
          </a:xfrm>
          <a:prstGeom prst="rect">
            <a:avLst/>
          </a:prstGeom>
          <a:noFill/>
          <a:ln/>
        </p:spPr>
        <p:txBody>
          <a:bodyPr wrap="square" lIns="0" tIns="0" rIns="0" bIns="0" rtlCol="0" anchor="ctr"/>
          <a:lstStyle/>
          <a:p>
            <a:pPr indent="0" marL="0">
              <a:buNone/>
            </a:pPr>
            <a:r>
              <a:rPr lang="en-US" sz="1050" dirty="0">
                <a:solidFill>
                  <a:srgbClr val="1A2E3B"/>
                </a:solidFill>
                <a:latin typeface="Calibri" pitchFamily="34" charset="0"/>
                <a:ea typeface="Calibri" pitchFamily="34" charset="-122"/>
                <a:cs typeface="Calibri" pitchFamily="34" charset="-120"/>
              </a:rPr>
              <a:t>Obj: 155.0</a:t>
            </a:r>
            <a:endParaRPr lang="en-US" sz="1050" dirty="0"/>
          </a:p>
        </p:txBody>
      </p:sp>
      <p:sp>
        <p:nvSpPr>
          <p:cNvPr id="16" name="Text 14"/>
          <p:cNvSpPr/>
          <p:nvPr/>
        </p:nvSpPr>
        <p:spPr>
          <a:xfrm>
            <a:off x="6217920" y="1956816"/>
            <a:ext cx="2560320" cy="182880"/>
          </a:xfrm>
          <a:prstGeom prst="rect">
            <a:avLst/>
          </a:prstGeom>
          <a:noFill/>
          <a:ln/>
        </p:spPr>
        <p:txBody>
          <a:bodyPr wrap="square" lIns="0" tIns="0" rIns="0" bIns="0" rtlCol="0" anchor="ctr"/>
          <a:lstStyle/>
          <a:p>
            <a:pPr indent="0" marL="0">
              <a:buNone/>
            </a:pPr>
            <a:r>
              <a:rPr lang="en-US" sz="1050" dirty="0">
                <a:solidFill>
                  <a:srgbClr val="1A2E3B"/>
                </a:solidFill>
                <a:latin typeface="Calibri" pitchFamily="34" charset="0"/>
                <a:ea typeface="Calibri" pitchFamily="34" charset="-122"/>
                <a:cs typeface="Calibri" pitchFamily="34" charset="-120"/>
              </a:rPr>
              <a:t>Time: 0.03s</a:t>
            </a:r>
            <a:endParaRPr lang="en-US" sz="1050" dirty="0"/>
          </a:p>
        </p:txBody>
      </p:sp>
      <p:sp>
        <p:nvSpPr>
          <p:cNvPr id="17" name="Text 15"/>
          <p:cNvSpPr/>
          <p:nvPr/>
        </p:nvSpPr>
        <p:spPr>
          <a:xfrm>
            <a:off x="6217920" y="2139696"/>
            <a:ext cx="2560320" cy="182880"/>
          </a:xfrm>
          <a:prstGeom prst="rect">
            <a:avLst/>
          </a:prstGeom>
          <a:noFill/>
          <a:ln/>
        </p:spPr>
        <p:txBody>
          <a:bodyPr wrap="square" lIns="0" tIns="0" rIns="0" bIns="0" rtlCol="0" anchor="ctr"/>
          <a:lstStyle/>
          <a:p>
            <a:pPr indent="0" marL="0">
              <a:buNone/>
            </a:pPr>
            <a:r>
              <a:rPr lang="en-US" sz="1050" dirty="0">
                <a:solidFill>
                  <a:srgbClr val="1A2E3B"/>
                </a:solidFill>
                <a:latin typeface="Calibri" pitchFamily="34" charset="0"/>
                <a:ea typeface="Calibri" pitchFamily="34" charset="-122"/>
                <a:cs typeface="Calibri" pitchFamily="34" charset="-120"/>
              </a:rPr>
              <a:t>Status: Optimal</a:t>
            </a:r>
            <a:endParaRPr lang="en-US" sz="1050" dirty="0"/>
          </a:p>
        </p:txBody>
      </p:sp>
      <p:sp>
        <p:nvSpPr>
          <p:cNvPr id="18" name="Shape 16"/>
          <p:cNvSpPr/>
          <p:nvPr/>
        </p:nvSpPr>
        <p:spPr>
          <a:xfrm>
            <a:off x="274320" y="2359152"/>
            <a:ext cx="8595360" cy="1078992"/>
          </a:xfrm>
          <a:prstGeom prst="roundRect">
            <a:avLst>
              <a:gd name="adj" fmla="val 6780"/>
            </a:avLst>
          </a:prstGeom>
          <a:solidFill>
            <a:srgbClr val="FFFFFF"/>
          </a:solidFill>
          <a:ln/>
          <a:effectLst>
            <a:outerShdw sx="100000" sy="100000" kx="0" ky="0" algn="bl" rotWithShape="0" blurRad="63500" dist="25400" dir="2700000">
              <a:srgbClr val="000000">
                <a:alpha val="10000"/>
              </a:srgbClr>
            </a:outerShdw>
          </a:effectLst>
        </p:spPr>
      </p:sp>
      <p:sp>
        <p:nvSpPr>
          <p:cNvPr id="19" name="Shape 17"/>
          <p:cNvSpPr/>
          <p:nvPr/>
        </p:nvSpPr>
        <p:spPr>
          <a:xfrm>
            <a:off x="457200" y="2450592"/>
            <a:ext cx="457200" cy="457200"/>
          </a:xfrm>
          <a:prstGeom prst="ellipse">
            <a:avLst/>
          </a:prstGeom>
          <a:solidFill>
            <a:srgbClr val="0D7377"/>
          </a:solidFill>
          <a:ln w="12700">
            <a:solidFill>
              <a:srgbClr val="0D7377"/>
            </a:solidFill>
            <a:prstDash val="solid"/>
          </a:ln>
        </p:spPr>
      </p:sp>
      <p:sp>
        <p:nvSpPr>
          <p:cNvPr id="20" name="Text 18"/>
          <p:cNvSpPr/>
          <p:nvPr/>
        </p:nvSpPr>
        <p:spPr>
          <a:xfrm>
            <a:off x="457200" y="245059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Text 19"/>
          <p:cNvSpPr/>
          <p:nvPr/>
        </p:nvSpPr>
        <p:spPr>
          <a:xfrm>
            <a:off x="1051560" y="2432304"/>
            <a:ext cx="3657600" cy="274320"/>
          </a:xfrm>
          <a:prstGeom prst="rect">
            <a:avLst/>
          </a:prstGeom>
          <a:noFill/>
          <a:ln/>
        </p:spPr>
        <p:txBody>
          <a:bodyPr wrap="square" lIns="0" tIns="0" rIns="0" bIns="0" rtlCol="0" anchor="ctr"/>
          <a:lstStyle/>
          <a:p>
            <a:pPr indent="0" marL="0">
              <a:buNone/>
            </a:pPr>
            <a:r>
              <a:rPr lang="en-US" sz="1300" b="1" dirty="0">
                <a:solidFill>
                  <a:srgbClr val="0A2E4A"/>
                </a:solidFill>
                <a:latin typeface="Calibri" pitchFamily="34" charset="0"/>
                <a:ea typeface="Calibri" pitchFamily="34" charset="-122"/>
                <a:cs typeface="Calibri" pitchFamily="34" charset="-120"/>
              </a:rPr>
              <a:t>small_chln()</a:t>
            </a:r>
            <a:endParaRPr lang="en-US" sz="1300" dirty="0"/>
          </a:p>
        </p:txBody>
      </p:sp>
      <p:sp>
        <p:nvSpPr>
          <p:cNvPr id="22" name="Text 20"/>
          <p:cNvSpPr/>
          <p:nvPr/>
        </p:nvSpPr>
        <p:spPr>
          <a:xfrm>
            <a:off x="1051560" y="2724912"/>
            <a:ext cx="7315200" cy="201168"/>
          </a:xfrm>
          <a:prstGeom prst="rect">
            <a:avLst/>
          </a:prstGeom>
          <a:noFill/>
          <a:ln/>
        </p:spPr>
        <p:txBody>
          <a:bodyPr wrap="square" lIns="0" tIns="0" rIns="0" bIns="0"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CHLN-scale sub-sample</a:t>
            </a:r>
            <a:endParaRPr lang="en-US" sz="1000" dirty="0"/>
          </a:p>
        </p:txBody>
      </p:sp>
      <p:sp>
        <p:nvSpPr>
          <p:cNvPr id="23" name="Text 21"/>
          <p:cNvSpPr/>
          <p:nvPr/>
        </p:nvSpPr>
        <p:spPr>
          <a:xfrm>
            <a:off x="1051560" y="2944368"/>
            <a:ext cx="2560320" cy="182880"/>
          </a:xfrm>
          <a:prstGeom prst="rect">
            <a:avLst/>
          </a:prstGeom>
          <a:noFill/>
          <a:ln/>
        </p:spPr>
        <p:txBody>
          <a:bodyPr wrap="square" lIns="0" tIns="0" rIns="0" bIns="0" rtlCol="0" anchor="ctr"/>
          <a:lstStyle/>
          <a:p>
            <a:pPr indent="0" marL="0">
              <a:buNone/>
            </a:pPr>
            <a:r>
              <a:rPr lang="en-US" sz="1050" dirty="0">
                <a:solidFill>
                  <a:srgbClr val="1A2E3B"/>
                </a:solidFill>
                <a:latin typeface="Calibri" pitchFamily="34" charset="0"/>
                <a:ea typeface="Calibri" pitchFamily="34" charset="-122"/>
                <a:cs typeface="Calibri" pitchFamily="34" charset="-120"/>
              </a:rPr>
              <a:t>50 cases</a:t>
            </a:r>
            <a:endParaRPr lang="en-US" sz="1050" dirty="0"/>
          </a:p>
        </p:txBody>
      </p:sp>
      <p:sp>
        <p:nvSpPr>
          <p:cNvPr id="24" name="Text 22"/>
          <p:cNvSpPr/>
          <p:nvPr/>
        </p:nvSpPr>
        <p:spPr>
          <a:xfrm>
            <a:off x="1051560" y="3127248"/>
            <a:ext cx="2560320" cy="182880"/>
          </a:xfrm>
          <a:prstGeom prst="rect">
            <a:avLst/>
          </a:prstGeom>
          <a:noFill/>
          <a:ln/>
        </p:spPr>
        <p:txBody>
          <a:bodyPr wrap="square" lIns="0" tIns="0" rIns="0" bIns="0" rtlCol="0" anchor="ctr"/>
          <a:lstStyle/>
          <a:p>
            <a:pPr indent="0" marL="0">
              <a:buNone/>
            </a:pPr>
            <a:r>
              <a:rPr lang="en-US" sz="1050" dirty="0">
                <a:solidFill>
                  <a:srgbClr val="1A2E3B"/>
                </a:solidFill>
                <a:latin typeface="Calibri" pitchFamily="34" charset="0"/>
                <a:ea typeface="Calibri" pitchFamily="34" charset="-122"/>
                <a:cs typeface="Calibri" pitchFamily="34" charset="-120"/>
              </a:rPr>
              <a:t>8 rooms</a:t>
            </a:r>
            <a:endParaRPr lang="en-US" sz="1050" dirty="0"/>
          </a:p>
        </p:txBody>
      </p:sp>
      <p:sp>
        <p:nvSpPr>
          <p:cNvPr id="25" name="Text 23"/>
          <p:cNvSpPr/>
          <p:nvPr/>
        </p:nvSpPr>
        <p:spPr>
          <a:xfrm>
            <a:off x="3383280" y="2944368"/>
            <a:ext cx="2560320" cy="182880"/>
          </a:xfrm>
          <a:prstGeom prst="rect">
            <a:avLst/>
          </a:prstGeom>
          <a:noFill/>
          <a:ln/>
        </p:spPr>
        <p:txBody>
          <a:bodyPr wrap="square" lIns="0" tIns="0" rIns="0" bIns="0" rtlCol="0" anchor="ctr"/>
          <a:lstStyle/>
          <a:p>
            <a:pPr indent="0" marL="0">
              <a:buNone/>
            </a:pPr>
            <a:r>
              <a:rPr lang="en-US" sz="1050" dirty="0">
                <a:solidFill>
                  <a:srgbClr val="1A2E3B"/>
                </a:solidFill>
                <a:latin typeface="Calibri" pitchFamily="34" charset="0"/>
                <a:ea typeface="Calibri" pitchFamily="34" charset="-122"/>
                <a:cs typeface="Calibri" pitchFamily="34" charset="-120"/>
              </a:rPr>
              <a:t>PuLP/CBC · Pyomo/CBC</a:t>
            </a:r>
            <a:endParaRPr lang="en-US" sz="1050" dirty="0"/>
          </a:p>
        </p:txBody>
      </p:sp>
      <p:sp>
        <p:nvSpPr>
          <p:cNvPr id="26" name="Text 24"/>
          <p:cNvSpPr/>
          <p:nvPr/>
        </p:nvSpPr>
        <p:spPr>
          <a:xfrm>
            <a:off x="6217920" y="2944368"/>
            <a:ext cx="2560320" cy="182880"/>
          </a:xfrm>
          <a:prstGeom prst="rect">
            <a:avLst/>
          </a:prstGeom>
          <a:noFill/>
          <a:ln/>
        </p:spPr>
        <p:txBody>
          <a:bodyPr wrap="square" lIns="0" tIns="0" rIns="0" bIns="0" rtlCol="0" anchor="ctr"/>
          <a:lstStyle/>
          <a:p>
            <a:pPr indent="0" marL="0">
              <a:buNone/>
            </a:pPr>
            <a:r>
              <a:rPr lang="en-US" sz="1050" dirty="0">
                <a:solidFill>
                  <a:srgbClr val="1A2E3B"/>
                </a:solidFill>
                <a:latin typeface="Calibri" pitchFamily="34" charset="0"/>
                <a:ea typeface="Calibri" pitchFamily="34" charset="-122"/>
                <a:cs typeface="Calibri" pitchFamily="34" charset="-120"/>
              </a:rPr>
              <a:t>Obj: varies</a:t>
            </a:r>
            <a:endParaRPr lang="en-US" sz="1050" dirty="0"/>
          </a:p>
        </p:txBody>
      </p:sp>
      <p:sp>
        <p:nvSpPr>
          <p:cNvPr id="27" name="Text 25"/>
          <p:cNvSpPr/>
          <p:nvPr/>
        </p:nvSpPr>
        <p:spPr>
          <a:xfrm>
            <a:off x="6217920" y="3127248"/>
            <a:ext cx="2560320" cy="182880"/>
          </a:xfrm>
          <a:prstGeom prst="rect">
            <a:avLst/>
          </a:prstGeom>
          <a:noFill/>
          <a:ln/>
        </p:spPr>
        <p:txBody>
          <a:bodyPr wrap="square" lIns="0" tIns="0" rIns="0" bIns="0" rtlCol="0" anchor="ctr"/>
          <a:lstStyle/>
          <a:p>
            <a:pPr indent="0" marL="0">
              <a:buNone/>
            </a:pPr>
            <a:r>
              <a:rPr lang="en-US" sz="1050" dirty="0">
                <a:solidFill>
                  <a:srgbClr val="1A2E3B"/>
                </a:solidFill>
                <a:latin typeface="Calibri" pitchFamily="34" charset="0"/>
                <a:ea typeface="Calibri" pitchFamily="34" charset="-122"/>
                <a:cs typeface="Calibri" pitchFamily="34" charset="-120"/>
              </a:rPr>
              <a:t>Time: ~0.5s</a:t>
            </a:r>
            <a:endParaRPr lang="en-US" sz="1050" dirty="0"/>
          </a:p>
        </p:txBody>
      </p:sp>
      <p:sp>
        <p:nvSpPr>
          <p:cNvPr id="28" name="Text 26"/>
          <p:cNvSpPr/>
          <p:nvPr/>
        </p:nvSpPr>
        <p:spPr>
          <a:xfrm>
            <a:off x="6217920" y="3310128"/>
            <a:ext cx="2560320" cy="182880"/>
          </a:xfrm>
          <a:prstGeom prst="rect">
            <a:avLst/>
          </a:prstGeom>
          <a:noFill/>
          <a:ln/>
        </p:spPr>
        <p:txBody>
          <a:bodyPr wrap="square" lIns="0" tIns="0" rIns="0" bIns="0" rtlCol="0" anchor="ctr"/>
          <a:lstStyle/>
          <a:p>
            <a:pPr indent="0" marL="0">
              <a:buNone/>
            </a:pPr>
            <a:r>
              <a:rPr lang="en-US" sz="1050" dirty="0">
                <a:solidFill>
                  <a:srgbClr val="1A2E3B"/>
                </a:solidFill>
                <a:latin typeface="Calibri" pitchFamily="34" charset="0"/>
                <a:ea typeface="Calibri" pitchFamily="34" charset="-122"/>
                <a:cs typeface="Calibri" pitchFamily="34" charset="-120"/>
              </a:rPr>
              <a:t>Status: Optimal</a:t>
            </a:r>
            <a:endParaRPr lang="en-US" sz="1050" dirty="0"/>
          </a:p>
        </p:txBody>
      </p:sp>
      <p:sp>
        <p:nvSpPr>
          <p:cNvPr id="29" name="Shape 27"/>
          <p:cNvSpPr/>
          <p:nvPr/>
        </p:nvSpPr>
        <p:spPr>
          <a:xfrm>
            <a:off x="274320" y="3529584"/>
            <a:ext cx="8595360" cy="1078992"/>
          </a:xfrm>
          <a:prstGeom prst="roundRect">
            <a:avLst>
              <a:gd name="adj" fmla="val 6780"/>
            </a:avLst>
          </a:prstGeom>
          <a:solidFill>
            <a:srgbClr val="FFFFFF"/>
          </a:solidFill>
          <a:ln/>
          <a:effectLst>
            <a:outerShdw sx="100000" sy="100000" kx="0" ky="0" algn="bl" rotWithShape="0" blurRad="63500" dist="25400" dir="2700000">
              <a:srgbClr val="000000">
                <a:alpha val="10000"/>
              </a:srgbClr>
            </a:outerShdw>
          </a:effectLst>
        </p:spPr>
      </p:sp>
      <p:sp>
        <p:nvSpPr>
          <p:cNvPr id="30" name="Shape 28"/>
          <p:cNvSpPr/>
          <p:nvPr/>
        </p:nvSpPr>
        <p:spPr>
          <a:xfrm>
            <a:off x="457200" y="3621024"/>
            <a:ext cx="457200" cy="457200"/>
          </a:xfrm>
          <a:prstGeom prst="ellipse">
            <a:avLst/>
          </a:prstGeom>
          <a:solidFill>
            <a:srgbClr val="0D7377"/>
          </a:solidFill>
          <a:ln w="12700">
            <a:solidFill>
              <a:srgbClr val="0D7377"/>
            </a:solidFill>
            <a:prstDash val="solid"/>
          </a:ln>
        </p:spPr>
      </p:sp>
      <p:sp>
        <p:nvSpPr>
          <p:cNvPr id="31" name="Text 29"/>
          <p:cNvSpPr/>
          <p:nvPr/>
        </p:nvSpPr>
        <p:spPr>
          <a:xfrm>
            <a:off x="457200" y="362102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2" name="Text 30"/>
          <p:cNvSpPr/>
          <p:nvPr/>
        </p:nvSpPr>
        <p:spPr>
          <a:xfrm>
            <a:off x="1051560" y="3602736"/>
            <a:ext cx="3657600" cy="274320"/>
          </a:xfrm>
          <a:prstGeom prst="rect">
            <a:avLst/>
          </a:prstGeom>
          <a:noFill/>
          <a:ln/>
        </p:spPr>
        <p:txBody>
          <a:bodyPr wrap="square" lIns="0" tIns="0" rIns="0" bIns="0" rtlCol="0" anchor="ctr"/>
          <a:lstStyle/>
          <a:p>
            <a:pPr indent="0" marL="0">
              <a:buNone/>
            </a:pPr>
            <a:r>
              <a:rPr lang="en-US" sz="1300" b="1" dirty="0">
                <a:solidFill>
                  <a:srgbClr val="0A2E4A"/>
                </a:solidFill>
                <a:latin typeface="Calibri" pitchFamily="34" charset="0"/>
                <a:ea typeface="Calibri" pitchFamily="34" charset="-122"/>
                <a:cs typeface="Calibri" pitchFamily="34" charset="-120"/>
              </a:rPr>
              <a:t>literature_cardoen()</a:t>
            </a:r>
            <a:endParaRPr lang="en-US" sz="1300" dirty="0"/>
          </a:p>
        </p:txBody>
      </p:sp>
      <p:sp>
        <p:nvSpPr>
          <p:cNvPr id="33" name="Text 31"/>
          <p:cNvSpPr/>
          <p:nvPr/>
        </p:nvSpPr>
        <p:spPr>
          <a:xfrm>
            <a:off x="1051560" y="3895344"/>
            <a:ext cx="7315200" cy="201168"/>
          </a:xfrm>
          <a:prstGeom prst="rect">
            <a:avLst/>
          </a:prstGeom>
          <a:noFill/>
          <a:ln/>
        </p:spPr>
        <p:txBody>
          <a:bodyPr wrap="square" lIns="0" tIns="0" rIns="0" bIns="0"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Cardoen et al. (2010) EJOR benchmark</a:t>
            </a:r>
            <a:endParaRPr lang="en-US" sz="1000" dirty="0"/>
          </a:p>
        </p:txBody>
      </p:sp>
      <p:sp>
        <p:nvSpPr>
          <p:cNvPr id="34" name="Text 32"/>
          <p:cNvSpPr/>
          <p:nvPr/>
        </p:nvSpPr>
        <p:spPr>
          <a:xfrm>
            <a:off x="1051560" y="4114800"/>
            <a:ext cx="2560320" cy="182880"/>
          </a:xfrm>
          <a:prstGeom prst="rect">
            <a:avLst/>
          </a:prstGeom>
          <a:noFill/>
          <a:ln/>
        </p:spPr>
        <p:txBody>
          <a:bodyPr wrap="square" lIns="0" tIns="0" rIns="0" bIns="0" rtlCol="0" anchor="ctr"/>
          <a:lstStyle/>
          <a:p>
            <a:pPr indent="0" marL="0">
              <a:buNone/>
            </a:pPr>
            <a:r>
              <a:rPr lang="en-US" sz="1050" dirty="0">
                <a:solidFill>
                  <a:srgbClr val="1A2E3B"/>
                </a:solidFill>
                <a:latin typeface="Calibri" pitchFamily="34" charset="0"/>
                <a:ea typeface="Calibri" pitchFamily="34" charset="-122"/>
                <a:cs typeface="Calibri" pitchFamily="34" charset="-120"/>
              </a:rPr>
              <a:t>60 cases</a:t>
            </a:r>
            <a:endParaRPr lang="en-US" sz="1050" dirty="0"/>
          </a:p>
        </p:txBody>
      </p:sp>
      <p:sp>
        <p:nvSpPr>
          <p:cNvPr id="35" name="Text 33"/>
          <p:cNvSpPr/>
          <p:nvPr/>
        </p:nvSpPr>
        <p:spPr>
          <a:xfrm>
            <a:off x="1051560" y="4297680"/>
            <a:ext cx="2560320" cy="182880"/>
          </a:xfrm>
          <a:prstGeom prst="rect">
            <a:avLst/>
          </a:prstGeom>
          <a:noFill/>
          <a:ln/>
        </p:spPr>
        <p:txBody>
          <a:bodyPr wrap="square" lIns="0" tIns="0" rIns="0" bIns="0" rtlCol="0" anchor="ctr"/>
          <a:lstStyle/>
          <a:p>
            <a:pPr indent="0" marL="0">
              <a:buNone/>
            </a:pPr>
            <a:r>
              <a:rPr lang="en-US" sz="1050" dirty="0">
                <a:solidFill>
                  <a:srgbClr val="1A2E3B"/>
                </a:solidFill>
                <a:latin typeface="Calibri" pitchFamily="34" charset="0"/>
                <a:ea typeface="Calibri" pitchFamily="34" charset="-122"/>
                <a:cs typeface="Calibri" pitchFamily="34" charset="-120"/>
              </a:rPr>
              <a:t>8 rooms</a:t>
            </a:r>
            <a:endParaRPr lang="en-US" sz="1050" dirty="0"/>
          </a:p>
        </p:txBody>
      </p:sp>
      <p:sp>
        <p:nvSpPr>
          <p:cNvPr id="36" name="Text 34"/>
          <p:cNvSpPr/>
          <p:nvPr/>
        </p:nvSpPr>
        <p:spPr>
          <a:xfrm>
            <a:off x="3383280" y="4114800"/>
            <a:ext cx="2560320" cy="182880"/>
          </a:xfrm>
          <a:prstGeom prst="rect">
            <a:avLst/>
          </a:prstGeom>
          <a:noFill/>
          <a:ln/>
        </p:spPr>
        <p:txBody>
          <a:bodyPr wrap="square" lIns="0" tIns="0" rIns="0" bIns="0" rtlCol="0" anchor="ctr"/>
          <a:lstStyle/>
          <a:p>
            <a:pPr indent="0" marL="0">
              <a:buNone/>
            </a:pPr>
            <a:r>
              <a:rPr lang="en-US" sz="1050" dirty="0">
                <a:solidFill>
                  <a:srgbClr val="1A2E3B"/>
                </a:solidFill>
                <a:latin typeface="Calibri" pitchFamily="34" charset="0"/>
                <a:ea typeface="Calibri" pitchFamily="34" charset="-122"/>
                <a:cs typeface="Calibri" pitchFamily="34" charset="-120"/>
              </a:rPr>
              <a:t>PuLP/CBC · Pyomo/CBC</a:t>
            </a:r>
            <a:endParaRPr lang="en-US" sz="1050" dirty="0"/>
          </a:p>
        </p:txBody>
      </p:sp>
      <p:sp>
        <p:nvSpPr>
          <p:cNvPr id="37" name="Text 35"/>
          <p:cNvSpPr/>
          <p:nvPr/>
        </p:nvSpPr>
        <p:spPr>
          <a:xfrm>
            <a:off x="6217920" y="4114800"/>
            <a:ext cx="2560320" cy="182880"/>
          </a:xfrm>
          <a:prstGeom prst="rect">
            <a:avLst/>
          </a:prstGeom>
          <a:noFill/>
          <a:ln/>
        </p:spPr>
        <p:txBody>
          <a:bodyPr wrap="square" lIns="0" tIns="0" rIns="0" bIns="0" rtlCol="0" anchor="ctr"/>
          <a:lstStyle/>
          <a:p>
            <a:pPr indent="0" marL="0">
              <a:buNone/>
            </a:pPr>
            <a:r>
              <a:rPr lang="en-US" sz="1050" dirty="0">
                <a:solidFill>
                  <a:srgbClr val="1A2E3B"/>
                </a:solidFill>
                <a:latin typeface="Calibri" pitchFamily="34" charset="0"/>
                <a:ea typeface="Calibri" pitchFamily="34" charset="-122"/>
                <a:cs typeface="Calibri" pitchFamily="34" charset="-120"/>
              </a:rPr>
              <a:t>Obj: varies</a:t>
            </a:r>
            <a:endParaRPr lang="en-US" sz="1050" dirty="0"/>
          </a:p>
        </p:txBody>
      </p:sp>
      <p:sp>
        <p:nvSpPr>
          <p:cNvPr id="38" name="Text 36"/>
          <p:cNvSpPr/>
          <p:nvPr/>
        </p:nvSpPr>
        <p:spPr>
          <a:xfrm>
            <a:off x="6217920" y="4297680"/>
            <a:ext cx="2560320" cy="182880"/>
          </a:xfrm>
          <a:prstGeom prst="rect">
            <a:avLst/>
          </a:prstGeom>
          <a:noFill/>
          <a:ln/>
        </p:spPr>
        <p:txBody>
          <a:bodyPr wrap="square" lIns="0" tIns="0" rIns="0" bIns="0" rtlCol="0" anchor="ctr"/>
          <a:lstStyle/>
          <a:p>
            <a:pPr indent="0" marL="0">
              <a:buNone/>
            </a:pPr>
            <a:r>
              <a:rPr lang="en-US" sz="1050" dirty="0">
                <a:solidFill>
                  <a:srgbClr val="1A2E3B"/>
                </a:solidFill>
                <a:latin typeface="Calibri" pitchFamily="34" charset="0"/>
                <a:ea typeface="Calibri" pitchFamily="34" charset="-122"/>
                <a:cs typeface="Calibri" pitchFamily="34" charset="-120"/>
              </a:rPr>
              <a:t>Time: ~2s</a:t>
            </a:r>
            <a:endParaRPr lang="en-US" sz="1050" dirty="0"/>
          </a:p>
        </p:txBody>
      </p:sp>
      <p:sp>
        <p:nvSpPr>
          <p:cNvPr id="39" name="Text 37"/>
          <p:cNvSpPr/>
          <p:nvPr/>
        </p:nvSpPr>
        <p:spPr>
          <a:xfrm>
            <a:off x="6217920" y="4480560"/>
            <a:ext cx="2560320" cy="182880"/>
          </a:xfrm>
          <a:prstGeom prst="rect">
            <a:avLst/>
          </a:prstGeom>
          <a:noFill/>
          <a:ln/>
        </p:spPr>
        <p:txBody>
          <a:bodyPr wrap="square" lIns="0" tIns="0" rIns="0" bIns="0" rtlCol="0" anchor="ctr"/>
          <a:lstStyle/>
          <a:p>
            <a:pPr indent="0" marL="0">
              <a:buNone/>
            </a:pPr>
            <a:r>
              <a:rPr lang="en-US" sz="1050" dirty="0">
                <a:solidFill>
                  <a:srgbClr val="1A2E3B"/>
                </a:solidFill>
                <a:latin typeface="Calibri" pitchFamily="34" charset="0"/>
                <a:ea typeface="Calibri" pitchFamily="34" charset="-122"/>
                <a:cs typeface="Calibri" pitchFamily="34" charset="-120"/>
              </a:rPr>
              <a:t>Status: Opt/Feas</a:t>
            </a:r>
            <a:endParaRPr lang="en-US" sz="1050" dirty="0"/>
          </a:p>
        </p:txBody>
      </p:sp>
      <p:sp>
        <p:nvSpPr>
          <p:cNvPr id="40" name="Shape 38"/>
          <p:cNvSpPr/>
          <p:nvPr/>
        </p:nvSpPr>
        <p:spPr>
          <a:xfrm>
            <a:off x="0" y="4800600"/>
            <a:ext cx="9144000" cy="342900"/>
          </a:xfrm>
          <a:prstGeom prst="rect">
            <a:avLst/>
          </a:prstGeom>
          <a:solidFill>
            <a:srgbClr val="0A2E4A"/>
          </a:solidFill>
          <a:ln w="12700">
            <a:solidFill>
              <a:srgbClr val="0A2E4A"/>
            </a:solidFill>
            <a:prstDash val="solid"/>
          </a:ln>
        </p:spPr>
      </p:sp>
      <p:sp>
        <p:nvSpPr>
          <p:cNvPr id="41" name="Text 39"/>
          <p:cNvSpPr/>
          <p:nvPr/>
        </p:nvSpPr>
        <p:spPr>
          <a:xfrm>
            <a:off x="182880" y="4818888"/>
            <a:ext cx="6400800" cy="27432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Elective Surgery Scheduling — MILP  ·  SNS/SIGIC Portugal  ·  github.com/</a:t>
            </a:r>
            <a:endParaRPr lang="en-US" sz="800" dirty="0"/>
          </a:p>
        </p:txBody>
      </p:sp>
      <p:sp>
        <p:nvSpPr>
          <p:cNvPr id="42" name="Text 40"/>
          <p:cNvSpPr/>
          <p:nvPr/>
        </p:nvSpPr>
        <p:spPr>
          <a:xfrm>
            <a:off x="7772400" y="4818888"/>
            <a:ext cx="1188720" cy="274320"/>
          </a:xfrm>
          <a:prstGeom prst="rect">
            <a:avLst/>
          </a:prstGeom>
          <a:noFill/>
          <a:ln/>
        </p:spPr>
        <p:txBody>
          <a:bodyPr wrap="square" lIns="0" tIns="0" rIns="0" bIns="0" rtlCol="0" anchor="ctr"/>
          <a:lstStyle/>
          <a:p>
            <a:pPr algn="r" indent="0" marL="0">
              <a:buNone/>
            </a:pPr>
            <a:r>
              <a:rPr lang="en-US" sz="800" dirty="0">
                <a:solidFill>
                  <a:srgbClr val="8FA3B1"/>
                </a:solidFill>
                <a:latin typeface="Calibri" pitchFamily="34" charset="0"/>
                <a:ea typeface="Calibri" pitchFamily="34" charset="-122"/>
                <a:cs typeface="Calibri" pitchFamily="34" charset="-120"/>
              </a:rPr>
              <a:t>13 / 20</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E4A"/>
          </a:solidFill>
          <a:ln w="12700">
            <a:solidFill>
              <a:srgbClr val="0A2E4A"/>
            </a:solidFill>
            <a:prstDash val="solid"/>
          </a:ln>
        </p:spPr>
      </p:sp>
      <p:sp>
        <p:nvSpPr>
          <p:cNvPr id="3" name="Shape 1"/>
          <p:cNvSpPr/>
          <p:nvPr/>
        </p:nvSpPr>
        <p:spPr>
          <a:xfrm>
            <a:off x="0" y="1005840"/>
            <a:ext cx="9144000" cy="54864"/>
          </a:xfrm>
          <a:prstGeom prst="rect">
            <a:avLst/>
          </a:prstGeom>
          <a:solidFill>
            <a:srgbClr val="0D7377"/>
          </a:solidFill>
          <a:ln w="12700">
            <a:solidFill>
              <a:srgbClr val="0D7377"/>
            </a:solidFill>
            <a:prstDash val="solid"/>
          </a:ln>
        </p:spPr>
      </p:sp>
      <p:sp>
        <p:nvSpPr>
          <p:cNvPr id="4" name="Shape 2"/>
          <p:cNvSpPr/>
          <p:nvPr/>
        </p:nvSpPr>
        <p:spPr>
          <a:xfrm>
            <a:off x="7772400" y="0"/>
            <a:ext cx="1371600" cy="1005840"/>
          </a:xfrm>
          <a:prstGeom prst="rect">
            <a:avLst/>
          </a:prstGeom>
          <a:solidFill>
            <a:srgbClr val="0D7377"/>
          </a:solidFill>
          <a:ln w="12700">
            <a:solidFill>
              <a:srgbClr val="0D7377"/>
            </a:solidFill>
            <a:prstDash val="solid"/>
          </a:ln>
        </p:spPr>
      </p:sp>
      <p:sp>
        <p:nvSpPr>
          <p:cNvPr id="5" name="Text 3"/>
          <p:cNvSpPr/>
          <p:nvPr/>
        </p:nvSpPr>
        <p:spPr>
          <a:xfrm>
            <a:off x="320040" y="73152"/>
            <a:ext cx="685800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Multi-Solver Comparison</a:t>
            </a:r>
            <a:endParaRPr lang="en-US" sz="2000" dirty="0"/>
          </a:p>
        </p:txBody>
      </p:sp>
      <p:sp>
        <p:nvSpPr>
          <p:cNvPr id="6" name="Text 4"/>
          <p:cNvSpPr/>
          <p:nvPr/>
        </p:nvSpPr>
        <p:spPr>
          <a:xfrm>
            <a:off x="320040" y="566928"/>
            <a:ext cx="8229600" cy="347472"/>
          </a:xfrm>
          <a:prstGeom prst="rect">
            <a:avLst/>
          </a:prstGeom>
          <a:noFill/>
          <a:ln/>
        </p:spPr>
        <p:txBody>
          <a:bodyPr wrap="square" lIns="0" tIns="0" rIns="0" bIns="0" rtlCol="0" anchor="ctr"/>
          <a:lstStyle/>
          <a:p>
            <a:pPr indent="0" marL="0">
              <a:buNone/>
            </a:pPr>
            <a:r>
              <a:rPr lang="en-US" sz="1150" i="1" dirty="0">
                <a:solidFill>
                  <a:srgbClr val="9EEADF"/>
                </a:solidFill>
                <a:latin typeface="Calibri" pitchFamily="34" charset="0"/>
                <a:ea typeface="Calibri" pitchFamily="34" charset="-122"/>
                <a:cs typeface="Calibri" pitchFamily="34" charset="-120"/>
              </a:rPr>
              <a:t>Same model — three backends — identical optimal solutions</a:t>
            </a:r>
            <a:endParaRPr lang="en-US" sz="11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274320" y="1115568"/>
          <a:ext cx="8595360" cy="914400"/>
        </p:xfrm>
        <a:graphic>
          <a:graphicData uri="http://schemas.openxmlformats.org/drawingml/2006/table">
            <a:tbl>
              <a:tblPr/>
              <a:tblGrid>
                <a:gridCol w="1417320"/>
                <a:gridCol w="1920240"/>
                <a:gridCol w="1097280"/>
                <a:gridCol w="868680"/>
                <a:gridCol w="731520"/>
                <a:gridCol w="685800"/>
                <a:gridCol w="777240"/>
              </a:tblGrid>
              <a:tr h="33832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Solver</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0A2E4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Backend</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0A2E4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Licence</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0A2E4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0A2E4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Obj</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0A2E4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Sched</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0A2E4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Time</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0A2E4A"/>
                    </a:solidFill>
                  </a:tcPr>
                </a:tc>
              </a:tr>
              <a:tr h="338328">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Greedy</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Constructive heuristic</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Free</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Feasible</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161.0</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20/20</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&lt; 0.001s</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r>
              <a:tr h="338328">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PuLP/CBC</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CBC via PuLP</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Free (EPL)</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Optimal</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155.0</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20/20</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0.026s</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r>
              <a:tr h="338328">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Pyomo/CBC</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CBC via Pyomo</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Free (EPL)</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Optimal</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155.0</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20/20</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0.046s</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r>
              <a:tr h="338328">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Pyomo/GLPK</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GLPK via Pyomo</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Free (GPL)</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Optimal</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155.0</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20/20</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~0.1s</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r>
              <a:tr h="338328">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Pyomo/Gurobi</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Gurobi via Pyomo</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Commercial</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Optimal</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155.0</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20/20</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&lt; 0.01s</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r>
              <a:tr h="338328">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Pyomo/CPLEX</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CPLEX via Pyomo</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Commercial</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Optimal</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155.0</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20/20</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&lt; 0.01s</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r>
              <a:tr h="338328">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Pyomo/HiGHS</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HiGHS via Pyomo</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Free (MIT)</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Optimal</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155.0</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20/20</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c>
                  <a:txBody>
                    <a:bodyPr/>
                    <a:lstStyle/>
                    <a:p>
                      <a:pPr indent="0" marL="0">
                        <a:buNone/>
                      </a:pPr>
                      <a:r>
                        <a:rPr lang="en-US" sz="1050" dirty="0">
                          <a:solidFill>
                            <a:srgbClr val="1A2E3B"/>
                          </a:solidFill>
                          <a:latin typeface="Calibri" pitchFamily="34" charset="0"/>
                          <a:ea typeface="Calibri" pitchFamily="34" charset="-122"/>
                          <a:cs typeface="Calibri" pitchFamily="34" charset="-120"/>
                        </a:rPr>
                        <a:t>~0.05s</a:t>
                      </a:r>
                      <a:endParaRPr lang="en-US" sz="1050" dirty="0">
                        <a:latin typeface="Calibri" charset="0"/>
                        <a:ea typeface="Calibri" charset="0"/>
                        <a:cs typeface="Calibri" charset="0"/>
                      </a:endParaRPr>
                    </a:p>
                  </a:txBody>
                  <a:tcPr marL="91440" marR="91440" marT="45720" marB="45720">
                    <a:lnL w="8890" cap="flat" cmpd="sng" algn="ctr">
                      <a:solidFill>
                        <a:srgbClr val="D6E4EC"/>
                      </a:solidFill>
                      <a:prstDash val="solid"/>
                      <a:round/>
                      <a:headEnd type="none" w="med" len="med"/>
                      <a:tailEnd type="none" w="med" len="med"/>
                    </a:lnL>
                    <a:lnR w="8890" cap="flat" cmpd="sng" algn="ctr">
                      <a:solidFill>
                        <a:srgbClr val="D6E4EC"/>
                      </a:solidFill>
                      <a:prstDash val="solid"/>
                      <a:round/>
                      <a:headEnd type="none" w="med" len="med"/>
                      <a:tailEnd type="none" w="med" len="med"/>
                    </a:lnR>
                    <a:lnT w="8890" cap="flat" cmpd="sng" algn="ctr">
                      <a:solidFill>
                        <a:srgbClr val="D6E4EC"/>
                      </a:solidFill>
                      <a:prstDash val="solid"/>
                      <a:round/>
                      <a:headEnd type="none" w="med" len="med"/>
                      <a:tailEnd type="none" w="med" len="med"/>
                    </a:lnT>
                    <a:lnB w="8890" cap="flat" cmpd="sng" algn="ctr">
                      <a:solidFill>
                        <a:srgbClr val="D6E4EC"/>
                      </a:solidFill>
                      <a:prstDash val="solid"/>
                      <a:round/>
                      <a:headEnd type="none" w="med" len="med"/>
                      <a:tailEnd type="none" w="med" len="med"/>
                    </a:lnB>
                    <a:solidFill>
                      <a:srgbClr val="F4F8FA"/>
                    </a:solidFill>
                  </a:tcPr>
                </a:tc>
              </a:tr>
            </a:tbl>
          </a:graphicData>
        </a:graphic>
      </p:graphicFrame>
      <p:sp>
        <p:nvSpPr>
          <p:cNvPr id="8" name="Shape 5"/>
          <p:cNvSpPr/>
          <p:nvPr/>
        </p:nvSpPr>
        <p:spPr>
          <a:xfrm>
            <a:off x="274320" y="3621024"/>
            <a:ext cx="8595360" cy="1078992"/>
          </a:xfrm>
          <a:prstGeom prst="roundRect">
            <a:avLst>
              <a:gd name="adj" fmla="val 6780"/>
            </a:avLst>
          </a:prstGeom>
          <a:solidFill>
            <a:srgbClr val="E8F8F5"/>
          </a:solidFill>
          <a:ln/>
          <a:effectLst>
            <a:outerShdw sx="100000" sy="100000" kx="0" ky="0" algn="bl" rotWithShape="0" blurRad="63500" dist="25400" dir="2700000">
              <a:srgbClr val="000000">
                <a:alpha val="10000"/>
              </a:srgbClr>
            </a:outerShdw>
          </a:effectLst>
        </p:spPr>
      </p:sp>
      <p:sp>
        <p:nvSpPr>
          <p:cNvPr id="9" name="Text 6"/>
          <p:cNvSpPr/>
          <p:nvPr/>
        </p:nvSpPr>
        <p:spPr>
          <a:xfrm>
            <a:off x="457200" y="3675888"/>
            <a:ext cx="1828800" cy="274320"/>
          </a:xfrm>
          <a:prstGeom prst="rect">
            <a:avLst/>
          </a:prstGeom>
          <a:noFill/>
          <a:ln/>
        </p:spPr>
        <p:txBody>
          <a:bodyPr wrap="square" lIns="0" tIns="0" rIns="0" bIns="0" rtlCol="0" anchor="ctr"/>
          <a:lstStyle/>
          <a:p>
            <a:pPr indent="0" marL="0">
              <a:buNone/>
            </a:pPr>
            <a:r>
              <a:rPr lang="en-US" sz="1200" b="1" dirty="0">
                <a:solidFill>
                  <a:srgbClr val="0A2E4A"/>
                </a:solidFill>
                <a:latin typeface="Calibri" pitchFamily="34" charset="0"/>
                <a:ea typeface="Calibri" pitchFamily="34" charset="-122"/>
                <a:cs typeface="Calibri" pitchFamily="34" charset="-120"/>
              </a:rPr>
              <a:t>Key takeaway:</a:t>
            </a:r>
            <a:endParaRPr lang="en-US" sz="1200" dirty="0"/>
          </a:p>
        </p:txBody>
      </p:sp>
      <p:sp>
        <p:nvSpPr>
          <p:cNvPr id="10" name="Text 7"/>
          <p:cNvSpPr/>
          <p:nvPr/>
        </p:nvSpPr>
        <p:spPr>
          <a:xfrm>
            <a:off x="457200" y="4005072"/>
            <a:ext cx="8229600" cy="621792"/>
          </a:xfrm>
          <a:prstGeom prst="rect">
            <a:avLst/>
          </a:prstGeom>
          <a:noFill/>
          <a:ln/>
        </p:spPr>
        <p:txBody>
          <a:bodyPr wrap="square" rtlCol="0" anchor="ctr"/>
          <a:lstStyle/>
          <a:p>
            <a:pPr indent="0" marL="0">
              <a:buNone/>
            </a:pPr>
            <a:r>
              <a:rPr lang="en-US" sz="1100" dirty="0">
                <a:solidFill>
                  <a:srgbClr val="1A2E3B"/>
                </a:solidFill>
                <a:latin typeface="Calibri" pitchFamily="34" charset="0"/>
                <a:ea typeface="Calibri" pitchFamily="34" charset="-122"/>
                <a:cs typeface="Calibri" pitchFamily="34" charset="-120"/>
              </a:rPr>
              <a:t>All MILP solvers produce identical optimal objectives (155.0). The Greedy heuristic (3.7% gap) can warm-start the MILP or substitute when a solver licence is unavailable.
</a:t>
            </a:r>
            <a:pPr indent="0" marL="0">
              <a:buNone/>
            </a:pPr>
            <a:r>
              <a:rPr lang="en-US" sz="1100" b="1" dirty="0">
                <a:solidFill>
                  <a:srgbClr val="1A2E3B"/>
                </a:solidFill>
                <a:latin typeface="Calibri" pitchFamily="34" charset="0"/>
                <a:ea typeface="Calibri" pitchFamily="34" charset="-122"/>
                <a:cs typeface="Calibri" pitchFamily="34" charset="-120"/>
              </a:rPr>
              <a:t>Gurobi/CPLEX: </a:t>
            </a:r>
            <a:pPr indent="0" marL="0">
              <a:buNone/>
            </a:pPr>
            <a:r>
              <a:rPr lang="en-US" sz="1100" dirty="0">
                <a:solidFill>
                  <a:srgbClr val="1A2E3B"/>
                </a:solidFill>
                <a:latin typeface="Calibri" pitchFamily="34" charset="0"/>
                <a:ea typeface="Calibri" pitchFamily="34" charset="-122"/>
                <a:cs typeface="Calibri" pitchFamily="34" charset="-120"/>
              </a:rPr>
              <a:t>best for large instances (real CHLN: ~130k variables). </a:t>
            </a:r>
            <a:pPr indent="0" marL="0">
              <a:buNone/>
            </a:pPr>
            <a:r>
              <a:rPr lang="en-US" sz="1100" b="1" dirty="0">
                <a:solidFill>
                  <a:srgbClr val="1A2E3B"/>
                </a:solidFill>
                <a:latin typeface="Calibri" pitchFamily="34" charset="0"/>
                <a:ea typeface="Calibri" pitchFamily="34" charset="-122"/>
                <a:cs typeface="Calibri" pitchFamily="34" charset="-120"/>
              </a:rPr>
              <a:t>HiGHS: </a:t>
            </a:r>
            <a:pPr indent="0" marL="0">
              <a:buNone/>
            </a:pPr>
            <a:r>
              <a:rPr lang="en-US" sz="1100" dirty="0">
                <a:solidFill>
                  <a:srgbClr val="1A2E3B"/>
                </a:solidFill>
                <a:latin typeface="Calibri" pitchFamily="34" charset="0"/>
                <a:ea typeface="Calibri" pitchFamily="34" charset="-122"/>
                <a:cs typeface="Calibri" pitchFamily="34" charset="-120"/>
              </a:rPr>
              <a:t>free alternative that competes with commercial solvers on medium instances. </a:t>
            </a:r>
            <a:pPr indent="0" marL="0">
              <a:buNone/>
            </a:pPr>
            <a:r>
              <a:rPr lang="en-US" sz="1100" b="1" dirty="0">
                <a:solidFill>
                  <a:srgbClr val="1A2E3B"/>
                </a:solidFill>
                <a:latin typeface="Calibri" pitchFamily="34" charset="0"/>
                <a:ea typeface="Calibri" pitchFamily="34" charset="-122"/>
                <a:cs typeface="Calibri" pitchFamily="34" charset="-120"/>
              </a:rPr>
              <a:t>Pyomo: </a:t>
            </a:r>
            <a:pPr indent="0" marL="0">
              <a:buNone/>
            </a:pPr>
            <a:r>
              <a:rPr lang="en-US" sz="1100" dirty="0">
                <a:solidFill>
                  <a:srgbClr val="1A2E3B"/>
                </a:solidFill>
                <a:latin typeface="Calibri" pitchFamily="34" charset="0"/>
                <a:ea typeface="Calibri" pitchFamily="34" charset="-122"/>
                <a:cs typeface="Calibri" pitchFamily="34" charset="-120"/>
              </a:rPr>
              <a:t>single model source, swap solver with one string argument.</a:t>
            </a:r>
            <a:endParaRPr lang="en-US" sz="1100" dirty="0"/>
          </a:p>
        </p:txBody>
      </p:sp>
      <p:sp>
        <p:nvSpPr>
          <p:cNvPr id="11" name="Shape 8"/>
          <p:cNvSpPr/>
          <p:nvPr/>
        </p:nvSpPr>
        <p:spPr>
          <a:xfrm>
            <a:off x="0" y="4800600"/>
            <a:ext cx="9144000" cy="342900"/>
          </a:xfrm>
          <a:prstGeom prst="rect">
            <a:avLst/>
          </a:prstGeom>
          <a:solidFill>
            <a:srgbClr val="0A2E4A"/>
          </a:solidFill>
          <a:ln w="12700">
            <a:solidFill>
              <a:srgbClr val="0A2E4A"/>
            </a:solidFill>
            <a:prstDash val="solid"/>
          </a:ln>
        </p:spPr>
      </p:sp>
      <p:sp>
        <p:nvSpPr>
          <p:cNvPr id="12" name="Text 9"/>
          <p:cNvSpPr/>
          <p:nvPr/>
        </p:nvSpPr>
        <p:spPr>
          <a:xfrm>
            <a:off x="182880" y="4818888"/>
            <a:ext cx="6400800" cy="27432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Elective Surgery Scheduling — MILP  ·  SNS/SIGIC Portugal  ·  github.com/</a:t>
            </a:r>
            <a:endParaRPr lang="en-US" sz="800" dirty="0"/>
          </a:p>
        </p:txBody>
      </p:sp>
      <p:sp>
        <p:nvSpPr>
          <p:cNvPr id="13" name="Text 10"/>
          <p:cNvSpPr/>
          <p:nvPr/>
        </p:nvSpPr>
        <p:spPr>
          <a:xfrm>
            <a:off x="7772400" y="4818888"/>
            <a:ext cx="1188720" cy="274320"/>
          </a:xfrm>
          <a:prstGeom prst="rect">
            <a:avLst/>
          </a:prstGeom>
          <a:noFill/>
          <a:ln/>
        </p:spPr>
        <p:txBody>
          <a:bodyPr wrap="square" lIns="0" tIns="0" rIns="0" bIns="0" rtlCol="0" anchor="ctr"/>
          <a:lstStyle/>
          <a:p>
            <a:pPr algn="r" indent="0" marL="0">
              <a:buNone/>
            </a:pPr>
            <a:r>
              <a:rPr lang="en-US" sz="800" dirty="0">
                <a:solidFill>
                  <a:srgbClr val="8FA3B1"/>
                </a:solidFill>
                <a:latin typeface="Calibri" pitchFamily="34" charset="0"/>
                <a:ea typeface="Calibri" pitchFamily="34" charset="-122"/>
                <a:cs typeface="Calibri" pitchFamily="34" charset="-120"/>
              </a:rPr>
              <a:t>14 / 20</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E4A"/>
          </a:solidFill>
          <a:ln w="12700">
            <a:solidFill>
              <a:srgbClr val="0A2E4A"/>
            </a:solidFill>
            <a:prstDash val="solid"/>
          </a:ln>
        </p:spPr>
      </p:sp>
      <p:sp>
        <p:nvSpPr>
          <p:cNvPr id="3" name="Shape 1"/>
          <p:cNvSpPr/>
          <p:nvPr/>
        </p:nvSpPr>
        <p:spPr>
          <a:xfrm>
            <a:off x="0" y="1005840"/>
            <a:ext cx="9144000" cy="54864"/>
          </a:xfrm>
          <a:prstGeom prst="rect">
            <a:avLst/>
          </a:prstGeom>
          <a:solidFill>
            <a:srgbClr val="0D7377"/>
          </a:solidFill>
          <a:ln w="12700">
            <a:solidFill>
              <a:srgbClr val="0D7377"/>
            </a:solidFill>
            <a:prstDash val="solid"/>
          </a:ln>
        </p:spPr>
      </p:sp>
      <p:sp>
        <p:nvSpPr>
          <p:cNvPr id="4" name="Shape 2"/>
          <p:cNvSpPr/>
          <p:nvPr/>
        </p:nvSpPr>
        <p:spPr>
          <a:xfrm>
            <a:off x="7772400" y="0"/>
            <a:ext cx="1371600" cy="1005840"/>
          </a:xfrm>
          <a:prstGeom prst="rect">
            <a:avLst/>
          </a:prstGeom>
          <a:solidFill>
            <a:srgbClr val="0D7377"/>
          </a:solidFill>
          <a:ln w="12700">
            <a:solidFill>
              <a:srgbClr val="0D7377"/>
            </a:solidFill>
            <a:prstDash val="solid"/>
          </a:ln>
        </p:spPr>
      </p:sp>
      <p:sp>
        <p:nvSpPr>
          <p:cNvPr id="5" name="Text 3"/>
          <p:cNvSpPr/>
          <p:nvPr/>
        </p:nvSpPr>
        <p:spPr>
          <a:xfrm>
            <a:off x="320040" y="73152"/>
            <a:ext cx="685800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Scalability &amp; Computational Complexity</a:t>
            </a:r>
            <a:endParaRPr lang="en-US" sz="2000" dirty="0"/>
          </a:p>
        </p:txBody>
      </p:sp>
      <p:sp>
        <p:nvSpPr>
          <p:cNvPr id="6" name="Text 4"/>
          <p:cNvSpPr/>
          <p:nvPr/>
        </p:nvSpPr>
        <p:spPr>
          <a:xfrm>
            <a:off x="320040" y="566928"/>
            <a:ext cx="8229600" cy="347472"/>
          </a:xfrm>
          <a:prstGeom prst="rect">
            <a:avLst/>
          </a:prstGeom>
          <a:noFill/>
          <a:ln/>
        </p:spPr>
        <p:txBody>
          <a:bodyPr wrap="square" lIns="0" tIns="0" rIns="0" bIns="0" rtlCol="0" anchor="ctr"/>
          <a:lstStyle/>
          <a:p>
            <a:pPr indent="0" marL="0">
              <a:buNone/>
            </a:pPr>
            <a:r>
              <a:rPr lang="en-US" sz="1150" i="1" dirty="0">
                <a:solidFill>
                  <a:srgbClr val="9EEADF"/>
                </a:solidFill>
                <a:latin typeface="Calibri" pitchFamily="34" charset="0"/>
                <a:ea typeface="Calibri" pitchFamily="34" charset="-122"/>
                <a:cs typeface="Calibri" pitchFamily="34" charset="-120"/>
              </a:rPr>
              <a:t>From demo to real hospital scale</a:t>
            </a:r>
            <a:endParaRPr lang="en-US" sz="1150" dirty="0"/>
          </a:p>
        </p:txBody>
      </p:sp>
      <p:sp>
        <p:nvSpPr>
          <p:cNvPr id="7" name="Shape 5"/>
          <p:cNvSpPr/>
          <p:nvPr/>
        </p:nvSpPr>
        <p:spPr>
          <a:xfrm>
            <a:off x="274320" y="1115568"/>
            <a:ext cx="4114800" cy="3520440"/>
          </a:xfrm>
          <a:prstGeom prst="roundRect">
            <a:avLst>
              <a:gd name="adj" fmla="val 2078"/>
            </a:avLst>
          </a:prstGeom>
          <a:solidFill>
            <a:srgbClr val="FFFFFF"/>
          </a:solidFill>
          <a:ln/>
          <a:effectLst>
            <a:outerShdw sx="100000" sy="100000" kx="0" ky="0" algn="bl" rotWithShape="0" blurRad="63500" dist="25400" dir="2700000">
              <a:srgbClr val="000000">
                <a:alpha val="10000"/>
              </a:srgbClr>
            </a:outerShdw>
          </a:effectLst>
        </p:spPr>
      </p:sp>
      <p:sp>
        <p:nvSpPr>
          <p:cNvPr id="8" name="Text 6"/>
          <p:cNvSpPr/>
          <p:nvPr/>
        </p:nvSpPr>
        <p:spPr>
          <a:xfrm>
            <a:off x="457200" y="1188720"/>
            <a:ext cx="3749040" cy="274320"/>
          </a:xfrm>
          <a:prstGeom prst="rect">
            <a:avLst/>
          </a:prstGeom>
          <a:noFill/>
          <a:ln/>
        </p:spPr>
        <p:txBody>
          <a:bodyPr wrap="square" lIns="0" tIns="0" rIns="0" bIns="0" rtlCol="0" anchor="ctr"/>
          <a:lstStyle/>
          <a:p>
            <a:pPr indent="0" marL="0">
              <a:buNone/>
            </a:pPr>
            <a:r>
              <a:rPr lang="en-US" sz="1300" b="1" dirty="0">
                <a:solidFill>
                  <a:srgbClr val="0A2E4A"/>
                </a:solidFill>
                <a:latin typeface="Calibri" pitchFamily="34" charset="0"/>
                <a:ea typeface="Calibri" pitchFamily="34" charset="-122"/>
                <a:cs typeface="Calibri" pitchFamily="34" charset="-120"/>
              </a:rPr>
              <a:t>Complexity</a:t>
            </a:r>
            <a:endParaRPr lang="en-US" sz="1300" dirty="0"/>
          </a:p>
        </p:txBody>
      </p:sp>
      <p:sp>
        <p:nvSpPr>
          <p:cNvPr id="9" name="Text 7"/>
          <p:cNvSpPr/>
          <p:nvPr/>
        </p:nvSpPr>
        <p:spPr>
          <a:xfrm>
            <a:off x="411480" y="1508760"/>
            <a:ext cx="3840480" cy="3017520"/>
          </a:xfrm>
          <a:prstGeom prst="rect">
            <a:avLst/>
          </a:prstGeom>
          <a:noFill/>
          <a:ln/>
        </p:spPr>
        <p:txBody>
          <a:bodyPr wrap="square" rtlCol="0" anchor="ctr"/>
          <a:lstStyle/>
          <a:p>
            <a:pPr marL="342900" indent="-342900">
              <a:buSzPct val="100000"/>
              <a:buChar char="•"/>
            </a:pPr>
            <a:r>
              <a:rPr lang="en-US" sz="1050" dirty="0">
                <a:solidFill>
                  <a:srgbClr val="1A2E3B"/>
                </a:solidFill>
                <a:latin typeface="Calibri" pitchFamily="34" charset="0"/>
                <a:ea typeface="Calibri" pitchFamily="34" charset="-122"/>
                <a:cs typeface="Calibri" pitchFamily="34" charset="-120"/>
              </a:rPr>
              <a:t>MILP is NP-hard in general (bin-packing reduction)</a:t>
            </a:r>
            <a:endParaRPr lang="en-US" sz="1050" dirty="0"/>
          </a:p>
          <a:p>
            <a:pPr marL="342900" indent="-342900">
              <a:buSzPct val="100000"/>
              <a:buChar char="•"/>
            </a:pPr>
            <a:r>
              <a:rPr lang="en-US" sz="1050" dirty="0">
                <a:solidFill>
                  <a:srgbClr val="1A2E3B"/>
                </a:solidFill>
                <a:latin typeface="Calibri" pitchFamily="34" charset="0"/>
                <a:ea typeface="Calibri" pitchFamily="34" charset="-122"/>
                <a:cs typeface="Calibri" pitchFamily="34" charset="-120"/>
              </a:rPr>
              <a:t>Raw: |C|·|D|·Σ|R_b| ≈ 980,000 binary vars</a:t>
            </a:r>
            <a:endParaRPr lang="en-US" sz="1050" dirty="0"/>
          </a:p>
          <a:p>
            <a:pPr marL="342900" indent="-342900">
              <a:buSzPct val="100000"/>
              <a:buChar char="•"/>
            </a:pPr>
            <a:r>
              <a:rPr lang="en-US" sz="1050" dirty="0">
                <a:solidFill>
                  <a:srgbClr val="1A2E3B"/>
                </a:solidFill>
                <a:latin typeface="Calibri" pitchFamily="34" charset="0"/>
                <a:ea typeface="Calibri" pitchFamily="34" charset="-122"/>
                <a:cs typeface="Calibri" pitchFamily="34" charset="-120"/>
              </a:rPr>
              <a:t>After pre-filter (5.4): ~130,000 active vars</a:t>
            </a:r>
            <a:endParaRPr lang="en-US" sz="1050" dirty="0"/>
          </a:p>
          <a:p>
            <a:pPr marL="342900" indent="-342900">
              <a:buSzPct val="100000"/>
              <a:buChar char="•"/>
            </a:pPr>
            <a:r>
              <a:rPr lang="en-US" sz="1050" dirty="0">
                <a:solidFill>
                  <a:srgbClr val="1A2E3B"/>
                </a:solidFill>
                <a:latin typeface="Calibri" pitchFamily="34" charset="0"/>
                <a:ea typeface="Calibri" pitchFamily="34" charset="-122"/>
                <a:cs typeface="Calibri" pitchFamily="34" charset="-120"/>
              </a:rPr>
              <a:t>Block-diagonal structure: near-decomposable by service</a:t>
            </a:r>
            <a:endParaRPr lang="en-US" sz="1050" dirty="0"/>
          </a:p>
          <a:p>
            <a:pPr marL="342900" indent="-342900">
              <a:buSzPct val="100000"/>
              <a:buChar char="•"/>
            </a:pPr>
            <a:r>
              <a:rPr lang="en-US" sz="1050" dirty="0">
                <a:solidFill>
                  <a:srgbClr val="1A2E3B"/>
                </a:solidFill>
                <a:latin typeface="Calibri" pitchFamily="34" charset="0"/>
                <a:ea typeface="Calibri" pitchFamily="34" charset="-122"/>
                <a:cs typeface="Calibri" pitchFamily="34" charset="-120"/>
              </a:rPr>
              <a:t>LP relaxation typically very tight (solutions near-integer)</a:t>
            </a:r>
            <a:endParaRPr lang="en-US" sz="1050" dirty="0"/>
          </a:p>
          <a:p>
            <a:pPr marL="342900" indent="-342900">
              <a:buSzPct val="100000"/>
              <a:buChar char="•"/>
            </a:pPr>
            <a:r>
              <a:rPr lang="en-US" sz="1050" dirty="0">
                <a:solidFill>
                  <a:srgbClr val="1A2E3B"/>
                </a:solidFill>
                <a:latin typeface="Calibri" pitchFamily="34" charset="0"/>
                <a:ea typeface="Calibri" pitchFamily="34" charset="-122"/>
                <a:cs typeface="Calibri" pitchFamily="34" charset="-120"/>
              </a:rPr>
              <a:t>B&amp;B with Gomory cuts: &lt; 5 min on CHLN with CPLEX</a:t>
            </a:r>
            <a:endParaRPr lang="en-US" sz="1050" dirty="0"/>
          </a:p>
          <a:p>
            <a:pPr indent="0" marL="0">
              <a:buNone/>
            </a:pPr>
            <a:endParaRPr lang="en-US" sz="1050" dirty="0"/>
          </a:p>
        </p:txBody>
      </p:sp>
      <p:sp>
        <p:nvSpPr>
          <p:cNvPr id="10" name="Shape 8"/>
          <p:cNvSpPr/>
          <p:nvPr/>
        </p:nvSpPr>
        <p:spPr>
          <a:xfrm>
            <a:off x="4663440" y="1115568"/>
            <a:ext cx="4206240" cy="3520440"/>
          </a:xfrm>
          <a:prstGeom prst="roundRect">
            <a:avLst>
              <a:gd name="adj" fmla="val 2078"/>
            </a:avLst>
          </a:prstGeom>
          <a:solidFill>
            <a:srgbClr val="FFFFFF"/>
          </a:solidFill>
          <a:ln/>
          <a:effectLst>
            <a:outerShdw sx="100000" sy="100000" kx="0" ky="0" algn="bl" rotWithShape="0" blurRad="63500" dist="25400" dir="2700000">
              <a:srgbClr val="000000">
                <a:alpha val="10000"/>
              </a:srgbClr>
            </a:outerShdw>
          </a:effectLst>
        </p:spPr>
      </p:sp>
      <p:sp>
        <p:nvSpPr>
          <p:cNvPr id="11" name="Text 9"/>
          <p:cNvSpPr/>
          <p:nvPr/>
        </p:nvSpPr>
        <p:spPr>
          <a:xfrm>
            <a:off x="4846320" y="1188720"/>
            <a:ext cx="3840480" cy="274320"/>
          </a:xfrm>
          <a:prstGeom prst="rect">
            <a:avLst/>
          </a:prstGeom>
          <a:noFill/>
          <a:ln/>
        </p:spPr>
        <p:txBody>
          <a:bodyPr wrap="square" lIns="0" tIns="0" rIns="0" bIns="0" rtlCol="0" anchor="ctr"/>
          <a:lstStyle/>
          <a:p>
            <a:pPr indent="0" marL="0">
              <a:buNone/>
            </a:pPr>
            <a:r>
              <a:rPr lang="en-US" sz="1300" b="1" dirty="0">
                <a:solidFill>
                  <a:srgbClr val="0A2E4A"/>
                </a:solidFill>
                <a:latin typeface="Calibri" pitchFamily="34" charset="0"/>
                <a:ea typeface="Calibri" pitchFamily="34" charset="-122"/>
                <a:cs typeface="Calibri" pitchFamily="34" charset="-120"/>
              </a:rPr>
              <a:t>Acceleration Techniques</a:t>
            </a:r>
            <a:endParaRPr lang="en-US" sz="1300" dirty="0"/>
          </a:p>
        </p:txBody>
      </p:sp>
      <p:sp>
        <p:nvSpPr>
          <p:cNvPr id="12" name="Text 10"/>
          <p:cNvSpPr/>
          <p:nvPr/>
        </p:nvSpPr>
        <p:spPr>
          <a:xfrm>
            <a:off x="4800600" y="1508760"/>
            <a:ext cx="3977640" cy="3017520"/>
          </a:xfrm>
          <a:prstGeom prst="rect">
            <a:avLst/>
          </a:prstGeom>
          <a:noFill/>
          <a:ln/>
        </p:spPr>
        <p:txBody>
          <a:bodyPr wrap="square" rtlCol="0" anchor="ctr"/>
          <a:lstStyle/>
          <a:p>
            <a:pPr marL="342900" indent="-342900">
              <a:buSzPct val="100000"/>
              <a:buChar char="•"/>
            </a:pPr>
            <a:r>
              <a:rPr lang="en-US" sz="1050" dirty="0">
                <a:solidFill>
                  <a:srgbClr val="1A2E3B"/>
                </a:solidFill>
                <a:latin typeface="Calibri" pitchFamily="34" charset="0"/>
                <a:ea typeface="Calibri" pitchFamily="34" charset="-122"/>
                <a:cs typeface="Calibri" pitchFamily="34" charset="-120"/>
              </a:rPr>
              <a:t>Pre-processing: remove x_{cdbr} where a_{dbr}^{s_c}=0</a:t>
            </a:r>
            <a:endParaRPr lang="en-US" sz="1050" dirty="0"/>
          </a:p>
          <a:p>
            <a:pPr marL="342900" indent="-342900">
              <a:buSzPct val="100000"/>
              <a:buChar char="•"/>
            </a:pPr>
            <a:r>
              <a:rPr lang="en-US" sz="1050" dirty="0">
                <a:solidFill>
                  <a:srgbClr val="1A2E3B"/>
                </a:solidFill>
                <a:latin typeface="Calibri" pitchFamily="34" charset="0"/>
                <a:ea typeface="Calibri" pitchFamily="34" charset="-122"/>
                <a:cs typeface="Calibri" pitchFamily="34" charset="-120"/>
              </a:rPr>
              <a:t>Warm-start: greedy heuristic feasible solution</a:t>
            </a:r>
            <a:endParaRPr lang="en-US" sz="1050" dirty="0"/>
          </a:p>
          <a:p>
            <a:pPr marL="342900" indent="-342900">
              <a:buSzPct val="100000"/>
              <a:buChar char="•"/>
            </a:pPr>
            <a:r>
              <a:rPr lang="en-US" sz="1050" dirty="0">
                <a:solidFill>
                  <a:srgbClr val="1A2E3B"/>
                </a:solidFill>
                <a:latin typeface="Calibri" pitchFamily="34" charset="0"/>
                <a:ea typeface="Calibri" pitchFamily="34" charset="-122"/>
                <a:cs typeface="Calibri" pitchFamily="34" charset="-120"/>
              </a:rPr>
              <a:t>Service decomposition: solve per-service sub-MILPs</a:t>
            </a:r>
            <a:endParaRPr lang="en-US" sz="1050" dirty="0"/>
          </a:p>
          <a:p>
            <a:pPr marL="342900" indent="-342900">
              <a:buSzPct val="100000"/>
              <a:buChar char="•"/>
            </a:pPr>
            <a:r>
              <a:rPr lang="en-US" sz="1050" dirty="0">
                <a:solidFill>
                  <a:srgbClr val="1A2E3B"/>
                </a:solidFill>
                <a:latin typeface="Calibri" pitchFamily="34" charset="0"/>
                <a:ea typeface="Calibri" pitchFamily="34" charset="-122"/>
                <a:cs typeface="Calibri" pitchFamily="34" charset="-120"/>
              </a:rPr>
              <a:t>Column generation (large instances): feasible case sets</a:t>
            </a:r>
            <a:endParaRPr lang="en-US" sz="1050" dirty="0"/>
          </a:p>
          <a:p>
            <a:pPr marL="342900" indent="-342900">
              <a:buSzPct val="100000"/>
              <a:buChar char="•"/>
            </a:pPr>
            <a:r>
              <a:rPr lang="en-US" sz="1050" dirty="0">
                <a:solidFill>
                  <a:srgbClr val="1A2E3B"/>
                </a:solidFill>
                <a:latin typeface="Calibri" pitchFamily="34" charset="0"/>
                <a:ea typeface="Calibri" pitchFamily="34" charset="-122"/>
                <a:cs typeface="Calibri" pitchFamily="34" charset="-120"/>
              </a:rPr>
              <a:t>LNS (Large Neighbourhood Search) for re-scheduling</a:t>
            </a:r>
            <a:endParaRPr lang="en-US" sz="1050" dirty="0"/>
          </a:p>
          <a:p>
            <a:pPr marL="342900" indent="-342900">
              <a:buSzPct val="100000"/>
              <a:buChar char="•"/>
            </a:pPr>
            <a:r>
              <a:rPr lang="en-US" sz="1050" dirty="0">
                <a:solidFill>
                  <a:srgbClr val="1A2E3B"/>
                </a:solidFill>
                <a:latin typeface="Calibri" pitchFamily="34" charset="0"/>
                <a:ea typeface="Calibri" pitchFamily="34" charset="-122"/>
                <a:cs typeface="Calibri" pitchFamily="34" charset="-120"/>
              </a:rPr>
              <a:t>Time limit + gap: ε-optimal solution acceptable in practice</a:t>
            </a:r>
            <a:endParaRPr lang="en-US" sz="1050" dirty="0"/>
          </a:p>
          <a:p>
            <a:pPr indent="0" marL="0">
              <a:buNone/>
            </a:pPr>
            <a:endParaRPr lang="en-US" sz="1050" dirty="0"/>
          </a:p>
        </p:txBody>
      </p:sp>
      <p:sp>
        <p:nvSpPr>
          <p:cNvPr id="13" name="Shape 11"/>
          <p:cNvSpPr/>
          <p:nvPr/>
        </p:nvSpPr>
        <p:spPr>
          <a:xfrm>
            <a:off x="0" y="4800600"/>
            <a:ext cx="9144000" cy="342900"/>
          </a:xfrm>
          <a:prstGeom prst="rect">
            <a:avLst/>
          </a:prstGeom>
          <a:solidFill>
            <a:srgbClr val="0A2E4A"/>
          </a:solidFill>
          <a:ln w="12700">
            <a:solidFill>
              <a:srgbClr val="0A2E4A"/>
            </a:solidFill>
            <a:prstDash val="solid"/>
          </a:ln>
        </p:spPr>
      </p:sp>
      <p:sp>
        <p:nvSpPr>
          <p:cNvPr id="14" name="Text 12"/>
          <p:cNvSpPr/>
          <p:nvPr/>
        </p:nvSpPr>
        <p:spPr>
          <a:xfrm>
            <a:off x="182880" y="4818888"/>
            <a:ext cx="6400800" cy="27432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Elective Surgery Scheduling — MILP  ·  SNS/SIGIC Portugal  ·  github.com/</a:t>
            </a:r>
            <a:endParaRPr lang="en-US" sz="800" dirty="0"/>
          </a:p>
        </p:txBody>
      </p:sp>
      <p:sp>
        <p:nvSpPr>
          <p:cNvPr id="15" name="Text 13"/>
          <p:cNvSpPr/>
          <p:nvPr/>
        </p:nvSpPr>
        <p:spPr>
          <a:xfrm>
            <a:off x="7772400" y="4818888"/>
            <a:ext cx="1188720" cy="274320"/>
          </a:xfrm>
          <a:prstGeom prst="rect">
            <a:avLst/>
          </a:prstGeom>
          <a:noFill/>
          <a:ln/>
        </p:spPr>
        <p:txBody>
          <a:bodyPr wrap="square" lIns="0" tIns="0" rIns="0" bIns="0" rtlCol="0" anchor="ctr"/>
          <a:lstStyle/>
          <a:p>
            <a:pPr algn="r" indent="0" marL="0">
              <a:buNone/>
            </a:pPr>
            <a:r>
              <a:rPr lang="en-US" sz="800" dirty="0">
                <a:solidFill>
                  <a:srgbClr val="8FA3B1"/>
                </a:solidFill>
                <a:latin typeface="Calibri" pitchFamily="34" charset="0"/>
                <a:ea typeface="Calibri" pitchFamily="34" charset="-122"/>
                <a:cs typeface="Calibri" pitchFamily="34" charset="-120"/>
              </a:rPr>
              <a:t>15 / 20</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E4A"/>
          </a:solidFill>
          <a:ln w="12700">
            <a:solidFill>
              <a:srgbClr val="0A2E4A"/>
            </a:solidFill>
            <a:prstDash val="solid"/>
          </a:ln>
        </p:spPr>
      </p:sp>
      <p:sp>
        <p:nvSpPr>
          <p:cNvPr id="3" name="Shape 1"/>
          <p:cNvSpPr/>
          <p:nvPr/>
        </p:nvSpPr>
        <p:spPr>
          <a:xfrm>
            <a:off x="0" y="1005840"/>
            <a:ext cx="9144000" cy="54864"/>
          </a:xfrm>
          <a:prstGeom prst="rect">
            <a:avLst/>
          </a:prstGeom>
          <a:solidFill>
            <a:srgbClr val="0D7377"/>
          </a:solidFill>
          <a:ln w="12700">
            <a:solidFill>
              <a:srgbClr val="0D7377"/>
            </a:solidFill>
            <a:prstDash val="solid"/>
          </a:ln>
        </p:spPr>
      </p:sp>
      <p:sp>
        <p:nvSpPr>
          <p:cNvPr id="4" name="Shape 2"/>
          <p:cNvSpPr/>
          <p:nvPr/>
        </p:nvSpPr>
        <p:spPr>
          <a:xfrm>
            <a:off x="7772400" y="0"/>
            <a:ext cx="1371600" cy="1005840"/>
          </a:xfrm>
          <a:prstGeom prst="rect">
            <a:avLst/>
          </a:prstGeom>
          <a:solidFill>
            <a:srgbClr val="0D7377"/>
          </a:solidFill>
          <a:ln w="12700">
            <a:solidFill>
              <a:srgbClr val="0D7377"/>
            </a:solidFill>
            <a:prstDash val="solid"/>
          </a:ln>
        </p:spPr>
      </p:sp>
      <p:sp>
        <p:nvSpPr>
          <p:cNvPr id="5" name="Text 3"/>
          <p:cNvSpPr/>
          <p:nvPr/>
        </p:nvSpPr>
        <p:spPr>
          <a:xfrm>
            <a:off x="320040" y="73152"/>
            <a:ext cx="685800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Passing the Torch</a:t>
            </a:r>
            <a:endParaRPr lang="en-US" sz="2000" dirty="0"/>
          </a:p>
        </p:txBody>
      </p:sp>
      <p:sp>
        <p:nvSpPr>
          <p:cNvPr id="6" name="Text 4"/>
          <p:cNvSpPr/>
          <p:nvPr/>
        </p:nvSpPr>
        <p:spPr>
          <a:xfrm>
            <a:off x="320040" y="566928"/>
            <a:ext cx="8229600" cy="347472"/>
          </a:xfrm>
          <a:prstGeom prst="rect">
            <a:avLst/>
          </a:prstGeom>
          <a:noFill/>
          <a:ln/>
        </p:spPr>
        <p:txBody>
          <a:bodyPr wrap="square" lIns="0" tIns="0" rIns="0" bIns="0" rtlCol="0" anchor="ctr"/>
          <a:lstStyle/>
          <a:p>
            <a:pPr indent="0" marL="0">
              <a:buNone/>
            </a:pPr>
            <a:r>
              <a:rPr lang="en-US" sz="1150" i="1" dirty="0">
                <a:solidFill>
                  <a:srgbClr val="9EEADF"/>
                </a:solidFill>
                <a:latin typeface="Calibri" pitchFamily="34" charset="0"/>
                <a:ea typeface="Calibri" pitchFamily="34" charset="-122"/>
                <a:cs typeface="Calibri" pitchFamily="34" charset="-120"/>
              </a:rPr>
              <a:t>How to hand this formulation to a developer faithfully</a:t>
            </a:r>
            <a:endParaRPr lang="en-US" sz="1150" dirty="0"/>
          </a:p>
        </p:txBody>
      </p:sp>
      <p:sp>
        <p:nvSpPr>
          <p:cNvPr id="7" name="Shape 5"/>
          <p:cNvSpPr/>
          <p:nvPr/>
        </p:nvSpPr>
        <p:spPr>
          <a:xfrm>
            <a:off x="274320" y="1216152"/>
            <a:ext cx="347472" cy="347472"/>
          </a:xfrm>
          <a:prstGeom prst="ellipse">
            <a:avLst/>
          </a:prstGeom>
          <a:solidFill>
            <a:srgbClr val="0D7377"/>
          </a:solidFill>
          <a:ln w="12700">
            <a:solidFill>
              <a:srgbClr val="0D7377"/>
            </a:solidFill>
            <a:prstDash val="solid"/>
          </a:ln>
        </p:spPr>
      </p:sp>
      <p:sp>
        <p:nvSpPr>
          <p:cNvPr id="8" name="Text 6"/>
          <p:cNvSpPr/>
          <p:nvPr/>
        </p:nvSpPr>
        <p:spPr>
          <a:xfrm>
            <a:off x="274320" y="121615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①</a:t>
            </a:r>
            <a:endParaRPr lang="en-US" sz="1200" dirty="0"/>
          </a:p>
        </p:txBody>
      </p:sp>
      <p:sp>
        <p:nvSpPr>
          <p:cNvPr id="9" name="Text 7"/>
          <p:cNvSpPr/>
          <p:nvPr/>
        </p:nvSpPr>
        <p:spPr>
          <a:xfrm>
            <a:off x="768096" y="1197864"/>
            <a:ext cx="5029200" cy="256032"/>
          </a:xfrm>
          <a:prstGeom prst="rect">
            <a:avLst/>
          </a:prstGeom>
          <a:noFill/>
          <a:ln/>
        </p:spPr>
        <p:txBody>
          <a:bodyPr wrap="square" lIns="0" tIns="0" rIns="0" bIns="0" rtlCol="0" anchor="ctr"/>
          <a:lstStyle/>
          <a:p>
            <a:pPr indent="0" marL="0">
              <a:buNone/>
            </a:pPr>
            <a:r>
              <a:rPr lang="en-US" sz="1200" b="1" dirty="0">
                <a:solidFill>
                  <a:srgbClr val="0A2E4A"/>
                </a:solidFill>
                <a:latin typeface="Calibri" pitchFamily="34" charset="0"/>
                <a:ea typeface="Calibri" pitchFamily="34" charset="-122"/>
                <a:cs typeface="Calibri" pitchFamily="34" charset="-120"/>
              </a:rPr>
              <a:t>FORMULATION.md + mirrored code</a:t>
            </a:r>
            <a:endParaRPr lang="en-US" sz="1200" dirty="0"/>
          </a:p>
        </p:txBody>
      </p:sp>
      <p:sp>
        <p:nvSpPr>
          <p:cNvPr id="10" name="Text 8"/>
          <p:cNvSpPr/>
          <p:nvPr/>
        </p:nvSpPr>
        <p:spPr>
          <a:xfrm>
            <a:off x="768096" y="1472184"/>
            <a:ext cx="8229600" cy="320040"/>
          </a:xfrm>
          <a:prstGeom prst="rect">
            <a:avLst/>
          </a:prstGeom>
          <a:noFill/>
          <a:ln/>
        </p:spPr>
        <p:txBody>
          <a:bodyPr wrap="square" lIns="0" tIns="0" rIns="0" bIns="0" rtlCol="0" anchor="ctr"/>
          <a:lstStyle/>
          <a:p>
            <a:pPr indent="0" marL="0">
              <a:buNone/>
            </a:pPr>
            <a:r>
              <a:rPr lang="en-US" sz="1050" i="1" dirty="0">
                <a:solidFill>
                  <a:srgbClr val="8FA3B1"/>
                </a:solidFill>
                <a:latin typeface="Calibri" pitchFamily="34" charset="0"/>
                <a:ea typeface="Calibri" pitchFamily="34" charset="-122"/>
                <a:cs typeface="Calibri" pitchFamily="34" charset="-120"/>
              </a:rPr>
              <a:t>Constraint (5.7) in markdown ↔ C57_RoomCapacity in pyomo_solver.py ↔ RoomCap_{d}_{r} in pulp_cbc_solver.py. Reading both simultaneously leaves no ambiguity.</a:t>
            </a:r>
            <a:endParaRPr lang="en-US" sz="1050" dirty="0"/>
          </a:p>
        </p:txBody>
      </p:sp>
      <p:sp>
        <p:nvSpPr>
          <p:cNvPr id="11" name="Shape 9"/>
          <p:cNvSpPr/>
          <p:nvPr/>
        </p:nvSpPr>
        <p:spPr>
          <a:xfrm>
            <a:off x="274320" y="1810512"/>
            <a:ext cx="8595360" cy="0"/>
          </a:xfrm>
          <a:prstGeom prst="line">
            <a:avLst/>
          </a:prstGeom>
          <a:noFill/>
          <a:ln w="6350">
            <a:solidFill>
              <a:srgbClr val="D6E4EC"/>
            </a:solidFill>
            <a:prstDash val="solid"/>
          </a:ln>
        </p:spPr>
      </p:sp>
      <p:sp>
        <p:nvSpPr>
          <p:cNvPr id="12" name="Shape 10"/>
          <p:cNvSpPr/>
          <p:nvPr/>
        </p:nvSpPr>
        <p:spPr>
          <a:xfrm>
            <a:off x="274320" y="1920240"/>
            <a:ext cx="347472" cy="347472"/>
          </a:xfrm>
          <a:prstGeom prst="ellipse">
            <a:avLst/>
          </a:prstGeom>
          <a:solidFill>
            <a:srgbClr val="0D7377"/>
          </a:solidFill>
          <a:ln w="12700">
            <a:solidFill>
              <a:srgbClr val="0D7377"/>
            </a:solidFill>
            <a:prstDash val="solid"/>
          </a:ln>
        </p:spPr>
      </p:sp>
      <p:sp>
        <p:nvSpPr>
          <p:cNvPr id="13" name="Text 11"/>
          <p:cNvSpPr/>
          <p:nvPr/>
        </p:nvSpPr>
        <p:spPr>
          <a:xfrm>
            <a:off x="274320" y="192024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②</a:t>
            </a:r>
            <a:endParaRPr lang="en-US" sz="1200" dirty="0"/>
          </a:p>
        </p:txBody>
      </p:sp>
      <p:sp>
        <p:nvSpPr>
          <p:cNvPr id="14" name="Text 12"/>
          <p:cNvSpPr/>
          <p:nvPr/>
        </p:nvSpPr>
        <p:spPr>
          <a:xfrm>
            <a:off x="768096" y="1901952"/>
            <a:ext cx="5029200" cy="256032"/>
          </a:xfrm>
          <a:prstGeom prst="rect">
            <a:avLst/>
          </a:prstGeom>
          <a:noFill/>
          <a:ln/>
        </p:spPr>
        <p:txBody>
          <a:bodyPr wrap="square" lIns="0" tIns="0" rIns="0" bIns="0" rtlCol="0" anchor="ctr"/>
          <a:lstStyle/>
          <a:p>
            <a:pPr indent="0" marL="0">
              <a:buNone/>
            </a:pPr>
            <a:r>
              <a:rPr lang="en-US" sz="1200" b="1" dirty="0">
                <a:solidFill>
                  <a:srgbClr val="0A2E4A"/>
                </a:solidFill>
                <a:latin typeface="Calibri" pitchFamily="34" charset="0"/>
                <a:ea typeface="Calibri" pitchFamily="34" charset="-122"/>
                <a:cs typeface="Calibri" pitchFamily="34" charset="-120"/>
              </a:rPr>
              <a:t>Entity–relationship diagram of data</a:t>
            </a:r>
            <a:endParaRPr lang="en-US" sz="1200" dirty="0"/>
          </a:p>
        </p:txBody>
      </p:sp>
      <p:sp>
        <p:nvSpPr>
          <p:cNvPr id="15" name="Text 13"/>
          <p:cNvSpPr/>
          <p:nvPr/>
        </p:nvSpPr>
        <p:spPr>
          <a:xfrm>
            <a:off x="768096" y="2176272"/>
            <a:ext cx="8229600" cy="320040"/>
          </a:xfrm>
          <a:prstGeom prst="rect">
            <a:avLst/>
          </a:prstGeom>
          <a:noFill/>
          <a:ln/>
        </p:spPr>
        <p:txBody>
          <a:bodyPr wrap="square" lIns="0" tIns="0" rIns="0" bIns="0" rtlCol="0" anchor="ctr"/>
          <a:lstStyle/>
          <a:p>
            <a:pPr indent="0" marL="0">
              <a:buNone/>
            </a:pPr>
            <a:r>
              <a:rPr lang="en-US" sz="1050" i="1" dirty="0">
                <a:solidFill>
                  <a:srgbClr val="8FA3B1"/>
                </a:solidFill>
                <a:latin typeface="Calibri" pitchFamily="34" charset="0"/>
                <a:ea typeface="Calibri" pitchFamily="34" charset="-122"/>
                <a:cs typeface="Calibri" pitchFamily="34" charset="-120"/>
              </a:rPr>
              <a:t>Tables: SurgicalCase, Patient, Surgeon, Room, Block, MSS (service-room-day). The PlanningInstance dataclass IS the schema — hand the types.py file.</a:t>
            </a:r>
            <a:endParaRPr lang="en-US" sz="1050" dirty="0"/>
          </a:p>
        </p:txBody>
      </p:sp>
      <p:sp>
        <p:nvSpPr>
          <p:cNvPr id="16" name="Shape 14"/>
          <p:cNvSpPr/>
          <p:nvPr/>
        </p:nvSpPr>
        <p:spPr>
          <a:xfrm>
            <a:off x="274320" y="2514600"/>
            <a:ext cx="8595360" cy="0"/>
          </a:xfrm>
          <a:prstGeom prst="line">
            <a:avLst/>
          </a:prstGeom>
          <a:noFill/>
          <a:ln w="6350">
            <a:solidFill>
              <a:srgbClr val="D6E4EC"/>
            </a:solidFill>
            <a:prstDash val="solid"/>
          </a:ln>
        </p:spPr>
      </p:sp>
      <p:sp>
        <p:nvSpPr>
          <p:cNvPr id="17" name="Shape 15"/>
          <p:cNvSpPr/>
          <p:nvPr/>
        </p:nvSpPr>
        <p:spPr>
          <a:xfrm>
            <a:off x="274320" y="2624328"/>
            <a:ext cx="347472" cy="347472"/>
          </a:xfrm>
          <a:prstGeom prst="ellipse">
            <a:avLst/>
          </a:prstGeom>
          <a:solidFill>
            <a:srgbClr val="14A085"/>
          </a:solidFill>
          <a:ln w="12700">
            <a:solidFill>
              <a:srgbClr val="14A085"/>
            </a:solidFill>
            <a:prstDash val="solid"/>
          </a:ln>
        </p:spPr>
      </p:sp>
      <p:sp>
        <p:nvSpPr>
          <p:cNvPr id="18" name="Text 16"/>
          <p:cNvSpPr/>
          <p:nvPr/>
        </p:nvSpPr>
        <p:spPr>
          <a:xfrm>
            <a:off x="274320" y="262432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③</a:t>
            </a:r>
            <a:endParaRPr lang="en-US" sz="1200" dirty="0"/>
          </a:p>
        </p:txBody>
      </p:sp>
      <p:sp>
        <p:nvSpPr>
          <p:cNvPr id="19" name="Text 17"/>
          <p:cNvSpPr/>
          <p:nvPr/>
        </p:nvSpPr>
        <p:spPr>
          <a:xfrm>
            <a:off x="768096" y="2606040"/>
            <a:ext cx="5029200" cy="256032"/>
          </a:xfrm>
          <a:prstGeom prst="rect">
            <a:avLst/>
          </a:prstGeom>
          <a:noFill/>
          <a:ln/>
        </p:spPr>
        <p:txBody>
          <a:bodyPr wrap="square" lIns="0" tIns="0" rIns="0" bIns="0" rtlCol="0" anchor="ctr"/>
          <a:lstStyle/>
          <a:p>
            <a:pPr indent="0" marL="0">
              <a:buNone/>
            </a:pPr>
            <a:r>
              <a:rPr lang="en-US" sz="1200" b="1" dirty="0">
                <a:solidFill>
                  <a:srgbClr val="0A2E4A"/>
                </a:solidFill>
                <a:latin typeface="Calibri" pitchFamily="34" charset="0"/>
                <a:ea typeface="Calibri" pitchFamily="34" charset="-122"/>
                <a:cs typeface="Calibri" pitchFamily="34" charset="-120"/>
              </a:rPr>
              <a:t>Acceptance test suite</a:t>
            </a:r>
            <a:endParaRPr lang="en-US" sz="1200" dirty="0"/>
          </a:p>
        </p:txBody>
      </p:sp>
      <p:sp>
        <p:nvSpPr>
          <p:cNvPr id="20" name="Text 18"/>
          <p:cNvSpPr/>
          <p:nvPr/>
        </p:nvSpPr>
        <p:spPr>
          <a:xfrm>
            <a:off x="768096" y="2880360"/>
            <a:ext cx="8229600" cy="320040"/>
          </a:xfrm>
          <a:prstGeom prst="rect">
            <a:avLst/>
          </a:prstGeom>
          <a:noFill/>
          <a:ln/>
        </p:spPr>
        <p:txBody>
          <a:bodyPr wrap="square" lIns="0" tIns="0" rIns="0" bIns="0" rtlCol="0" anchor="ctr"/>
          <a:lstStyle/>
          <a:p>
            <a:pPr indent="0" marL="0">
              <a:buNone/>
            </a:pPr>
            <a:r>
              <a:rPr lang="en-US" sz="1050" i="1" dirty="0">
                <a:solidFill>
                  <a:srgbClr val="8FA3B1"/>
                </a:solidFill>
                <a:latin typeface="Calibri" pitchFamily="34" charset="0"/>
                <a:ea typeface="Calibri" pitchFamily="34" charset="-122"/>
                <a:cs typeface="Calibri" pitchFamily="34" charset="-120"/>
              </a:rPr>
              <a:t>tests/test_model.py: 7 tests. Any correct implementation of this formulation must pass all 7. Tests are the contract between modeller and developer.</a:t>
            </a:r>
            <a:endParaRPr lang="en-US" sz="1050" dirty="0"/>
          </a:p>
        </p:txBody>
      </p:sp>
      <p:sp>
        <p:nvSpPr>
          <p:cNvPr id="21" name="Shape 19"/>
          <p:cNvSpPr/>
          <p:nvPr/>
        </p:nvSpPr>
        <p:spPr>
          <a:xfrm>
            <a:off x="274320" y="3218688"/>
            <a:ext cx="8595360" cy="0"/>
          </a:xfrm>
          <a:prstGeom prst="line">
            <a:avLst/>
          </a:prstGeom>
          <a:noFill/>
          <a:ln w="6350">
            <a:solidFill>
              <a:srgbClr val="D6E4EC"/>
            </a:solidFill>
            <a:prstDash val="solid"/>
          </a:ln>
        </p:spPr>
      </p:sp>
      <p:sp>
        <p:nvSpPr>
          <p:cNvPr id="22" name="Shape 20"/>
          <p:cNvSpPr/>
          <p:nvPr/>
        </p:nvSpPr>
        <p:spPr>
          <a:xfrm>
            <a:off x="274320" y="3328416"/>
            <a:ext cx="347472" cy="347472"/>
          </a:xfrm>
          <a:prstGeom prst="ellipse">
            <a:avLst/>
          </a:prstGeom>
          <a:solidFill>
            <a:srgbClr val="14A085"/>
          </a:solidFill>
          <a:ln w="12700">
            <a:solidFill>
              <a:srgbClr val="14A085"/>
            </a:solidFill>
            <a:prstDash val="solid"/>
          </a:ln>
        </p:spPr>
      </p:sp>
      <p:sp>
        <p:nvSpPr>
          <p:cNvPr id="23" name="Text 21"/>
          <p:cNvSpPr/>
          <p:nvPr/>
        </p:nvSpPr>
        <p:spPr>
          <a:xfrm>
            <a:off x="274320" y="332841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④</a:t>
            </a:r>
            <a:endParaRPr lang="en-US" sz="1200" dirty="0"/>
          </a:p>
        </p:txBody>
      </p:sp>
      <p:sp>
        <p:nvSpPr>
          <p:cNvPr id="24" name="Text 22"/>
          <p:cNvSpPr/>
          <p:nvPr/>
        </p:nvSpPr>
        <p:spPr>
          <a:xfrm>
            <a:off x="768096" y="3310128"/>
            <a:ext cx="5029200" cy="256032"/>
          </a:xfrm>
          <a:prstGeom prst="rect">
            <a:avLst/>
          </a:prstGeom>
          <a:noFill/>
          <a:ln/>
        </p:spPr>
        <p:txBody>
          <a:bodyPr wrap="square" lIns="0" tIns="0" rIns="0" bIns="0" rtlCol="0" anchor="ctr"/>
          <a:lstStyle/>
          <a:p>
            <a:pPr indent="0" marL="0">
              <a:buNone/>
            </a:pPr>
            <a:r>
              <a:rPr lang="en-US" sz="1200" b="1" dirty="0">
                <a:solidFill>
                  <a:srgbClr val="0A2E4A"/>
                </a:solidFill>
                <a:latin typeface="Calibri" pitchFamily="34" charset="0"/>
                <a:ea typeface="Calibri" pitchFamily="34" charset="-122"/>
                <a:cs typeface="Calibri" pitchFamily="34" charset="-120"/>
              </a:rPr>
              <a:t>Minimum reproducible instance</a:t>
            </a:r>
            <a:endParaRPr lang="en-US" sz="1200" dirty="0"/>
          </a:p>
        </p:txBody>
      </p:sp>
      <p:sp>
        <p:nvSpPr>
          <p:cNvPr id="25" name="Text 23"/>
          <p:cNvSpPr/>
          <p:nvPr/>
        </p:nvSpPr>
        <p:spPr>
          <a:xfrm>
            <a:off x="768096" y="3584448"/>
            <a:ext cx="8229600" cy="320040"/>
          </a:xfrm>
          <a:prstGeom prst="rect">
            <a:avLst/>
          </a:prstGeom>
          <a:noFill/>
          <a:ln/>
        </p:spPr>
        <p:txBody>
          <a:bodyPr wrap="square" lIns="0" tIns="0" rIns="0" bIns="0" rtlCol="0" anchor="ctr"/>
          <a:lstStyle/>
          <a:p>
            <a:pPr indent="0" marL="0">
              <a:buNone/>
            </a:pPr>
            <a:r>
              <a:rPr lang="en-US" sz="1050" i="1" dirty="0">
                <a:solidFill>
                  <a:srgbClr val="8FA3B1"/>
                </a:solidFill>
                <a:latin typeface="Calibri" pitchFamily="34" charset="0"/>
                <a:ea typeface="Calibri" pitchFamily="34" charset="-122"/>
                <a:cs typeface="Calibri" pitchFamily="34" charset="-120"/>
              </a:rPr>
              <a:t>demo_chln(): 20 cases, known optimal obj=155.0. Developer verifies their implementation matches this before scaling.</a:t>
            </a:r>
            <a:endParaRPr lang="en-US" sz="1050" dirty="0"/>
          </a:p>
        </p:txBody>
      </p:sp>
      <p:sp>
        <p:nvSpPr>
          <p:cNvPr id="26" name="Shape 24"/>
          <p:cNvSpPr/>
          <p:nvPr/>
        </p:nvSpPr>
        <p:spPr>
          <a:xfrm>
            <a:off x="274320" y="3922776"/>
            <a:ext cx="8595360" cy="0"/>
          </a:xfrm>
          <a:prstGeom prst="line">
            <a:avLst/>
          </a:prstGeom>
          <a:noFill/>
          <a:ln w="6350">
            <a:solidFill>
              <a:srgbClr val="D6E4EC"/>
            </a:solidFill>
            <a:prstDash val="solid"/>
          </a:ln>
        </p:spPr>
      </p:sp>
      <p:sp>
        <p:nvSpPr>
          <p:cNvPr id="27" name="Shape 25"/>
          <p:cNvSpPr/>
          <p:nvPr/>
        </p:nvSpPr>
        <p:spPr>
          <a:xfrm>
            <a:off x="274320" y="4032504"/>
            <a:ext cx="347472" cy="347472"/>
          </a:xfrm>
          <a:prstGeom prst="ellipse">
            <a:avLst/>
          </a:prstGeom>
          <a:solidFill>
            <a:srgbClr val="E67E22"/>
          </a:solidFill>
          <a:ln w="12700">
            <a:solidFill>
              <a:srgbClr val="E67E22"/>
            </a:solidFill>
            <a:prstDash val="solid"/>
          </a:ln>
        </p:spPr>
      </p:sp>
      <p:sp>
        <p:nvSpPr>
          <p:cNvPr id="28" name="Text 26"/>
          <p:cNvSpPr/>
          <p:nvPr/>
        </p:nvSpPr>
        <p:spPr>
          <a:xfrm>
            <a:off x="274320" y="403250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⑤</a:t>
            </a:r>
            <a:endParaRPr lang="en-US" sz="1200" dirty="0"/>
          </a:p>
        </p:txBody>
      </p:sp>
      <p:sp>
        <p:nvSpPr>
          <p:cNvPr id="29" name="Text 27"/>
          <p:cNvSpPr/>
          <p:nvPr/>
        </p:nvSpPr>
        <p:spPr>
          <a:xfrm>
            <a:off x="768096" y="4014216"/>
            <a:ext cx="5029200" cy="256032"/>
          </a:xfrm>
          <a:prstGeom prst="rect">
            <a:avLst/>
          </a:prstGeom>
          <a:noFill/>
          <a:ln/>
        </p:spPr>
        <p:txBody>
          <a:bodyPr wrap="square" lIns="0" tIns="0" rIns="0" bIns="0" rtlCol="0" anchor="ctr"/>
          <a:lstStyle/>
          <a:p>
            <a:pPr indent="0" marL="0">
              <a:buNone/>
            </a:pPr>
            <a:r>
              <a:rPr lang="en-US" sz="1200" b="1" dirty="0">
                <a:solidFill>
                  <a:srgbClr val="0A2E4A"/>
                </a:solidFill>
                <a:latin typeface="Calibri" pitchFamily="34" charset="0"/>
                <a:ea typeface="Calibri" pitchFamily="34" charset="-122"/>
                <a:cs typeface="Calibri" pitchFamily="34" charset="-120"/>
              </a:rPr>
              <a:t>Domain glossary</a:t>
            </a:r>
            <a:endParaRPr lang="en-US" sz="1200" dirty="0"/>
          </a:p>
        </p:txBody>
      </p:sp>
      <p:sp>
        <p:nvSpPr>
          <p:cNvPr id="30" name="Text 28"/>
          <p:cNvSpPr/>
          <p:nvPr/>
        </p:nvSpPr>
        <p:spPr>
          <a:xfrm>
            <a:off x="768096" y="4288536"/>
            <a:ext cx="8229600" cy="320040"/>
          </a:xfrm>
          <a:prstGeom prst="rect">
            <a:avLst/>
          </a:prstGeom>
          <a:noFill/>
          <a:ln/>
        </p:spPr>
        <p:txBody>
          <a:bodyPr wrap="square" lIns="0" tIns="0" rIns="0" bIns="0" rtlCol="0" anchor="ctr"/>
          <a:lstStyle/>
          <a:p>
            <a:pPr indent="0" marL="0">
              <a:buNone/>
            </a:pPr>
            <a:r>
              <a:rPr lang="en-US" sz="1050" i="1" dirty="0">
                <a:solidFill>
                  <a:srgbClr val="8FA3B1"/>
                </a:solidFill>
                <a:latin typeface="Calibri" pitchFamily="34" charset="0"/>
                <a:ea typeface="Calibri" pitchFamily="34" charset="-122"/>
                <a:cs typeface="Calibri" pitchFamily="34" charset="-120"/>
              </a:rPr>
              <a:t>LIC, MSS, SIGIC, prioridade, âmbito, higienização — shared vocabulary prevents misunderstandings between OR scientists and software engineers.</a:t>
            </a:r>
            <a:endParaRPr lang="en-US" sz="1050" dirty="0"/>
          </a:p>
        </p:txBody>
      </p:sp>
      <p:sp>
        <p:nvSpPr>
          <p:cNvPr id="31" name="Shape 29"/>
          <p:cNvSpPr/>
          <p:nvPr/>
        </p:nvSpPr>
        <p:spPr>
          <a:xfrm>
            <a:off x="0" y="4800600"/>
            <a:ext cx="9144000" cy="342900"/>
          </a:xfrm>
          <a:prstGeom prst="rect">
            <a:avLst/>
          </a:prstGeom>
          <a:solidFill>
            <a:srgbClr val="0A2E4A"/>
          </a:solidFill>
          <a:ln w="12700">
            <a:solidFill>
              <a:srgbClr val="0A2E4A"/>
            </a:solidFill>
            <a:prstDash val="solid"/>
          </a:ln>
        </p:spPr>
      </p:sp>
      <p:sp>
        <p:nvSpPr>
          <p:cNvPr id="32" name="Text 30"/>
          <p:cNvSpPr/>
          <p:nvPr/>
        </p:nvSpPr>
        <p:spPr>
          <a:xfrm>
            <a:off x="182880" y="4818888"/>
            <a:ext cx="6400800" cy="27432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Elective Surgery Scheduling — MILP  ·  SNS/SIGIC Portugal  ·  github.com/</a:t>
            </a:r>
            <a:endParaRPr lang="en-US" sz="800" dirty="0"/>
          </a:p>
        </p:txBody>
      </p:sp>
      <p:sp>
        <p:nvSpPr>
          <p:cNvPr id="33" name="Text 31"/>
          <p:cNvSpPr/>
          <p:nvPr/>
        </p:nvSpPr>
        <p:spPr>
          <a:xfrm>
            <a:off x="7772400" y="4818888"/>
            <a:ext cx="1188720" cy="274320"/>
          </a:xfrm>
          <a:prstGeom prst="rect">
            <a:avLst/>
          </a:prstGeom>
          <a:noFill/>
          <a:ln/>
        </p:spPr>
        <p:txBody>
          <a:bodyPr wrap="square" lIns="0" tIns="0" rIns="0" bIns="0" rtlCol="0" anchor="ctr"/>
          <a:lstStyle/>
          <a:p>
            <a:pPr algn="r" indent="0" marL="0">
              <a:buNone/>
            </a:pPr>
            <a:r>
              <a:rPr lang="en-US" sz="800" dirty="0">
                <a:solidFill>
                  <a:srgbClr val="8FA3B1"/>
                </a:solidFill>
                <a:latin typeface="Calibri" pitchFamily="34" charset="0"/>
                <a:ea typeface="Calibri" pitchFamily="34" charset="-122"/>
                <a:cs typeface="Calibri" pitchFamily="34" charset="-120"/>
              </a:rPr>
              <a:t>16 / 20</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E4A"/>
          </a:solidFill>
          <a:ln w="12700">
            <a:solidFill>
              <a:srgbClr val="0A2E4A"/>
            </a:solidFill>
            <a:prstDash val="solid"/>
          </a:ln>
        </p:spPr>
      </p:sp>
      <p:sp>
        <p:nvSpPr>
          <p:cNvPr id="3" name="Shape 1"/>
          <p:cNvSpPr/>
          <p:nvPr/>
        </p:nvSpPr>
        <p:spPr>
          <a:xfrm>
            <a:off x="0" y="1005840"/>
            <a:ext cx="9144000" cy="54864"/>
          </a:xfrm>
          <a:prstGeom prst="rect">
            <a:avLst/>
          </a:prstGeom>
          <a:solidFill>
            <a:srgbClr val="0D7377"/>
          </a:solidFill>
          <a:ln w="12700">
            <a:solidFill>
              <a:srgbClr val="0D7377"/>
            </a:solidFill>
            <a:prstDash val="solid"/>
          </a:ln>
        </p:spPr>
      </p:sp>
      <p:sp>
        <p:nvSpPr>
          <p:cNvPr id="4" name="Shape 2"/>
          <p:cNvSpPr/>
          <p:nvPr/>
        </p:nvSpPr>
        <p:spPr>
          <a:xfrm>
            <a:off x="7772400" y="0"/>
            <a:ext cx="1371600" cy="1005840"/>
          </a:xfrm>
          <a:prstGeom prst="rect">
            <a:avLst/>
          </a:prstGeom>
          <a:solidFill>
            <a:srgbClr val="0D7377"/>
          </a:solidFill>
          <a:ln w="12700">
            <a:solidFill>
              <a:srgbClr val="0D7377"/>
            </a:solidFill>
            <a:prstDash val="solid"/>
          </a:ln>
        </p:spPr>
      </p:sp>
      <p:sp>
        <p:nvSpPr>
          <p:cNvPr id="5" name="Text 3"/>
          <p:cNvSpPr/>
          <p:nvPr/>
        </p:nvSpPr>
        <p:spPr>
          <a:xfrm>
            <a:off x="320040" y="73152"/>
            <a:ext cx="685800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 Library of Reusable OR Models</a:t>
            </a:r>
            <a:endParaRPr lang="en-US" sz="2000" dirty="0"/>
          </a:p>
        </p:txBody>
      </p:sp>
      <p:sp>
        <p:nvSpPr>
          <p:cNvPr id="6" name="Text 4"/>
          <p:cNvSpPr/>
          <p:nvPr/>
        </p:nvSpPr>
        <p:spPr>
          <a:xfrm>
            <a:off x="320040" y="566928"/>
            <a:ext cx="8229600" cy="347472"/>
          </a:xfrm>
          <a:prstGeom prst="rect">
            <a:avLst/>
          </a:prstGeom>
          <a:noFill/>
          <a:ln/>
        </p:spPr>
        <p:txBody>
          <a:bodyPr wrap="square" lIns="0" tIns="0" rIns="0" bIns="0" rtlCol="0" anchor="ctr"/>
          <a:lstStyle/>
          <a:p>
            <a:pPr indent="0" marL="0">
              <a:buNone/>
            </a:pPr>
            <a:r>
              <a:rPr lang="en-US" sz="1150" i="1" dirty="0">
                <a:solidFill>
                  <a:srgbClr val="9EEADF"/>
                </a:solidFill>
                <a:latin typeface="Calibri" pitchFamily="34" charset="0"/>
                <a:ea typeface="Calibri" pitchFamily="34" charset="-122"/>
                <a:cs typeface="Calibri" pitchFamily="34" charset="-120"/>
              </a:rPr>
              <a:t>Four-layer architecture — composable, solver-agnostic, config-driven</a:t>
            </a:r>
            <a:endParaRPr lang="en-US" sz="1150" dirty="0"/>
          </a:p>
        </p:txBody>
      </p:sp>
      <p:sp>
        <p:nvSpPr>
          <p:cNvPr id="7" name="Shape 5"/>
          <p:cNvSpPr/>
          <p:nvPr/>
        </p:nvSpPr>
        <p:spPr>
          <a:xfrm>
            <a:off x="274320" y="1143000"/>
            <a:ext cx="8595360" cy="749808"/>
          </a:xfrm>
          <a:prstGeom prst="roundRect">
            <a:avLst>
              <a:gd name="adj" fmla="val 9756"/>
            </a:avLst>
          </a:prstGeom>
          <a:solidFill>
            <a:srgbClr val="0A2E4A"/>
          </a:solidFill>
          <a:ln w="12700">
            <a:solidFill>
              <a:srgbClr val="0A2E4A"/>
            </a:solidFill>
            <a:prstDash val="solid"/>
          </a:ln>
        </p:spPr>
      </p:sp>
      <p:sp>
        <p:nvSpPr>
          <p:cNvPr id="8" name="Text 6"/>
          <p:cNvSpPr/>
          <p:nvPr/>
        </p:nvSpPr>
        <p:spPr>
          <a:xfrm>
            <a:off x="457200" y="1188720"/>
            <a:ext cx="822960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Layer 1  —  Core Abstractions</a:t>
            </a:r>
            <a:endParaRPr lang="en-US" sz="1200" dirty="0"/>
          </a:p>
        </p:txBody>
      </p:sp>
      <p:sp>
        <p:nvSpPr>
          <p:cNvPr id="9" name="Text 7"/>
          <p:cNvSpPr/>
          <p:nvPr/>
        </p:nvSpPr>
        <p:spPr>
          <a:xfrm>
            <a:off x="457200" y="1472184"/>
            <a:ext cx="8229600" cy="347472"/>
          </a:xfrm>
          <a:prstGeom prst="rect">
            <a:avLst/>
          </a:prstGeom>
          <a:noFill/>
          <a:ln/>
        </p:spPr>
        <p:txBody>
          <a:bodyPr wrap="square" lIns="0" tIns="0" rIns="0" bIns="0"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BaseSolver (interface), PlanningInstance (typed data), SolverResult — no solver dependency, fully unit-testable. This layer never changes.</a:t>
            </a:r>
            <a:endParaRPr lang="en-US" sz="1050" dirty="0"/>
          </a:p>
        </p:txBody>
      </p:sp>
      <p:sp>
        <p:nvSpPr>
          <p:cNvPr id="10" name="Shape 8"/>
          <p:cNvSpPr/>
          <p:nvPr/>
        </p:nvSpPr>
        <p:spPr>
          <a:xfrm>
            <a:off x="274320" y="1993392"/>
            <a:ext cx="8595360" cy="749808"/>
          </a:xfrm>
          <a:prstGeom prst="roundRect">
            <a:avLst>
              <a:gd name="adj" fmla="val 9756"/>
            </a:avLst>
          </a:prstGeom>
          <a:solidFill>
            <a:srgbClr val="0D7377"/>
          </a:solidFill>
          <a:ln w="12700">
            <a:solidFill>
              <a:srgbClr val="0D7377"/>
            </a:solidFill>
            <a:prstDash val="solid"/>
          </a:ln>
        </p:spPr>
      </p:sp>
      <p:sp>
        <p:nvSpPr>
          <p:cNvPr id="11" name="Text 9"/>
          <p:cNvSpPr/>
          <p:nvPr/>
        </p:nvSpPr>
        <p:spPr>
          <a:xfrm>
            <a:off x="457200" y="2039112"/>
            <a:ext cx="822960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Layer 2  —  Domain Building Blocks</a:t>
            </a:r>
            <a:endParaRPr lang="en-US" sz="1200" dirty="0"/>
          </a:p>
        </p:txBody>
      </p:sp>
      <p:sp>
        <p:nvSpPr>
          <p:cNvPr id="12" name="Text 10"/>
          <p:cNvSpPr/>
          <p:nvPr/>
        </p:nvSpPr>
        <p:spPr>
          <a:xfrm>
            <a:off x="457200" y="2322576"/>
            <a:ext cx="8229600" cy="347472"/>
          </a:xfrm>
          <a:prstGeom prst="rect">
            <a:avLst/>
          </a:prstGeom>
          <a:noFill/>
          <a:ln/>
        </p:spPr>
        <p:txBody>
          <a:bodyPr wrap="square" lIns="0" tIns="0" rIns="0" bIns="0"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CapacityConstraint, ResourceLimitConstraint, PriorityWeighting, TimeWindowConstraint, ServiceAssignmentRule — reusable across surgery scheduling, nurse rostering, bed allocation, equipment assignment.</a:t>
            </a:r>
            <a:endParaRPr lang="en-US" sz="1050" dirty="0"/>
          </a:p>
        </p:txBody>
      </p:sp>
      <p:sp>
        <p:nvSpPr>
          <p:cNvPr id="13" name="Shape 11"/>
          <p:cNvSpPr/>
          <p:nvPr/>
        </p:nvSpPr>
        <p:spPr>
          <a:xfrm>
            <a:off x="274320" y="2843784"/>
            <a:ext cx="8595360" cy="749808"/>
          </a:xfrm>
          <a:prstGeom prst="roundRect">
            <a:avLst>
              <a:gd name="adj" fmla="val 9756"/>
            </a:avLst>
          </a:prstGeom>
          <a:solidFill>
            <a:srgbClr val="14A085"/>
          </a:solidFill>
          <a:ln w="12700">
            <a:solidFill>
              <a:srgbClr val="14A085"/>
            </a:solidFill>
            <a:prstDash val="solid"/>
          </a:ln>
        </p:spPr>
      </p:sp>
      <p:sp>
        <p:nvSpPr>
          <p:cNvPr id="14" name="Text 12"/>
          <p:cNvSpPr/>
          <p:nvPr/>
        </p:nvSpPr>
        <p:spPr>
          <a:xfrm>
            <a:off x="457200" y="2889504"/>
            <a:ext cx="8229600" cy="256032"/>
          </a:xfrm>
          <a:prstGeom prst="rect">
            <a:avLst/>
          </a:prstGeom>
          <a:noFill/>
          <a:ln/>
        </p:spPr>
        <p:txBody>
          <a:bodyPr wrap="square" lIns="0" tIns="0" rIns="0" bIns="0" rtlCol="0" anchor="ctr"/>
          <a:lstStyle/>
          <a:p>
            <a:pPr indent="0" marL="0">
              <a:buNone/>
            </a:pPr>
            <a:r>
              <a:rPr lang="en-US" sz="1200" b="1" dirty="0">
                <a:solidFill>
                  <a:srgbClr val="0A2E4A"/>
                </a:solidFill>
                <a:latin typeface="Calibri" pitchFamily="34" charset="0"/>
                <a:ea typeface="Calibri" pitchFamily="34" charset="-122"/>
                <a:cs typeface="Calibri" pitchFamily="34" charset="-120"/>
              </a:rPr>
              <a:t>Layer 3  —  Problem Templates</a:t>
            </a:r>
            <a:endParaRPr lang="en-US" sz="1200" dirty="0"/>
          </a:p>
        </p:txBody>
      </p:sp>
      <p:sp>
        <p:nvSpPr>
          <p:cNvPr id="15" name="Text 13"/>
          <p:cNvSpPr/>
          <p:nvPr/>
        </p:nvSpPr>
        <p:spPr>
          <a:xfrm>
            <a:off x="457200" y="3172968"/>
            <a:ext cx="8229600" cy="347472"/>
          </a:xfrm>
          <a:prstGeom prst="rect">
            <a:avLst/>
          </a:prstGeom>
          <a:noFill/>
          <a:ln/>
        </p:spPr>
        <p:txBody>
          <a:bodyPr wrap="square" lIns="0" tIns="0" rIns="0" bIns="0" rtlCol="0" anchor="ctr"/>
          <a:lstStyle/>
          <a:p>
            <a:pPr indent="0" marL="0">
              <a:buNone/>
            </a:pPr>
            <a:r>
              <a:rPr lang="en-US" sz="1050" i="1" dirty="0">
                <a:solidFill>
                  <a:srgbClr val="0A2E4A"/>
                </a:solidFill>
                <a:latin typeface="Calibri" pitchFamily="34" charset="0"/>
                <a:ea typeface="Calibri" pitchFamily="34" charset="-122"/>
                <a:cs typeface="Calibri" pitchFamily="34" charset="-120"/>
              </a:rPr>
              <a:t>SurgeryScheduler, NurseRoster, BedAllocation, EquipmentAssignment — compositions of Layer-2 blocks, parameterised via YAML/JSON. Adding a new problem = assemble blocks + write config.</a:t>
            </a:r>
            <a:endParaRPr lang="en-US" sz="1050" dirty="0"/>
          </a:p>
        </p:txBody>
      </p:sp>
      <p:sp>
        <p:nvSpPr>
          <p:cNvPr id="16" name="Shape 14"/>
          <p:cNvSpPr/>
          <p:nvPr/>
        </p:nvSpPr>
        <p:spPr>
          <a:xfrm>
            <a:off x="274320" y="3694176"/>
            <a:ext cx="8595360" cy="749808"/>
          </a:xfrm>
          <a:prstGeom prst="roundRect">
            <a:avLst>
              <a:gd name="adj" fmla="val 9756"/>
            </a:avLst>
          </a:prstGeom>
          <a:solidFill>
            <a:srgbClr val="9EEADF"/>
          </a:solidFill>
          <a:ln w="12700">
            <a:solidFill>
              <a:srgbClr val="9EEADF"/>
            </a:solidFill>
            <a:prstDash val="solid"/>
          </a:ln>
        </p:spPr>
      </p:sp>
      <p:sp>
        <p:nvSpPr>
          <p:cNvPr id="17" name="Text 15"/>
          <p:cNvSpPr/>
          <p:nvPr/>
        </p:nvSpPr>
        <p:spPr>
          <a:xfrm>
            <a:off x="457200" y="3739896"/>
            <a:ext cx="8229600" cy="256032"/>
          </a:xfrm>
          <a:prstGeom prst="rect">
            <a:avLst/>
          </a:prstGeom>
          <a:noFill/>
          <a:ln/>
        </p:spPr>
        <p:txBody>
          <a:bodyPr wrap="square" lIns="0" tIns="0" rIns="0" bIns="0" rtlCol="0" anchor="ctr"/>
          <a:lstStyle/>
          <a:p>
            <a:pPr indent="0" marL="0">
              <a:buNone/>
            </a:pPr>
            <a:r>
              <a:rPr lang="en-US" sz="1200" b="1" dirty="0">
                <a:solidFill>
                  <a:srgbClr val="0A2E4A"/>
                </a:solidFill>
                <a:latin typeface="Calibri" pitchFamily="34" charset="0"/>
                <a:ea typeface="Calibri" pitchFamily="34" charset="-122"/>
                <a:cs typeface="Calibri" pitchFamily="34" charset="-120"/>
              </a:rPr>
              <a:t>Layer 4  —  Institution Configurations</a:t>
            </a:r>
            <a:endParaRPr lang="en-US" sz="1200" dirty="0"/>
          </a:p>
        </p:txBody>
      </p:sp>
      <p:sp>
        <p:nvSpPr>
          <p:cNvPr id="18" name="Text 16"/>
          <p:cNvSpPr/>
          <p:nvPr/>
        </p:nvSpPr>
        <p:spPr>
          <a:xfrm>
            <a:off x="457200" y="4023360"/>
            <a:ext cx="8229600" cy="347472"/>
          </a:xfrm>
          <a:prstGeom prst="rect">
            <a:avLst/>
          </a:prstGeom>
          <a:noFill/>
          <a:ln/>
        </p:spPr>
        <p:txBody>
          <a:bodyPr wrap="square" lIns="0" tIns="0" rIns="0" bIns="0" rtlCol="0" anchor="ctr"/>
          <a:lstStyle/>
          <a:p>
            <a:pPr indent="0" marL="0">
              <a:buNone/>
            </a:pPr>
            <a:r>
              <a:rPr lang="en-US" sz="1050" i="1" dirty="0">
                <a:solidFill>
                  <a:srgbClr val="0A2E4A"/>
                </a:solidFill>
                <a:latin typeface="Calibri" pitchFamily="34" charset="0"/>
                <a:ea typeface="Calibri" pitchFamily="34" charset="-122"/>
                <a:cs typeface="Calibri" pitchFamily="34" charset="-120"/>
              </a:rPr>
              <a:t>CHLN_Config, HospitalX_Config — override defaults (MSS structure, SIGIC rules, special circuits). One config file per client, no Python changes needed.</a:t>
            </a:r>
            <a:endParaRPr lang="en-US" sz="1050" dirty="0"/>
          </a:p>
        </p:txBody>
      </p:sp>
      <p:sp>
        <p:nvSpPr>
          <p:cNvPr id="19" name="Text 17"/>
          <p:cNvSpPr/>
          <p:nvPr/>
        </p:nvSpPr>
        <p:spPr>
          <a:xfrm>
            <a:off x="274320" y="4617720"/>
            <a:ext cx="8595360" cy="228600"/>
          </a:xfrm>
          <a:prstGeom prst="rect">
            <a:avLst/>
          </a:prstGeom>
          <a:noFill/>
          <a:ln/>
        </p:spPr>
        <p:txBody>
          <a:bodyPr wrap="square" lIns="0" tIns="0" rIns="0" bIns="0"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Design principles: composition &gt; inheritance  ·  solver-agnostic  ·  config-driven  ·  regression tests per template</a:t>
            </a:r>
            <a:endParaRPr lang="en-US" sz="1000" dirty="0"/>
          </a:p>
        </p:txBody>
      </p:sp>
      <p:sp>
        <p:nvSpPr>
          <p:cNvPr id="20" name="Shape 18"/>
          <p:cNvSpPr/>
          <p:nvPr/>
        </p:nvSpPr>
        <p:spPr>
          <a:xfrm>
            <a:off x="0" y="4800600"/>
            <a:ext cx="9144000" cy="342900"/>
          </a:xfrm>
          <a:prstGeom prst="rect">
            <a:avLst/>
          </a:prstGeom>
          <a:solidFill>
            <a:srgbClr val="0A2E4A"/>
          </a:solidFill>
          <a:ln w="12700">
            <a:solidFill>
              <a:srgbClr val="0A2E4A"/>
            </a:solidFill>
            <a:prstDash val="solid"/>
          </a:ln>
        </p:spPr>
      </p:sp>
      <p:sp>
        <p:nvSpPr>
          <p:cNvPr id="21" name="Text 19"/>
          <p:cNvSpPr/>
          <p:nvPr/>
        </p:nvSpPr>
        <p:spPr>
          <a:xfrm>
            <a:off x="182880" y="4818888"/>
            <a:ext cx="6400800" cy="27432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Elective Surgery Scheduling — MILP  ·  SNS/SIGIC Portugal  ·  github.com/</a:t>
            </a:r>
            <a:endParaRPr lang="en-US" sz="800" dirty="0"/>
          </a:p>
        </p:txBody>
      </p:sp>
      <p:sp>
        <p:nvSpPr>
          <p:cNvPr id="22" name="Text 20"/>
          <p:cNvSpPr/>
          <p:nvPr/>
        </p:nvSpPr>
        <p:spPr>
          <a:xfrm>
            <a:off x="7772400" y="4818888"/>
            <a:ext cx="1188720" cy="274320"/>
          </a:xfrm>
          <a:prstGeom prst="rect">
            <a:avLst/>
          </a:prstGeom>
          <a:noFill/>
          <a:ln/>
        </p:spPr>
        <p:txBody>
          <a:bodyPr wrap="square" lIns="0" tIns="0" rIns="0" bIns="0" rtlCol="0" anchor="ctr"/>
          <a:lstStyle/>
          <a:p>
            <a:pPr algn="r" indent="0" marL="0">
              <a:buNone/>
            </a:pPr>
            <a:r>
              <a:rPr lang="en-US" sz="800" dirty="0">
                <a:solidFill>
                  <a:srgbClr val="8FA3B1"/>
                </a:solidFill>
                <a:latin typeface="Calibri" pitchFamily="34" charset="0"/>
                <a:ea typeface="Calibri" pitchFamily="34" charset="-122"/>
                <a:cs typeface="Calibri" pitchFamily="34" charset="-120"/>
              </a:rPr>
              <a:t>17 / 20</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E4A"/>
          </a:solidFill>
          <a:ln w="12700">
            <a:solidFill>
              <a:srgbClr val="0A2E4A"/>
            </a:solidFill>
            <a:prstDash val="solid"/>
          </a:ln>
        </p:spPr>
      </p:sp>
      <p:sp>
        <p:nvSpPr>
          <p:cNvPr id="3" name="Shape 1"/>
          <p:cNvSpPr/>
          <p:nvPr/>
        </p:nvSpPr>
        <p:spPr>
          <a:xfrm>
            <a:off x="0" y="1005840"/>
            <a:ext cx="9144000" cy="54864"/>
          </a:xfrm>
          <a:prstGeom prst="rect">
            <a:avLst/>
          </a:prstGeom>
          <a:solidFill>
            <a:srgbClr val="0D7377"/>
          </a:solidFill>
          <a:ln w="12700">
            <a:solidFill>
              <a:srgbClr val="0D7377"/>
            </a:solidFill>
            <a:prstDash val="solid"/>
          </a:ln>
        </p:spPr>
      </p:sp>
      <p:sp>
        <p:nvSpPr>
          <p:cNvPr id="4" name="Shape 2"/>
          <p:cNvSpPr/>
          <p:nvPr/>
        </p:nvSpPr>
        <p:spPr>
          <a:xfrm>
            <a:off x="7772400" y="0"/>
            <a:ext cx="1371600" cy="1005840"/>
          </a:xfrm>
          <a:prstGeom prst="rect">
            <a:avLst/>
          </a:prstGeom>
          <a:solidFill>
            <a:srgbClr val="0D7377"/>
          </a:solidFill>
          <a:ln w="12700">
            <a:solidFill>
              <a:srgbClr val="0D7377"/>
            </a:solidFill>
            <a:prstDash val="solid"/>
          </a:ln>
        </p:spPr>
      </p:sp>
      <p:sp>
        <p:nvSpPr>
          <p:cNvPr id="5" name="Text 3"/>
          <p:cNvSpPr/>
          <p:nvPr/>
        </p:nvSpPr>
        <p:spPr>
          <a:xfrm>
            <a:off x="320040" y="73152"/>
            <a:ext cx="685800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Extensions &amp; Future Work</a:t>
            </a:r>
            <a:endParaRPr lang="en-US" sz="2000" dirty="0"/>
          </a:p>
        </p:txBody>
      </p:sp>
      <p:sp>
        <p:nvSpPr>
          <p:cNvPr id="6" name="Text 4"/>
          <p:cNvSpPr/>
          <p:nvPr/>
        </p:nvSpPr>
        <p:spPr>
          <a:xfrm>
            <a:off x="320040" y="566928"/>
            <a:ext cx="8229600" cy="347472"/>
          </a:xfrm>
          <a:prstGeom prst="rect">
            <a:avLst/>
          </a:prstGeom>
          <a:noFill/>
          <a:ln/>
        </p:spPr>
        <p:txBody>
          <a:bodyPr wrap="square" lIns="0" tIns="0" rIns="0" bIns="0" rtlCol="0" anchor="ctr"/>
          <a:lstStyle/>
          <a:p>
            <a:pPr indent="0" marL="0">
              <a:buNone/>
            </a:pPr>
            <a:r>
              <a:rPr lang="en-US" sz="1150" i="1" dirty="0">
                <a:solidFill>
                  <a:srgbClr val="9EEADF"/>
                </a:solidFill>
                <a:latin typeface="Calibri" pitchFamily="34" charset="0"/>
                <a:ea typeface="Calibri" pitchFamily="34" charset="-122"/>
                <a:cs typeface="Calibri" pitchFamily="34" charset="-120"/>
              </a:rPr>
              <a:t>Where the model goes next</a:t>
            </a:r>
            <a:endParaRPr lang="en-US" sz="1150" dirty="0"/>
          </a:p>
        </p:txBody>
      </p:sp>
      <p:sp>
        <p:nvSpPr>
          <p:cNvPr id="7" name="Shape 5"/>
          <p:cNvSpPr/>
          <p:nvPr/>
        </p:nvSpPr>
        <p:spPr>
          <a:xfrm>
            <a:off x="274320" y="1170432"/>
            <a:ext cx="4160520" cy="1078992"/>
          </a:xfrm>
          <a:prstGeom prst="roundRect">
            <a:avLst>
              <a:gd name="adj" fmla="val 6780"/>
            </a:avLst>
          </a:prstGeom>
          <a:solidFill>
            <a:srgbClr val="FFFFFF"/>
          </a:solidFill>
          <a:ln/>
          <a:effectLst>
            <a:outerShdw sx="100000" sy="100000" kx="0" ky="0" algn="bl" rotWithShape="0" blurRad="63500" dist="25400" dir="2700000">
              <a:srgbClr val="000000">
                <a:alpha val="10000"/>
              </a:srgbClr>
            </a:outerShdw>
          </a:effectLst>
        </p:spPr>
      </p:sp>
      <p:sp>
        <p:nvSpPr>
          <p:cNvPr id="8" name="Shape 6"/>
          <p:cNvSpPr/>
          <p:nvPr/>
        </p:nvSpPr>
        <p:spPr>
          <a:xfrm>
            <a:off x="411480" y="1261872"/>
            <a:ext cx="274320" cy="274320"/>
          </a:xfrm>
          <a:prstGeom prst="ellipse">
            <a:avLst/>
          </a:prstGeom>
          <a:solidFill>
            <a:srgbClr val="0D7377"/>
          </a:solidFill>
          <a:ln w="12700">
            <a:solidFill>
              <a:srgbClr val="0D7377"/>
            </a:solidFill>
            <a:prstDash val="solid"/>
          </a:ln>
        </p:spPr>
      </p:sp>
      <p:sp>
        <p:nvSpPr>
          <p:cNvPr id="9" name="Text 7"/>
          <p:cNvSpPr/>
          <p:nvPr/>
        </p:nvSpPr>
        <p:spPr>
          <a:xfrm>
            <a:off x="822960" y="1243584"/>
            <a:ext cx="3474720" cy="274320"/>
          </a:xfrm>
          <a:prstGeom prst="rect">
            <a:avLst/>
          </a:prstGeom>
          <a:noFill/>
          <a:ln/>
        </p:spPr>
        <p:txBody>
          <a:bodyPr wrap="square" lIns="0" tIns="0" rIns="0" bIns="0" rtlCol="0" anchor="ctr"/>
          <a:lstStyle/>
          <a:p>
            <a:pPr indent="0" marL="0">
              <a:buNone/>
            </a:pPr>
            <a:r>
              <a:rPr lang="en-US" sz="1100" b="1" dirty="0">
                <a:solidFill>
                  <a:srgbClr val="0A2E4A"/>
                </a:solidFill>
                <a:latin typeface="Calibri" pitchFamily="34" charset="0"/>
                <a:ea typeface="Calibri" pitchFamily="34" charset="-122"/>
                <a:cs typeface="Calibri" pitchFamily="34" charset="-120"/>
              </a:rPr>
              <a:t>Stochastic surgery durations</a:t>
            </a:r>
            <a:endParaRPr lang="en-US" sz="1100" dirty="0"/>
          </a:p>
        </p:txBody>
      </p:sp>
      <p:sp>
        <p:nvSpPr>
          <p:cNvPr id="10" name="Text 8"/>
          <p:cNvSpPr/>
          <p:nvPr/>
        </p:nvSpPr>
        <p:spPr>
          <a:xfrm>
            <a:off x="411480" y="1581912"/>
            <a:ext cx="3886200" cy="585216"/>
          </a:xfrm>
          <a:prstGeom prst="rect">
            <a:avLst/>
          </a:prstGeom>
          <a:noFill/>
          <a:ln/>
        </p:spPr>
        <p:txBody>
          <a:bodyPr wrap="square" lIns="0" tIns="0" rIns="0" bIns="0"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Two-stage SP: first stage selects cases, second handles duration scenarios. Recourse = overtime cost or case removal. Denton et al. (2010) framework.</a:t>
            </a:r>
            <a:endParaRPr lang="en-US" sz="1000" dirty="0"/>
          </a:p>
        </p:txBody>
      </p:sp>
      <p:sp>
        <p:nvSpPr>
          <p:cNvPr id="11" name="Shape 9"/>
          <p:cNvSpPr/>
          <p:nvPr/>
        </p:nvSpPr>
        <p:spPr>
          <a:xfrm>
            <a:off x="4663440" y="1170432"/>
            <a:ext cx="4160520" cy="1078992"/>
          </a:xfrm>
          <a:prstGeom prst="roundRect">
            <a:avLst>
              <a:gd name="adj" fmla="val 6780"/>
            </a:avLst>
          </a:prstGeom>
          <a:solidFill>
            <a:srgbClr val="FFFFFF"/>
          </a:solidFill>
          <a:ln/>
          <a:effectLst>
            <a:outerShdw sx="100000" sy="100000" kx="0" ky="0" algn="bl" rotWithShape="0" blurRad="63500" dist="25400" dir="2700000">
              <a:srgbClr val="000000">
                <a:alpha val="10000"/>
              </a:srgbClr>
            </a:outerShdw>
          </a:effectLst>
        </p:spPr>
      </p:sp>
      <p:sp>
        <p:nvSpPr>
          <p:cNvPr id="12" name="Shape 10"/>
          <p:cNvSpPr/>
          <p:nvPr/>
        </p:nvSpPr>
        <p:spPr>
          <a:xfrm>
            <a:off x="4800600" y="1261872"/>
            <a:ext cx="274320" cy="274320"/>
          </a:xfrm>
          <a:prstGeom prst="ellipse">
            <a:avLst/>
          </a:prstGeom>
          <a:solidFill>
            <a:srgbClr val="14A085"/>
          </a:solidFill>
          <a:ln w="12700">
            <a:solidFill>
              <a:srgbClr val="14A085"/>
            </a:solidFill>
            <a:prstDash val="solid"/>
          </a:ln>
        </p:spPr>
      </p:sp>
      <p:sp>
        <p:nvSpPr>
          <p:cNvPr id="13" name="Text 11"/>
          <p:cNvSpPr/>
          <p:nvPr/>
        </p:nvSpPr>
        <p:spPr>
          <a:xfrm>
            <a:off x="5212080" y="1243584"/>
            <a:ext cx="3474720" cy="274320"/>
          </a:xfrm>
          <a:prstGeom prst="rect">
            <a:avLst/>
          </a:prstGeom>
          <a:noFill/>
          <a:ln/>
        </p:spPr>
        <p:txBody>
          <a:bodyPr wrap="square" lIns="0" tIns="0" rIns="0" bIns="0" rtlCol="0" anchor="ctr"/>
          <a:lstStyle/>
          <a:p>
            <a:pPr indent="0" marL="0">
              <a:buNone/>
            </a:pPr>
            <a:r>
              <a:rPr lang="en-US" sz="1100" b="1" dirty="0">
                <a:solidFill>
                  <a:srgbClr val="0A2E4A"/>
                </a:solidFill>
                <a:latin typeface="Calibri" pitchFamily="34" charset="0"/>
                <a:ea typeface="Calibri" pitchFamily="34" charset="-122"/>
                <a:cs typeface="Calibri" pitchFamily="34" charset="-120"/>
              </a:rPr>
              <a:t>ICU / ward bed constraints</a:t>
            </a:r>
            <a:endParaRPr lang="en-US" sz="1100" dirty="0"/>
          </a:p>
        </p:txBody>
      </p:sp>
      <p:sp>
        <p:nvSpPr>
          <p:cNvPr id="14" name="Text 12"/>
          <p:cNvSpPr/>
          <p:nvPr/>
        </p:nvSpPr>
        <p:spPr>
          <a:xfrm>
            <a:off x="4800600" y="1581912"/>
            <a:ext cx="3886200" cy="585216"/>
          </a:xfrm>
          <a:prstGeom prst="rect">
            <a:avLst/>
          </a:prstGeom>
          <a:noFill/>
          <a:ln/>
        </p:spPr>
        <p:txBody>
          <a:bodyPr wrap="square" lIns="0" tIns="0" rIns="0" bIns="0"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Add downstream capacity constraints linking the weekly schedule to bed management. Van Riet &amp; Demeulemeester (2015).</a:t>
            </a:r>
            <a:endParaRPr lang="en-US" sz="1000" dirty="0"/>
          </a:p>
        </p:txBody>
      </p:sp>
      <p:sp>
        <p:nvSpPr>
          <p:cNvPr id="15" name="Shape 13"/>
          <p:cNvSpPr/>
          <p:nvPr/>
        </p:nvSpPr>
        <p:spPr>
          <a:xfrm>
            <a:off x="274320" y="2340864"/>
            <a:ext cx="4160520" cy="1078992"/>
          </a:xfrm>
          <a:prstGeom prst="roundRect">
            <a:avLst>
              <a:gd name="adj" fmla="val 6780"/>
            </a:avLst>
          </a:prstGeom>
          <a:solidFill>
            <a:srgbClr val="FFFFFF"/>
          </a:solidFill>
          <a:ln/>
          <a:effectLst>
            <a:outerShdw sx="100000" sy="100000" kx="0" ky="0" algn="bl" rotWithShape="0" blurRad="63500" dist="25400" dir="2700000">
              <a:srgbClr val="000000">
                <a:alpha val="10000"/>
              </a:srgbClr>
            </a:outerShdw>
          </a:effectLst>
        </p:spPr>
      </p:sp>
      <p:sp>
        <p:nvSpPr>
          <p:cNvPr id="16" name="Shape 14"/>
          <p:cNvSpPr/>
          <p:nvPr/>
        </p:nvSpPr>
        <p:spPr>
          <a:xfrm>
            <a:off x="411480" y="2432304"/>
            <a:ext cx="274320" cy="274320"/>
          </a:xfrm>
          <a:prstGeom prst="ellipse">
            <a:avLst/>
          </a:prstGeom>
          <a:solidFill>
            <a:srgbClr val="0D7377"/>
          </a:solidFill>
          <a:ln w="12700">
            <a:solidFill>
              <a:srgbClr val="0D7377"/>
            </a:solidFill>
            <a:prstDash val="solid"/>
          </a:ln>
        </p:spPr>
      </p:sp>
      <p:sp>
        <p:nvSpPr>
          <p:cNvPr id="17" name="Text 15"/>
          <p:cNvSpPr/>
          <p:nvPr/>
        </p:nvSpPr>
        <p:spPr>
          <a:xfrm>
            <a:off x="822960" y="2414016"/>
            <a:ext cx="3474720" cy="274320"/>
          </a:xfrm>
          <a:prstGeom prst="rect">
            <a:avLst/>
          </a:prstGeom>
          <a:noFill/>
          <a:ln/>
        </p:spPr>
        <p:txBody>
          <a:bodyPr wrap="square" lIns="0" tIns="0" rIns="0" bIns="0" rtlCol="0" anchor="ctr"/>
          <a:lstStyle/>
          <a:p>
            <a:pPr indent="0" marL="0">
              <a:buNone/>
            </a:pPr>
            <a:r>
              <a:rPr lang="en-US" sz="1100" b="1" dirty="0">
                <a:solidFill>
                  <a:srgbClr val="0A2E4A"/>
                </a:solidFill>
                <a:latin typeface="Calibri" pitchFamily="34" charset="0"/>
                <a:ea typeface="Calibri" pitchFamily="34" charset="-122"/>
                <a:cs typeface="Calibri" pitchFamily="34" charset="-120"/>
              </a:rPr>
              <a:t>Robust scheduling</a:t>
            </a:r>
            <a:endParaRPr lang="en-US" sz="1100" dirty="0"/>
          </a:p>
        </p:txBody>
      </p:sp>
      <p:sp>
        <p:nvSpPr>
          <p:cNvPr id="18" name="Text 16"/>
          <p:cNvSpPr/>
          <p:nvPr/>
        </p:nvSpPr>
        <p:spPr>
          <a:xfrm>
            <a:off x="411480" y="2752344"/>
            <a:ext cx="3886200" cy="585216"/>
          </a:xfrm>
          <a:prstGeom prst="rect">
            <a:avLst/>
          </a:prstGeom>
          <a:noFill/>
          <a:ln/>
        </p:spPr>
        <p:txBody>
          <a:bodyPr wrap="square" lIns="0" tIns="0" rIns="0" bIns="0"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Min-max regret formulation with buffer time between cases proportional to σ(duration). Protects against disruption without full SP.</a:t>
            </a:r>
            <a:endParaRPr lang="en-US" sz="1000" dirty="0"/>
          </a:p>
        </p:txBody>
      </p:sp>
      <p:sp>
        <p:nvSpPr>
          <p:cNvPr id="19" name="Shape 17"/>
          <p:cNvSpPr/>
          <p:nvPr/>
        </p:nvSpPr>
        <p:spPr>
          <a:xfrm>
            <a:off x="4663440" y="2340864"/>
            <a:ext cx="4160520" cy="1078992"/>
          </a:xfrm>
          <a:prstGeom prst="roundRect">
            <a:avLst>
              <a:gd name="adj" fmla="val 6780"/>
            </a:avLst>
          </a:prstGeom>
          <a:solidFill>
            <a:srgbClr val="FFFFFF"/>
          </a:solidFill>
          <a:ln/>
          <a:effectLst>
            <a:outerShdw sx="100000" sy="100000" kx="0" ky="0" algn="bl" rotWithShape="0" blurRad="63500" dist="25400" dir="2700000">
              <a:srgbClr val="000000">
                <a:alpha val="10000"/>
              </a:srgbClr>
            </a:outerShdw>
          </a:effectLst>
        </p:spPr>
      </p:sp>
      <p:sp>
        <p:nvSpPr>
          <p:cNvPr id="20" name="Shape 18"/>
          <p:cNvSpPr/>
          <p:nvPr/>
        </p:nvSpPr>
        <p:spPr>
          <a:xfrm>
            <a:off x="4800600" y="2432304"/>
            <a:ext cx="274320" cy="274320"/>
          </a:xfrm>
          <a:prstGeom prst="ellipse">
            <a:avLst/>
          </a:prstGeom>
          <a:solidFill>
            <a:srgbClr val="14A085"/>
          </a:solidFill>
          <a:ln w="12700">
            <a:solidFill>
              <a:srgbClr val="14A085"/>
            </a:solidFill>
            <a:prstDash val="solid"/>
          </a:ln>
        </p:spPr>
      </p:sp>
      <p:sp>
        <p:nvSpPr>
          <p:cNvPr id="21" name="Text 19"/>
          <p:cNvSpPr/>
          <p:nvPr/>
        </p:nvSpPr>
        <p:spPr>
          <a:xfrm>
            <a:off x="5212080" y="2414016"/>
            <a:ext cx="3474720" cy="274320"/>
          </a:xfrm>
          <a:prstGeom prst="rect">
            <a:avLst/>
          </a:prstGeom>
          <a:noFill/>
          <a:ln/>
        </p:spPr>
        <p:txBody>
          <a:bodyPr wrap="square" lIns="0" tIns="0" rIns="0" bIns="0" rtlCol="0" anchor="ctr"/>
          <a:lstStyle/>
          <a:p>
            <a:pPr indent="0" marL="0">
              <a:buNone/>
            </a:pPr>
            <a:r>
              <a:rPr lang="en-US" sz="1100" b="1" dirty="0">
                <a:solidFill>
                  <a:srgbClr val="0A2E4A"/>
                </a:solidFill>
                <a:latin typeface="Calibri" pitchFamily="34" charset="0"/>
                <a:ea typeface="Calibri" pitchFamily="34" charset="-122"/>
                <a:cs typeface="Calibri" pitchFamily="34" charset="-120"/>
              </a:rPr>
              <a:t>Multi-week rolling horizon</a:t>
            </a:r>
            <a:endParaRPr lang="en-US" sz="1100" dirty="0"/>
          </a:p>
        </p:txBody>
      </p:sp>
      <p:sp>
        <p:nvSpPr>
          <p:cNvPr id="22" name="Text 20"/>
          <p:cNvSpPr/>
          <p:nvPr/>
        </p:nvSpPr>
        <p:spPr>
          <a:xfrm>
            <a:off x="4800600" y="2752344"/>
            <a:ext cx="3886200" cy="585216"/>
          </a:xfrm>
          <a:prstGeom prst="rect">
            <a:avLst/>
          </a:prstGeom>
          <a:noFill/>
          <a:ln/>
        </p:spPr>
        <p:txBody>
          <a:bodyPr wrap="square" lIns="0" tIns="0" rIns="0" bIns="0"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Solve weekly; carry forward unscheduled cases with increased penalty weight (SIGIC waiting time accumulates). Preserve fairness across weeks.</a:t>
            </a:r>
            <a:endParaRPr lang="en-US" sz="1000" dirty="0"/>
          </a:p>
        </p:txBody>
      </p:sp>
      <p:sp>
        <p:nvSpPr>
          <p:cNvPr id="23" name="Shape 21"/>
          <p:cNvSpPr/>
          <p:nvPr/>
        </p:nvSpPr>
        <p:spPr>
          <a:xfrm>
            <a:off x="274320" y="3511296"/>
            <a:ext cx="4160520" cy="1078992"/>
          </a:xfrm>
          <a:prstGeom prst="roundRect">
            <a:avLst>
              <a:gd name="adj" fmla="val 6780"/>
            </a:avLst>
          </a:prstGeom>
          <a:solidFill>
            <a:srgbClr val="FFFFFF"/>
          </a:solidFill>
          <a:ln/>
          <a:effectLst>
            <a:outerShdw sx="100000" sy="100000" kx="0" ky="0" algn="bl" rotWithShape="0" blurRad="63500" dist="25400" dir="2700000">
              <a:srgbClr val="000000">
                <a:alpha val="10000"/>
              </a:srgbClr>
            </a:outerShdw>
          </a:effectLst>
        </p:spPr>
      </p:sp>
      <p:sp>
        <p:nvSpPr>
          <p:cNvPr id="24" name="Shape 22"/>
          <p:cNvSpPr/>
          <p:nvPr/>
        </p:nvSpPr>
        <p:spPr>
          <a:xfrm>
            <a:off x="411480" y="3602736"/>
            <a:ext cx="274320" cy="274320"/>
          </a:xfrm>
          <a:prstGeom prst="ellipse">
            <a:avLst/>
          </a:prstGeom>
          <a:solidFill>
            <a:srgbClr val="0D7377"/>
          </a:solidFill>
          <a:ln w="12700">
            <a:solidFill>
              <a:srgbClr val="0D7377"/>
            </a:solidFill>
            <a:prstDash val="solid"/>
          </a:ln>
        </p:spPr>
      </p:sp>
      <p:sp>
        <p:nvSpPr>
          <p:cNvPr id="25" name="Text 23"/>
          <p:cNvSpPr/>
          <p:nvPr/>
        </p:nvSpPr>
        <p:spPr>
          <a:xfrm>
            <a:off x="822960" y="3584448"/>
            <a:ext cx="3474720" cy="274320"/>
          </a:xfrm>
          <a:prstGeom prst="rect">
            <a:avLst/>
          </a:prstGeom>
          <a:noFill/>
          <a:ln/>
        </p:spPr>
        <p:txBody>
          <a:bodyPr wrap="square" lIns="0" tIns="0" rIns="0" bIns="0" rtlCol="0" anchor="ctr"/>
          <a:lstStyle/>
          <a:p>
            <a:pPr indent="0" marL="0">
              <a:buNone/>
            </a:pPr>
            <a:r>
              <a:rPr lang="en-US" sz="1100" b="1" dirty="0">
                <a:solidFill>
                  <a:srgbClr val="0A2E4A"/>
                </a:solidFill>
                <a:latin typeface="Calibri" pitchFamily="34" charset="0"/>
                <a:ea typeface="Calibri" pitchFamily="34" charset="-122"/>
                <a:cs typeface="Calibri" pitchFamily="34" charset="-120"/>
              </a:rPr>
              <a:t>Real-time LNS rescheduling</a:t>
            </a:r>
            <a:endParaRPr lang="en-US" sz="1100" dirty="0"/>
          </a:p>
        </p:txBody>
      </p:sp>
      <p:sp>
        <p:nvSpPr>
          <p:cNvPr id="26" name="Text 24"/>
          <p:cNvSpPr/>
          <p:nvPr/>
        </p:nvSpPr>
        <p:spPr>
          <a:xfrm>
            <a:off x="411480" y="3922776"/>
            <a:ext cx="3886200" cy="585216"/>
          </a:xfrm>
          <a:prstGeom prst="rect">
            <a:avLst/>
          </a:prstGeom>
          <a:noFill/>
          <a:ln/>
        </p:spPr>
        <p:txBody>
          <a:bodyPr wrap="square" lIns="0" tIns="0" rIns="0" bIns="0"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Large Neighbourhood Search for intra-day disruptions (emergency cases, equipment failure). Destroy-and-repair in seconds.</a:t>
            </a:r>
            <a:endParaRPr lang="en-US" sz="1000" dirty="0"/>
          </a:p>
        </p:txBody>
      </p:sp>
      <p:sp>
        <p:nvSpPr>
          <p:cNvPr id="27" name="Shape 25"/>
          <p:cNvSpPr/>
          <p:nvPr/>
        </p:nvSpPr>
        <p:spPr>
          <a:xfrm>
            <a:off x="4663440" y="3511296"/>
            <a:ext cx="4160520" cy="1078992"/>
          </a:xfrm>
          <a:prstGeom prst="roundRect">
            <a:avLst>
              <a:gd name="adj" fmla="val 6780"/>
            </a:avLst>
          </a:prstGeom>
          <a:solidFill>
            <a:srgbClr val="FFFFFF"/>
          </a:solidFill>
          <a:ln/>
          <a:effectLst>
            <a:outerShdw sx="100000" sy="100000" kx="0" ky="0" algn="bl" rotWithShape="0" blurRad="63500" dist="25400" dir="2700000">
              <a:srgbClr val="000000">
                <a:alpha val="10000"/>
              </a:srgbClr>
            </a:outerShdw>
          </a:effectLst>
        </p:spPr>
      </p:sp>
      <p:sp>
        <p:nvSpPr>
          <p:cNvPr id="28" name="Shape 26"/>
          <p:cNvSpPr/>
          <p:nvPr/>
        </p:nvSpPr>
        <p:spPr>
          <a:xfrm>
            <a:off x="4800600" y="3602736"/>
            <a:ext cx="274320" cy="274320"/>
          </a:xfrm>
          <a:prstGeom prst="ellipse">
            <a:avLst/>
          </a:prstGeom>
          <a:solidFill>
            <a:srgbClr val="E67E22"/>
          </a:solidFill>
          <a:ln w="12700">
            <a:solidFill>
              <a:srgbClr val="E67E22"/>
            </a:solidFill>
            <a:prstDash val="solid"/>
          </a:ln>
        </p:spPr>
      </p:sp>
      <p:sp>
        <p:nvSpPr>
          <p:cNvPr id="29" name="Text 27"/>
          <p:cNvSpPr/>
          <p:nvPr/>
        </p:nvSpPr>
        <p:spPr>
          <a:xfrm>
            <a:off x="5212080" y="3584448"/>
            <a:ext cx="3474720" cy="274320"/>
          </a:xfrm>
          <a:prstGeom prst="rect">
            <a:avLst/>
          </a:prstGeom>
          <a:noFill/>
          <a:ln/>
        </p:spPr>
        <p:txBody>
          <a:bodyPr wrap="square" lIns="0" tIns="0" rIns="0" bIns="0" rtlCol="0" anchor="ctr"/>
          <a:lstStyle/>
          <a:p>
            <a:pPr indent="0" marL="0">
              <a:buNone/>
            </a:pPr>
            <a:r>
              <a:rPr lang="en-US" sz="1100" b="1" dirty="0">
                <a:solidFill>
                  <a:srgbClr val="0A2E4A"/>
                </a:solidFill>
                <a:latin typeface="Calibri" pitchFamily="34" charset="0"/>
                <a:ea typeface="Calibri" pitchFamily="34" charset="-122"/>
                <a:cs typeface="Calibri" pitchFamily="34" charset="-120"/>
              </a:rPr>
              <a:t>Patient-centred preferences</a:t>
            </a:r>
            <a:endParaRPr lang="en-US" sz="1100" dirty="0"/>
          </a:p>
        </p:txBody>
      </p:sp>
      <p:sp>
        <p:nvSpPr>
          <p:cNvPr id="30" name="Text 28"/>
          <p:cNvSpPr/>
          <p:nvPr/>
        </p:nvSpPr>
        <p:spPr>
          <a:xfrm>
            <a:off x="4800600" y="3922776"/>
            <a:ext cx="3886200" cy="585216"/>
          </a:xfrm>
          <a:prstGeom prst="rect">
            <a:avLst/>
          </a:prstGeom>
          <a:noFill/>
          <a:ln/>
        </p:spPr>
        <p:txBody>
          <a:bodyPr wrap="square" lIns="0" tIns="0" rIns="0" bIns="0"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Extend objective with patient day/time preferences; relevant for elective outpatients in future SIGIC reforms.</a:t>
            </a:r>
            <a:endParaRPr lang="en-US" sz="1000" dirty="0"/>
          </a:p>
        </p:txBody>
      </p:sp>
      <p:sp>
        <p:nvSpPr>
          <p:cNvPr id="31" name="Shape 29"/>
          <p:cNvSpPr/>
          <p:nvPr/>
        </p:nvSpPr>
        <p:spPr>
          <a:xfrm>
            <a:off x="0" y="4800600"/>
            <a:ext cx="9144000" cy="342900"/>
          </a:xfrm>
          <a:prstGeom prst="rect">
            <a:avLst/>
          </a:prstGeom>
          <a:solidFill>
            <a:srgbClr val="0A2E4A"/>
          </a:solidFill>
          <a:ln w="12700">
            <a:solidFill>
              <a:srgbClr val="0A2E4A"/>
            </a:solidFill>
            <a:prstDash val="solid"/>
          </a:ln>
        </p:spPr>
      </p:sp>
      <p:sp>
        <p:nvSpPr>
          <p:cNvPr id="32" name="Text 30"/>
          <p:cNvSpPr/>
          <p:nvPr/>
        </p:nvSpPr>
        <p:spPr>
          <a:xfrm>
            <a:off x="182880" y="4818888"/>
            <a:ext cx="6400800" cy="27432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Elective Surgery Scheduling — MILP  ·  SNS/SIGIC Portugal  ·  github.com/</a:t>
            </a:r>
            <a:endParaRPr lang="en-US" sz="800" dirty="0"/>
          </a:p>
        </p:txBody>
      </p:sp>
      <p:sp>
        <p:nvSpPr>
          <p:cNvPr id="33" name="Text 31"/>
          <p:cNvSpPr/>
          <p:nvPr/>
        </p:nvSpPr>
        <p:spPr>
          <a:xfrm>
            <a:off x="7772400" y="4818888"/>
            <a:ext cx="1188720" cy="274320"/>
          </a:xfrm>
          <a:prstGeom prst="rect">
            <a:avLst/>
          </a:prstGeom>
          <a:noFill/>
          <a:ln/>
        </p:spPr>
        <p:txBody>
          <a:bodyPr wrap="square" lIns="0" tIns="0" rIns="0" bIns="0" rtlCol="0" anchor="ctr"/>
          <a:lstStyle/>
          <a:p>
            <a:pPr algn="r" indent="0" marL="0">
              <a:buNone/>
            </a:pPr>
            <a:r>
              <a:rPr lang="en-US" sz="800" dirty="0">
                <a:solidFill>
                  <a:srgbClr val="8FA3B1"/>
                </a:solidFill>
                <a:latin typeface="Calibri" pitchFamily="34" charset="0"/>
                <a:ea typeface="Calibri" pitchFamily="34" charset="-122"/>
                <a:cs typeface="Calibri" pitchFamily="34" charset="-120"/>
              </a:rPr>
              <a:t>18 / 20</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E4A"/>
          </a:solidFill>
          <a:ln w="12700">
            <a:solidFill>
              <a:srgbClr val="0A2E4A"/>
            </a:solidFill>
            <a:prstDash val="solid"/>
          </a:ln>
        </p:spPr>
      </p:sp>
      <p:sp>
        <p:nvSpPr>
          <p:cNvPr id="3" name="Shape 1"/>
          <p:cNvSpPr/>
          <p:nvPr/>
        </p:nvSpPr>
        <p:spPr>
          <a:xfrm>
            <a:off x="0" y="1005840"/>
            <a:ext cx="9144000" cy="54864"/>
          </a:xfrm>
          <a:prstGeom prst="rect">
            <a:avLst/>
          </a:prstGeom>
          <a:solidFill>
            <a:srgbClr val="0D7377"/>
          </a:solidFill>
          <a:ln w="12700">
            <a:solidFill>
              <a:srgbClr val="0D7377"/>
            </a:solidFill>
            <a:prstDash val="solid"/>
          </a:ln>
        </p:spPr>
      </p:sp>
      <p:sp>
        <p:nvSpPr>
          <p:cNvPr id="4" name="Shape 2"/>
          <p:cNvSpPr/>
          <p:nvPr/>
        </p:nvSpPr>
        <p:spPr>
          <a:xfrm>
            <a:off x="7772400" y="0"/>
            <a:ext cx="1371600" cy="1005840"/>
          </a:xfrm>
          <a:prstGeom prst="rect">
            <a:avLst/>
          </a:prstGeom>
          <a:solidFill>
            <a:srgbClr val="0D7377"/>
          </a:solidFill>
          <a:ln w="12700">
            <a:solidFill>
              <a:srgbClr val="0D7377"/>
            </a:solidFill>
            <a:prstDash val="solid"/>
          </a:ln>
        </p:spPr>
      </p:sp>
      <p:sp>
        <p:nvSpPr>
          <p:cNvPr id="5" name="Text 3"/>
          <p:cNvSpPr/>
          <p:nvPr/>
        </p:nvSpPr>
        <p:spPr>
          <a:xfrm>
            <a:off x="320040" y="73152"/>
            <a:ext cx="685800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Technical Interview Questions</a:t>
            </a:r>
            <a:endParaRPr lang="en-US" sz="2000" dirty="0"/>
          </a:p>
        </p:txBody>
      </p:sp>
      <p:sp>
        <p:nvSpPr>
          <p:cNvPr id="6" name="Text 4"/>
          <p:cNvSpPr/>
          <p:nvPr/>
        </p:nvSpPr>
        <p:spPr>
          <a:xfrm>
            <a:off x="320040" y="566928"/>
            <a:ext cx="8229600" cy="347472"/>
          </a:xfrm>
          <a:prstGeom prst="rect">
            <a:avLst/>
          </a:prstGeom>
          <a:noFill/>
          <a:ln/>
        </p:spPr>
        <p:txBody>
          <a:bodyPr wrap="square" lIns="0" tIns="0" rIns="0" bIns="0" rtlCol="0" anchor="ctr"/>
          <a:lstStyle/>
          <a:p>
            <a:pPr indent="0" marL="0">
              <a:buNone/>
            </a:pPr>
            <a:r>
              <a:rPr lang="en-US" sz="1150" i="1" dirty="0">
                <a:solidFill>
                  <a:srgbClr val="9EEADF"/>
                </a:solidFill>
                <a:latin typeface="Calibri" pitchFamily="34" charset="0"/>
                <a:ea typeface="Calibri" pitchFamily="34" charset="-122"/>
                <a:cs typeface="Calibri" pitchFamily="34" charset="-120"/>
              </a:rPr>
              <a:t>Rigorous OR questions on this specific formulation</a:t>
            </a:r>
            <a:endParaRPr lang="en-US" sz="1150" dirty="0"/>
          </a:p>
        </p:txBody>
      </p:sp>
      <p:sp>
        <p:nvSpPr>
          <p:cNvPr id="7" name="Shape 5"/>
          <p:cNvSpPr/>
          <p:nvPr/>
        </p:nvSpPr>
        <p:spPr>
          <a:xfrm>
            <a:off x="274320" y="1170432"/>
            <a:ext cx="502920" cy="274320"/>
          </a:xfrm>
          <a:prstGeom prst="roundRect">
            <a:avLst>
              <a:gd name="adj" fmla="val 20000"/>
            </a:avLst>
          </a:prstGeom>
          <a:solidFill>
            <a:srgbClr val="0D7377"/>
          </a:solidFill>
          <a:ln w="12700">
            <a:solidFill>
              <a:srgbClr val="0D7377"/>
            </a:solidFill>
            <a:prstDash val="solid"/>
          </a:ln>
        </p:spPr>
      </p:sp>
      <p:sp>
        <p:nvSpPr>
          <p:cNvPr id="8" name="Text 6"/>
          <p:cNvSpPr/>
          <p:nvPr/>
        </p:nvSpPr>
        <p:spPr>
          <a:xfrm>
            <a:off x="274320" y="1170432"/>
            <a:ext cx="502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Q1</a:t>
            </a:r>
            <a:endParaRPr lang="en-US" sz="1000" dirty="0"/>
          </a:p>
        </p:txBody>
      </p:sp>
      <p:sp>
        <p:nvSpPr>
          <p:cNvPr id="9" name="Text 7"/>
          <p:cNvSpPr/>
          <p:nvPr/>
        </p:nvSpPr>
        <p:spPr>
          <a:xfrm>
            <a:off x="896112" y="1143000"/>
            <a:ext cx="8046720" cy="548640"/>
          </a:xfrm>
          <a:prstGeom prst="rect">
            <a:avLst/>
          </a:prstGeom>
          <a:noFill/>
          <a:ln/>
        </p:spPr>
        <p:txBody>
          <a:bodyPr wrap="square" rtlCol="0" anchor="ctr"/>
          <a:lstStyle/>
          <a:p>
            <a:pPr indent="0" marL="0">
              <a:buNone/>
            </a:pPr>
            <a:r>
              <a:rPr lang="en-US" sz="1050" dirty="0">
                <a:solidFill>
                  <a:srgbClr val="1A2E3B"/>
                </a:solidFill>
                <a:latin typeface="Calibri" pitchFamily="34" charset="0"/>
                <a:ea typeface="Calibri" pitchFamily="34" charset="-122"/>
                <a:cs typeface="Calibri" pitchFamily="34" charset="-120"/>
              </a:rPr>
              <a:t>Constraint (5.4) uses Big-M. What is the tightest valid value of M, and what numerical issues arise if M is too large? Would an indicator-constraint reformulation help?</a:t>
            </a:r>
            <a:endParaRPr lang="en-US" sz="1050" dirty="0"/>
          </a:p>
        </p:txBody>
      </p:sp>
      <p:sp>
        <p:nvSpPr>
          <p:cNvPr id="10" name="Shape 8"/>
          <p:cNvSpPr/>
          <p:nvPr/>
        </p:nvSpPr>
        <p:spPr>
          <a:xfrm>
            <a:off x="274320" y="1709928"/>
            <a:ext cx="8595360" cy="0"/>
          </a:xfrm>
          <a:prstGeom prst="line">
            <a:avLst/>
          </a:prstGeom>
          <a:noFill/>
          <a:ln w="6350">
            <a:solidFill>
              <a:srgbClr val="D6E4EC"/>
            </a:solidFill>
            <a:prstDash val="solid"/>
          </a:ln>
        </p:spPr>
      </p:sp>
      <p:sp>
        <p:nvSpPr>
          <p:cNvPr id="11" name="Shape 9"/>
          <p:cNvSpPr/>
          <p:nvPr/>
        </p:nvSpPr>
        <p:spPr>
          <a:xfrm>
            <a:off x="274320" y="1764792"/>
            <a:ext cx="502920" cy="274320"/>
          </a:xfrm>
          <a:prstGeom prst="roundRect">
            <a:avLst>
              <a:gd name="adj" fmla="val 20000"/>
            </a:avLst>
          </a:prstGeom>
          <a:solidFill>
            <a:srgbClr val="14A085"/>
          </a:solidFill>
          <a:ln w="12700">
            <a:solidFill>
              <a:srgbClr val="14A085"/>
            </a:solidFill>
            <a:prstDash val="solid"/>
          </a:ln>
        </p:spPr>
      </p:sp>
      <p:sp>
        <p:nvSpPr>
          <p:cNvPr id="12" name="Text 10"/>
          <p:cNvSpPr/>
          <p:nvPr/>
        </p:nvSpPr>
        <p:spPr>
          <a:xfrm>
            <a:off x="274320" y="1764792"/>
            <a:ext cx="502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Q2</a:t>
            </a:r>
            <a:endParaRPr lang="en-US" sz="1000" dirty="0"/>
          </a:p>
        </p:txBody>
      </p:sp>
      <p:sp>
        <p:nvSpPr>
          <p:cNvPr id="13" name="Text 11"/>
          <p:cNvSpPr/>
          <p:nvPr/>
        </p:nvSpPr>
        <p:spPr>
          <a:xfrm>
            <a:off x="896112" y="1737360"/>
            <a:ext cx="8046720" cy="548640"/>
          </a:xfrm>
          <a:prstGeom prst="rect">
            <a:avLst/>
          </a:prstGeom>
          <a:noFill/>
          <a:ln/>
        </p:spPr>
        <p:txBody>
          <a:bodyPr wrap="square" rtlCol="0" anchor="ctr"/>
          <a:lstStyle/>
          <a:p>
            <a:pPr indent="0" marL="0">
              <a:buNone/>
            </a:pPr>
            <a:r>
              <a:rPr lang="en-US" sz="1050" dirty="0">
                <a:solidFill>
                  <a:srgbClr val="1A2E3B"/>
                </a:solidFill>
                <a:latin typeface="Calibri" pitchFamily="34" charset="0"/>
                <a:ea typeface="Calibri" pitchFamily="34" charset="-122"/>
                <a:cs typeface="Calibri" pitchFamily="34" charset="-120"/>
              </a:rPr>
              <a:t>How would you assess whether the LP relaxation of this model is tight? If the integrality gap is large, which cutting planes are most effective for this structure (cover cuts, flow cuts, Gomory)?</a:t>
            </a:r>
            <a:endParaRPr lang="en-US" sz="1050" dirty="0"/>
          </a:p>
        </p:txBody>
      </p:sp>
      <p:sp>
        <p:nvSpPr>
          <p:cNvPr id="14" name="Shape 12"/>
          <p:cNvSpPr/>
          <p:nvPr/>
        </p:nvSpPr>
        <p:spPr>
          <a:xfrm>
            <a:off x="274320" y="2304288"/>
            <a:ext cx="8595360" cy="0"/>
          </a:xfrm>
          <a:prstGeom prst="line">
            <a:avLst/>
          </a:prstGeom>
          <a:noFill/>
          <a:ln w="6350">
            <a:solidFill>
              <a:srgbClr val="D6E4EC"/>
            </a:solidFill>
            <a:prstDash val="solid"/>
          </a:ln>
        </p:spPr>
      </p:sp>
      <p:sp>
        <p:nvSpPr>
          <p:cNvPr id="15" name="Shape 13"/>
          <p:cNvSpPr/>
          <p:nvPr/>
        </p:nvSpPr>
        <p:spPr>
          <a:xfrm>
            <a:off x="274320" y="2359152"/>
            <a:ext cx="502920" cy="274320"/>
          </a:xfrm>
          <a:prstGeom prst="roundRect">
            <a:avLst>
              <a:gd name="adj" fmla="val 20000"/>
            </a:avLst>
          </a:prstGeom>
          <a:solidFill>
            <a:srgbClr val="0D7377"/>
          </a:solidFill>
          <a:ln w="12700">
            <a:solidFill>
              <a:srgbClr val="0D7377"/>
            </a:solidFill>
            <a:prstDash val="solid"/>
          </a:ln>
        </p:spPr>
      </p:sp>
      <p:sp>
        <p:nvSpPr>
          <p:cNvPr id="16" name="Text 14"/>
          <p:cNvSpPr/>
          <p:nvPr/>
        </p:nvSpPr>
        <p:spPr>
          <a:xfrm>
            <a:off x="274320" y="2359152"/>
            <a:ext cx="502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Q3</a:t>
            </a:r>
            <a:endParaRPr lang="en-US" sz="1000" dirty="0"/>
          </a:p>
        </p:txBody>
      </p:sp>
      <p:sp>
        <p:nvSpPr>
          <p:cNvPr id="17" name="Text 15"/>
          <p:cNvSpPr/>
          <p:nvPr/>
        </p:nvSpPr>
        <p:spPr>
          <a:xfrm>
            <a:off x="896112" y="2331720"/>
            <a:ext cx="8046720" cy="548640"/>
          </a:xfrm>
          <a:prstGeom prst="rect">
            <a:avLst/>
          </a:prstGeom>
          <a:noFill/>
          <a:ln/>
        </p:spPr>
        <p:txBody>
          <a:bodyPr wrap="square" rtlCol="0" anchor="ctr"/>
          <a:lstStyle/>
          <a:p>
            <a:pPr indent="0" marL="0">
              <a:buNone/>
            </a:pPr>
            <a:r>
              <a:rPr lang="en-US" sz="1050" dirty="0">
                <a:solidFill>
                  <a:srgbClr val="1A2E3B"/>
                </a:solidFill>
                <a:latin typeface="Calibri" pitchFamily="34" charset="0"/>
                <a:ea typeface="Calibri" pitchFamily="34" charset="-122"/>
                <a:cs typeface="Calibri" pitchFamily="34" charset="-120"/>
              </a:rPr>
              <a:t>The parameter α controls urgency of overdue cases. How would you calibrate α using historical CHLN data? At what value does α qualitatively change the optimal schedule?</a:t>
            </a:r>
            <a:endParaRPr lang="en-US" sz="1050" dirty="0"/>
          </a:p>
        </p:txBody>
      </p:sp>
      <p:sp>
        <p:nvSpPr>
          <p:cNvPr id="18" name="Shape 16"/>
          <p:cNvSpPr/>
          <p:nvPr/>
        </p:nvSpPr>
        <p:spPr>
          <a:xfrm>
            <a:off x="274320" y="2898648"/>
            <a:ext cx="8595360" cy="0"/>
          </a:xfrm>
          <a:prstGeom prst="line">
            <a:avLst/>
          </a:prstGeom>
          <a:noFill/>
          <a:ln w="6350">
            <a:solidFill>
              <a:srgbClr val="D6E4EC"/>
            </a:solidFill>
            <a:prstDash val="solid"/>
          </a:ln>
        </p:spPr>
      </p:sp>
      <p:sp>
        <p:nvSpPr>
          <p:cNvPr id="19" name="Shape 17"/>
          <p:cNvSpPr/>
          <p:nvPr/>
        </p:nvSpPr>
        <p:spPr>
          <a:xfrm>
            <a:off x="274320" y="2953512"/>
            <a:ext cx="502920" cy="274320"/>
          </a:xfrm>
          <a:prstGeom prst="roundRect">
            <a:avLst>
              <a:gd name="adj" fmla="val 20000"/>
            </a:avLst>
          </a:prstGeom>
          <a:solidFill>
            <a:srgbClr val="E67E22"/>
          </a:solidFill>
          <a:ln w="12700">
            <a:solidFill>
              <a:srgbClr val="E67E22"/>
            </a:solidFill>
            <a:prstDash val="solid"/>
          </a:ln>
        </p:spPr>
      </p:sp>
      <p:sp>
        <p:nvSpPr>
          <p:cNvPr id="20" name="Text 18"/>
          <p:cNvSpPr/>
          <p:nvPr/>
        </p:nvSpPr>
        <p:spPr>
          <a:xfrm>
            <a:off x="274320" y="2953512"/>
            <a:ext cx="502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Q4</a:t>
            </a:r>
            <a:endParaRPr lang="en-US" sz="1000" dirty="0"/>
          </a:p>
        </p:txBody>
      </p:sp>
      <p:sp>
        <p:nvSpPr>
          <p:cNvPr id="21" name="Text 19"/>
          <p:cNvSpPr/>
          <p:nvPr/>
        </p:nvSpPr>
        <p:spPr>
          <a:xfrm>
            <a:off x="896112" y="2926080"/>
            <a:ext cx="8046720" cy="548640"/>
          </a:xfrm>
          <a:prstGeom prst="rect">
            <a:avLst/>
          </a:prstGeom>
          <a:noFill/>
          <a:ln/>
        </p:spPr>
        <p:txBody>
          <a:bodyPr wrap="square" rtlCol="0" anchor="ctr"/>
          <a:lstStyle/>
          <a:p>
            <a:pPr indent="0" marL="0">
              <a:buNone/>
            </a:pPr>
            <a:r>
              <a:rPr lang="en-US" sz="1050" dirty="0">
                <a:solidFill>
                  <a:srgbClr val="1A2E3B"/>
                </a:solidFill>
                <a:latin typeface="Calibri" pitchFamily="34" charset="0"/>
                <a:ea typeface="Calibri" pitchFamily="34" charset="-122"/>
                <a:cs typeface="Calibri" pitchFamily="34" charset="-120"/>
              </a:rPr>
              <a:t>Surgery durations are assumed deterministic. Sketch a two-stage stochastic extension: what is the first stage, what is the second stage, and how would you handle the trade-off between tractability and solution quality?</a:t>
            </a:r>
            <a:endParaRPr lang="en-US" sz="1050" dirty="0"/>
          </a:p>
        </p:txBody>
      </p:sp>
      <p:sp>
        <p:nvSpPr>
          <p:cNvPr id="22" name="Shape 20"/>
          <p:cNvSpPr/>
          <p:nvPr/>
        </p:nvSpPr>
        <p:spPr>
          <a:xfrm>
            <a:off x="274320" y="3493008"/>
            <a:ext cx="8595360" cy="0"/>
          </a:xfrm>
          <a:prstGeom prst="line">
            <a:avLst/>
          </a:prstGeom>
          <a:noFill/>
          <a:ln w="6350">
            <a:solidFill>
              <a:srgbClr val="D6E4EC"/>
            </a:solidFill>
            <a:prstDash val="solid"/>
          </a:ln>
        </p:spPr>
      </p:sp>
      <p:sp>
        <p:nvSpPr>
          <p:cNvPr id="23" name="Shape 21"/>
          <p:cNvSpPr/>
          <p:nvPr/>
        </p:nvSpPr>
        <p:spPr>
          <a:xfrm>
            <a:off x="274320" y="3547872"/>
            <a:ext cx="502920" cy="274320"/>
          </a:xfrm>
          <a:prstGeom prst="roundRect">
            <a:avLst>
              <a:gd name="adj" fmla="val 20000"/>
            </a:avLst>
          </a:prstGeom>
          <a:solidFill>
            <a:srgbClr val="C0392B"/>
          </a:solidFill>
          <a:ln w="12700">
            <a:solidFill>
              <a:srgbClr val="C0392B"/>
            </a:solidFill>
            <a:prstDash val="solid"/>
          </a:ln>
        </p:spPr>
      </p:sp>
      <p:sp>
        <p:nvSpPr>
          <p:cNvPr id="24" name="Text 22"/>
          <p:cNvSpPr/>
          <p:nvPr/>
        </p:nvSpPr>
        <p:spPr>
          <a:xfrm>
            <a:off x="274320" y="3547872"/>
            <a:ext cx="502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Q5</a:t>
            </a:r>
            <a:endParaRPr lang="en-US" sz="1000" dirty="0"/>
          </a:p>
        </p:txBody>
      </p:sp>
      <p:sp>
        <p:nvSpPr>
          <p:cNvPr id="25" name="Text 23"/>
          <p:cNvSpPr/>
          <p:nvPr/>
        </p:nvSpPr>
        <p:spPr>
          <a:xfrm>
            <a:off x="896112" y="3520440"/>
            <a:ext cx="8046720" cy="548640"/>
          </a:xfrm>
          <a:prstGeom prst="rect">
            <a:avLst/>
          </a:prstGeom>
          <a:noFill/>
          <a:ln/>
        </p:spPr>
        <p:txBody>
          <a:bodyPr wrap="square" rtlCol="0" anchor="ctr"/>
          <a:lstStyle/>
          <a:p>
            <a:pPr indent="0" marL="0">
              <a:buNone/>
            </a:pPr>
            <a:r>
              <a:rPr lang="en-US" sz="1050" dirty="0">
                <a:solidFill>
                  <a:srgbClr val="1A2E3B"/>
                </a:solidFill>
                <a:latin typeface="Calibri" pitchFamily="34" charset="0"/>
                <a:ea typeface="Calibri" pitchFamily="34" charset="-122"/>
                <a:cs typeface="Calibri" pitchFamily="34" charset="-120"/>
              </a:rPr>
              <a:t>Propose a Dantzig-Wolfe decomposition for this problem. What would the master problem and the pricing sub-problems look like? What column-generation convergence properties would you expect?</a:t>
            </a:r>
            <a:endParaRPr lang="en-US" sz="1050" dirty="0"/>
          </a:p>
        </p:txBody>
      </p:sp>
      <p:sp>
        <p:nvSpPr>
          <p:cNvPr id="26" name="Shape 24"/>
          <p:cNvSpPr/>
          <p:nvPr/>
        </p:nvSpPr>
        <p:spPr>
          <a:xfrm>
            <a:off x="274320" y="4087368"/>
            <a:ext cx="8595360" cy="0"/>
          </a:xfrm>
          <a:prstGeom prst="line">
            <a:avLst/>
          </a:prstGeom>
          <a:noFill/>
          <a:ln w="6350">
            <a:solidFill>
              <a:srgbClr val="D6E4EC"/>
            </a:solidFill>
            <a:prstDash val="solid"/>
          </a:ln>
        </p:spPr>
      </p:sp>
      <p:sp>
        <p:nvSpPr>
          <p:cNvPr id="27" name="Shape 25"/>
          <p:cNvSpPr/>
          <p:nvPr/>
        </p:nvSpPr>
        <p:spPr>
          <a:xfrm>
            <a:off x="274320" y="4142232"/>
            <a:ext cx="502920" cy="274320"/>
          </a:xfrm>
          <a:prstGeom prst="roundRect">
            <a:avLst>
              <a:gd name="adj" fmla="val 20000"/>
            </a:avLst>
          </a:prstGeom>
          <a:solidFill>
            <a:srgbClr val="0D7377"/>
          </a:solidFill>
          <a:ln w="12700">
            <a:solidFill>
              <a:srgbClr val="0D7377"/>
            </a:solidFill>
            <a:prstDash val="solid"/>
          </a:ln>
        </p:spPr>
      </p:sp>
      <p:sp>
        <p:nvSpPr>
          <p:cNvPr id="28" name="Text 26"/>
          <p:cNvSpPr/>
          <p:nvPr/>
        </p:nvSpPr>
        <p:spPr>
          <a:xfrm>
            <a:off x="274320" y="4142232"/>
            <a:ext cx="502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Q6</a:t>
            </a:r>
            <a:endParaRPr lang="en-US" sz="1000" dirty="0"/>
          </a:p>
        </p:txBody>
      </p:sp>
      <p:sp>
        <p:nvSpPr>
          <p:cNvPr id="29" name="Text 27"/>
          <p:cNvSpPr/>
          <p:nvPr/>
        </p:nvSpPr>
        <p:spPr>
          <a:xfrm>
            <a:off x="896112" y="4114800"/>
            <a:ext cx="8046720" cy="548640"/>
          </a:xfrm>
          <a:prstGeom prst="rect">
            <a:avLst/>
          </a:prstGeom>
          <a:noFill/>
          <a:ln/>
        </p:spPr>
        <p:txBody>
          <a:bodyPr wrap="square" rtlCol="0" anchor="ctr"/>
          <a:lstStyle/>
          <a:p>
            <a:pPr indent="0" marL="0">
              <a:buNone/>
            </a:pPr>
            <a:r>
              <a:rPr lang="en-US" sz="1050" dirty="0">
                <a:solidFill>
                  <a:srgbClr val="1A2E3B"/>
                </a:solidFill>
                <a:latin typeface="Calibri" pitchFamily="34" charset="0"/>
                <a:ea typeface="Calibri" pitchFamily="34" charset="-122"/>
                <a:cs typeface="Calibri" pitchFamily="34" charset="-120"/>
              </a:rPr>
              <a:t>Constraint (5.1) prevents a patient from having two surgeries in the same week. Reformulate to allow it when two co-operating services both agree, without converting to a non-linear model.</a:t>
            </a:r>
            <a:endParaRPr lang="en-US" sz="1050" dirty="0"/>
          </a:p>
        </p:txBody>
      </p:sp>
      <p:sp>
        <p:nvSpPr>
          <p:cNvPr id="30" name="Shape 28"/>
          <p:cNvSpPr/>
          <p:nvPr/>
        </p:nvSpPr>
        <p:spPr>
          <a:xfrm>
            <a:off x="0" y="4800600"/>
            <a:ext cx="9144000" cy="342900"/>
          </a:xfrm>
          <a:prstGeom prst="rect">
            <a:avLst/>
          </a:prstGeom>
          <a:solidFill>
            <a:srgbClr val="0A2E4A"/>
          </a:solidFill>
          <a:ln w="12700">
            <a:solidFill>
              <a:srgbClr val="0A2E4A"/>
            </a:solidFill>
            <a:prstDash val="solid"/>
          </a:ln>
        </p:spPr>
      </p:sp>
      <p:sp>
        <p:nvSpPr>
          <p:cNvPr id="31" name="Text 29"/>
          <p:cNvSpPr/>
          <p:nvPr/>
        </p:nvSpPr>
        <p:spPr>
          <a:xfrm>
            <a:off x="182880" y="4818888"/>
            <a:ext cx="6400800" cy="27432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Elective Surgery Scheduling — MILP  ·  SNS/SIGIC Portugal  ·  github.com/</a:t>
            </a:r>
            <a:endParaRPr lang="en-US" sz="800" dirty="0"/>
          </a:p>
        </p:txBody>
      </p:sp>
      <p:sp>
        <p:nvSpPr>
          <p:cNvPr id="32" name="Text 30"/>
          <p:cNvSpPr/>
          <p:nvPr/>
        </p:nvSpPr>
        <p:spPr>
          <a:xfrm>
            <a:off x="7772400" y="4818888"/>
            <a:ext cx="1188720" cy="274320"/>
          </a:xfrm>
          <a:prstGeom prst="rect">
            <a:avLst/>
          </a:prstGeom>
          <a:noFill/>
          <a:ln/>
        </p:spPr>
        <p:txBody>
          <a:bodyPr wrap="square" lIns="0" tIns="0" rIns="0" bIns="0" rtlCol="0" anchor="ctr"/>
          <a:lstStyle/>
          <a:p>
            <a:pPr algn="r" indent="0" marL="0">
              <a:buNone/>
            </a:pPr>
            <a:r>
              <a:rPr lang="en-US" sz="800" dirty="0">
                <a:solidFill>
                  <a:srgbClr val="8FA3B1"/>
                </a:solidFill>
                <a:latin typeface="Calibri" pitchFamily="34" charset="0"/>
                <a:ea typeface="Calibri" pitchFamily="34" charset="-122"/>
                <a:cs typeface="Calibri" pitchFamily="34" charset="-120"/>
              </a:rPr>
              <a:t>19 / 20</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2E4A"/>
        </a:solidFill>
      </p:bgPr>
    </p:bg>
    <p:spTree>
      <p:nvGrpSpPr>
        <p:cNvPr id="1" name=""/>
        <p:cNvGrpSpPr/>
        <p:nvPr/>
      </p:nvGrpSpPr>
      <p:grpSpPr>
        <a:xfrm>
          <a:off x="0" y="0"/>
          <a:ext cx="0" cy="0"/>
          <a:chOff x="0" y="0"/>
          <a:chExt cx="0" cy="0"/>
        </a:xfrm>
      </p:grpSpPr>
      <p:sp>
        <p:nvSpPr>
          <p:cNvPr id="2" name="Shape 0"/>
          <p:cNvSpPr/>
          <p:nvPr/>
        </p:nvSpPr>
        <p:spPr>
          <a:xfrm>
            <a:off x="0" y="0"/>
            <a:ext cx="9144000" cy="1188720"/>
          </a:xfrm>
          <a:prstGeom prst="rect">
            <a:avLst/>
          </a:prstGeom>
          <a:solidFill>
            <a:srgbClr val="0D7377"/>
          </a:solidFill>
          <a:ln w="12700">
            <a:solidFill>
              <a:srgbClr val="0D7377"/>
            </a:solidFill>
            <a:prstDash val="solid"/>
          </a:ln>
        </p:spPr>
      </p:sp>
      <p:sp>
        <p:nvSpPr>
          <p:cNvPr id="3" name="Text 1"/>
          <p:cNvSpPr/>
          <p:nvPr/>
        </p:nvSpPr>
        <p:spPr>
          <a:xfrm>
            <a:off x="365760" y="274320"/>
            <a:ext cx="8412480" cy="64008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Conclusions</a:t>
            </a:r>
            <a:endParaRPr lang="en-US" sz="2800" dirty="0"/>
          </a:p>
        </p:txBody>
      </p:sp>
      <p:sp>
        <p:nvSpPr>
          <p:cNvPr id="4" name="Shape 2"/>
          <p:cNvSpPr/>
          <p:nvPr/>
        </p:nvSpPr>
        <p:spPr>
          <a:xfrm>
            <a:off x="274320" y="1298448"/>
            <a:ext cx="0" cy="914400"/>
          </a:xfrm>
          <a:prstGeom prst="roundRect">
            <a:avLst>
              <a:gd name="adj" fmla="val Infinity"/>
            </a:avLst>
          </a:prstGeom>
          <a:solidFill>
            <a:srgbClr val="0A2E4A"/>
          </a:solidFill>
          <a:ln/>
          <a:effectLst>
            <a:outerShdw sx="100000" sy="100000" kx="0" ky="0" algn="bl" rotWithShape="0" blurRad="63500" dist="25400" dir="2700000">
              <a:srgbClr val="000000">
                <a:alpha val="10000"/>
              </a:srgbClr>
            </a:outerShdw>
          </a:effectLst>
        </p:spPr>
      </p:sp>
      <p:sp>
        <p:nvSpPr>
          <p:cNvPr id="5" name="Shape 3"/>
          <p:cNvSpPr/>
          <p:nvPr/>
        </p:nvSpPr>
        <p:spPr>
          <a:xfrm>
            <a:off x="274320" y="1298448"/>
            <a:ext cx="4160520" cy="3273552"/>
          </a:xfrm>
          <a:prstGeom prst="roundRect">
            <a:avLst>
              <a:gd name="adj" fmla="val 2235"/>
            </a:avLst>
          </a:prstGeom>
          <a:solidFill>
            <a:srgbClr val="0D2B3E"/>
          </a:solidFill>
          <a:ln w="12700">
            <a:solidFill>
              <a:srgbClr val="0D2B3E"/>
            </a:solidFill>
            <a:prstDash val="solid"/>
          </a:ln>
        </p:spPr>
      </p:sp>
      <p:sp>
        <p:nvSpPr>
          <p:cNvPr id="6" name="Text 4"/>
          <p:cNvSpPr/>
          <p:nvPr/>
        </p:nvSpPr>
        <p:spPr>
          <a:xfrm>
            <a:off x="457200" y="1389888"/>
            <a:ext cx="3840480" cy="274320"/>
          </a:xfrm>
          <a:prstGeom prst="rect">
            <a:avLst/>
          </a:prstGeom>
          <a:noFill/>
          <a:ln/>
        </p:spPr>
        <p:txBody>
          <a:bodyPr wrap="square" lIns="0" tIns="0" rIns="0" bIns="0" rtlCol="0" anchor="ctr"/>
          <a:lstStyle/>
          <a:p>
            <a:pPr indent="0" marL="0">
              <a:buNone/>
            </a:pPr>
            <a:r>
              <a:rPr lang="en-US" sz="1300" b="1" dirty="0">
                <a:solidFill>
                  <a:srgbClr val="9EEADF"/>
                </a:solidFill>
                <a:latin typeface="Calibri" pitchFamily="34" charset="0"/>
                <a:ea typeface="Calibri" pitchFamily="34" charset="-122"/>
                <a:cs typeface="Calibri" pitchFamily="34" charset="-120"/>
              </a:rPr>
              <a:t>Contributions</a:t>
            </a:r>
            <a:endParaRPr lang="en-US" sz="1300" dirty="0"/>
          </a:p>
        </p:txBody>
      </p:sp>
      <p:sp>
        <p:nvSpPr>
          <p:cNvPr id="7" name="Text 5"/>
          <p:cNvSpPr/>
          <p:nvPr/>
        </p:nvSpPr>
        <p:spPr>
          <a:xfrm>
            <a:off x="457200" y="1719072"/>
            <a:ext cx="3840480" cy="2743200"/>
          </a:xfrm>
          <a:prstGeom prst="rect">
            <a:avLst/>
          </a:prstGeom>
          <a:noFill/>
          <a:ln/>
        </p:spPr>
        <p:txBody>
          <a:bodyPr wrap="square" rtlCol="0" anchor="ctr"/>
          <a:lstStyle/>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MILP solves demo optimally in &lt;0.03s; CHLN scale &lt; 5 min (CPLEX)</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3-term objective captures SIGIC priority + antiquity faithfully</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All 5 special rules (P4·5.5·5.6) modelled explicitly</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Greedy heuristic: 3.7% gap, runs in milliseconds</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3 solver backends (PuLP/CBC, Pyomo, Greedy) from one model</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7 unit tests verify all constraint types independently</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Code mirrors formulation — constraint numbers match</a:t>
            </a:r>
            <a:endParaRPr lang="en-US" sz="1050" dirty="0"/>
          </a:p>
          <a:p>
            <a:pPr indent="0" marL="0">
              <a:buNone/>
            </a:pPr>
            <a:endParaRPr lang="en-US" sz="1050" dirty="0"/>
          </a:p>
        </p:txBody>
      </p:sp>
      <p:sp>
        <p:nvSpPr>
          <p:cNvPr id="8" name="Shape 6"/>
          <p:cNvSpPr/>
          <p:nvPr/>
        </p:nvSpPr>
        <p:spPr>
          <a:xfrm>
            <a:off x="4709160" y="1298448"/>
            <a:ext cx="4160520" cy="3273552"/>
          </a:xfrm>
          <a:prstGeom prst="roundRect">
            <a:avLst>
              <a:gd name="adj" fmla="val 2235"/>
            </a:avLst>
          </a:prstGeom>
          <a:solidFill>
            <a:srgbClr val="0D2B3E"/>
          </a:solidFill>
          <a:ln w="12700">
            <a:solidFill>
              <a:srgbClr val="0D2B3E"/>
            </a:solidFill>
            <a:prstDash val="solid"/>
          </a:ln>
        </p:spPr>
      </p:sp>
      <p:sp>
        <p:nvSpPr>
          <p:cNvPr id="9" name="Text 7"/>
          <p:cNvSpPr/>
          <p:nvPr/>
        </p:nvSpPr>
        <p:spPr>
          <a:xfrm>
            <a:off x="4892040" y="1389888"/>
            <a:ext cx="3840480" cy="274320"/>
          </a:xfrm>
          <a:prstGeom prst="rect">
            <a:avLst/>
          </a:prstGeom>
          <a:noFill/>
          <a:ln/>
        </p:spPr>
        <p:txBody>
          <a:bodyPr wrap="square" lIns="0" tIns="0" rIns="0" bIns="0" rtlCol="0" anchor="ctr"/>
          <a:lstStyle/>
          <a:p>
            <a:pPr indent="0" marL="0">
              <a:buNone/>
            </a:pPr>
            <a:r>
              <a:rPr lang="en-US" sz="1300" b="1" dirty="0">
                <a:solidFill>
                  <a:srgbClr val="E67E22"/>
                </a:solidFill>
                <a:latin typeface="Calibri" pitchFamily="34" charset="0"/>
                <a:ea typeface="Calibri" pitchFamily="34" charset="-122"/>
                <a:cs typeface="Calibri" pitchFamily="34" charset="-120"/>
              </a:rPr>
              <a:t>Next Steps</a:t>
            </a:r>
            <a:endParaRPr lang="en-US" sz="1300" dirty="0"/>
          </a:p>
        </p:txBody>
      </p:sp>
      <p:sp>
        <p:nvSpPr>
          <p:cNvPr id="10" name="Text 8"/>
          <p:cNvSpPr/>
          <p:nvPr/>
        </p:nvSpPr>
        <p:spPr>
          <a:xfrm>
            <a:off x="4892040" y="1719072"/>
            <a:ext cx="3840480" cy="2743200"/>
          </a:xfrm>
          <a:prstGeom prst="rect">
            <a:avLst/>
          </a:prstGeom>
          <a:noFill/>
          <a:ln/>
        </p:spPr>
        <p:txBody>
          <a:bodyPr wrap="square" rtlCol="0" anchor="ctr"/>
          <a:lstStyle/>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Stochastic durations (two-stage SP, Denton 2010)</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ICU/bed downstream constraints (Van Riet 2015)</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Service decomposition for CHLN-scale optimisation</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Rolling-horizon multi-week planning</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Real-time LNS for intra-day rescheduling</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Backtesting against actual 2016 CHLN schedules</a:t>
            </a:r>
            <a:endParaRPr lang="en-US" sz="1050" dirty="0"/>
          </a:p>
          <a:p>
            <a:pPr indent="0" marL="0">
              <a:buNone/>
            </a:pPr>
            <a:endParaRPr lang="en-US" sz="1050" dirty="0"/>
          </a:p>
        </p:txBody>
      </p:sp>
      <p:sp>
        <p:nvSpPr>
          <p:cNvPr id="11" name="Text 9"/>
          <p:cNvSpPr/>
          <p:nvPr/>
        </p:nvSpPr>
        <p:spPr>
          <a:xfrm>
            <a:off x="274320" y="4663440"/>
            <a:ext cx="8595360" cy="274320"/>
          </a:xfrm>
          <a:prstGeom prst="rect">
            <a:avLst/>
          </a:prstGeom>
          <a:noFill/>
          <a:ln/>
        </p:spPr>
        <p:txBody>
          <a:bodyPr wrap="square" lIns="0" tIns="0" rIns="0" bIns="0" rtlCol="0" anchor="ctr"/>
          <a:lstStyle/>
          <a:p>
            <a:pPr algn="ctr" indent="0" marL="0">
              <a:buNone/>
            </a:pPr>
            <a:r>
              <a:rPr lang="en-US" sz="900" dirty="0">
                <a:solidFill>
                  <a:srgbClr val="8FA3B1"/>
                </a:solidFill>
                <a:latin typeface="Calibri" pitchFamily="34" charset="0"/>
                <a:ea typeface="Calibri" pitchFamily="34" charset="-122"/>
                <a:cs typeface="Calibri" pitchFamily="34" charset="-120"/>
              </a:rPr>
              <a:t>References: Marques &amp; Captivo (2015) · Cardoen et al. (2010) EJOR · Denton et al. (2010) OR · SIGIC Portaria n.º 45/2008</a:t>
            </a:r>
            <a:endParaRPr lang="en-US" sz="900" dirty="0"/>
          </a:p>
        </p:txBody>
      </p:sp>
      <p:sp>
        <p:nvSpPr>
          <p:cNvPr id="12" name="Shape 10"/>
          <p:cNvSpPr/>
          <p:nvPr/>
        </p:nvSpPr>
        <p:spPr>
          <a:xfrm>
            <a:off x="0" y="4800600"/>
            <a:ext cx="9144000" cy="342900"/>
          </a:xfrm>
          <a:prstGeom prst="rect">
            <a:avLst/>
          </a:prstGeom>
          <a:solidFill>
            <a:srgbClr val="0A2E4A"/>
          </a:solidFill>
          <a:ln w="12700">
            <a:solidFill>
              <a:srgbClr val="0A2E4A"/>
            </a:solidFill>
            <a:prstDash val="solid"/>
          </a:ln>
        </p:spPr>
      </p:sp>
      <p:sp>
        <p:nvSpPr>
          <p:cNvPr id="13" name="Text 11"/>
          <p:cNvSpPr/>
          <p:nvPr/>
        </p:nvSpPr>
        <p:spPr>
          <a:xfrm>
            <a:off x="182880" y="4818888"/>
            <a:ext cx="6400800" cy="27432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Elective Surgery Scheduling — MILP  ·  SNS/SIGIC Portugal  ·  github.com/</a:t>
            </a:r>
            <a:endParaRPr lang="en-US" sz="800" dirty="0"/>
          </a:p>
        </p:txBody>
      </p:sp>
      <p:sp>
        <p:nvSpPr>
          <p:cNvPr id="14" name="Text 12"/>
          <p:cNvSpPr/>
          <p:nvPr/>
        </p:nvSpPr>
        <p:spPr>
          <a:xfrm>
            <a:off x="7772400" y="4818888"/>
            <a:ext cx="1188720" cy="274320"/>
          </a:xfrm>
          <a:prstGeom prst="rect">
            <a:avLst/>
          </a:prstGeom>
          <a:noFill/>
          <a:ln/>
        </p:spPr>
        <p:txBody>
          <a:bodyPr wrap="square" lIns="0" tIns="0" rIns="0" bIns="0" rtlCol="0" anchor="ctr"/>
          <a:lstStyle/>
          <a:p>
            <a:pPr algn="r" indent="0" marL="0">
              <a:buNone/>
            </a:pPr>
            <a:r>
              <a:rPr lang="en-US" sz="800" dirty="0">
                <a:solidFill>
                  <a:srgbClr val="8FA3B1"/>
                </a:solidFill>
                <a:latin typeface="Calibri" pitchFamily="34" charset="0"/>
                <a:ea typeface="Calibri" pitchFamily="34" charset="-122"/>
                <a:cs typeface="Calibri" pitchFamily="34" charset="-120"/>
              </a:rPr>
              <a:t>20 / 20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Elective Surgery Scheduling — MILP</dc:title>
  <dc:subject>PptxGenJS Presentation</dc:subject>
  <dc:creator>Operations Research Scientist</dc:creator>
  <cp:lastModifiedBy>Operations Research Scientist</cp:lastModifiedBy>
  <cp:revision>1</cp:revision>
  <dcterms:created xsi:type="dcterms:W3CDTF">2026-06-26T12:35:28Z</dcterms:created>
  <dcterms:modified xsi:type="dcterms:W3CDTF">2026-06-26T12:35:28Z</dcterms:modified>
</cp:coreProperties>
</file>